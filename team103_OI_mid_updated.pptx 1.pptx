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embeddedFontLst>
    <p:embeddedFont>
      <p:font typeface="Liter" panose="02000503030000020004" pitchFamily="2" charset="0"/>
      <p:regular r:id="rId19"/>
    </p:embeddedFont>
    <p:embeddedFont>
      <p:font typeface="Quattrocento Sans" panose="020B0502050000020003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767"/>
    <p:restoredTop sz="94584"/>
  </p:normalViewPr>
  <p:slideViewPr>
    <p:cSldViewPr snapToGrid="0" snapToObjects="1">
      <p:cViewPr varScale="1">
        <p:scale>
          <a:sx n="85" d="100"/>
          <a:sy n="85" d="100"/>
        </p:scale>
        <p:origin x="184" y="1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2449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the user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the constraints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interaction diagram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image per slide, and mention as Detroit.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assumption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paper data in this slide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1376363"/>
            <a:ext cx="2419350" cy="342900"/>
          </a:xfrm>
          <a:custGeom>
            <a:avLst/>
            <a:gdLst/>
            <a:ahLst/>
            <a:cxnLst/>
            <a:rect l="l" t="t" r="r" b="b"/>
            <a:pathLst>
              <a:path w="2419350" h="342900">
                <a:moveTo>
                  <a:pt x="0" y="0"/>
                </a:moveTo>
                <a:lnTo>
                  <a:pt x="2419350" y="0"/>
                </a:lnTo>
                <a:lnTo>
                  <a:pt x="241935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1376363"/>
            <a:ext cx="2486025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INSTRUMENT CLUSTER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2176463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Ottawa Infotainment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UI/UX Innovation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3833812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32F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Performance-Driven Dashboard Interface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3381" y="4529138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9613" y="4481513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InF1nite</a:t>
            </a:r>
            <a:r>
              <a:rPr lang="en-US" sz="13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Ottawa Infotainment Inc.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57483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D32F2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1000" y="5805488"/>
            <a:ext cx="8253334" cy="40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[Shaurya, Shrinicketh, Reshma, Timothy, Harinath, and Krishna] — UI/UX Design &amp; HMI Engineering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1000" y="6286500"/>
            <a:ext cx="6553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 Track: Instrument Cluster 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42563" y="6210300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b="1" dirty="0">
                <a:solidFill>
                  <a:srgbClr val="D32F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Feb 18,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50" y="419100"/>
            <a:ext cx="357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Problem Statement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02782"/>
            <a:ext cx="3657600" cy="5391150"/>
          </a:xfrm>
          <a:custGeom>
            <a:avLst/>
            <a:gdLst/>
            <a:ahLst/>
            <a:cxnLst/>
            <a:rect l="l" t="t" r="r" b="b"/>
            <a:pathLst>
              <a:path w="3657600" h="539115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5314962"/>
                </a:lnTo>
                <a:cubicBezTo>
                  <a:pt x="3657600" y="5357040"/>
                  <a:pt x="3623490" y="5391150"/>
                  <a:pt x="3581412" y="5391150"/>
                </a:cubicBezTo>
                <a:lnTo>
                  <a:pt x="76188" y="5391150"/>
                </a:lnTo>
                <a:cubicBezTo>
                  <a:pt x="34110" y="5391150"/>
                  <a:pt x="0" y="5357040"/>
                  <a:pt x="0" y="531496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1000" y="108585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600" y="133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54856" y="1466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lose/>
                <a:moveTo>
                  <a:pt x="71996" y="113109"/>
                </a:moveTo>
                <a:lnTo>
                  <a:pt x="94692" y="113109"/>
                </a:lnTo>
                <a:cubicBezTo>
                  <a:pt x="98301" y="113109"/>
                  <a:pt x="101203" y="116012"/>
                  <a:pt x="101203" y="119621"/>
                </a:cubicBezTo>
                <a:cubicBezTo>
                  <a:pt x="101203" y="121183"/>
                  <a:pt x="100645" y="122672"/>
                  <a:pt x="99640" y="123862"/>
                </a:cubicBezTo>
                <a:lnTo>
                  <a:pt x="89446" y="135768"/>
                </a:lnTo>
                <a:lnTo>
                  <a:pt x="100980" y="178594"/>
                </a:lnTo>
                <a:lnTo>
                  <a:pt x="101203" y="178594"/>
                </a:lnTo>
                <a:lnTo>
                  <a:pt x="114077" y="127062"/>
                </a:lnTo>
                <a:cubicBezTo>
                  <a:pt x="114895" y="123825"/>
                  <a:pt x="118207" y="121853"/>
                  <a:pt x="121332" y="123044"/>
                </a:cubicBezTo>
                <a:cubicBezTo>
                  <a:pt x="144363" y="131825"/>
                  <a:pt x="160734" y="154149"/>
                  <a:pt x="160734" y="180268"/>
                </a:cubicBezTo>
                <a:cubicBezTo>
                  <a:pt x="160734" y="185886"/>
                  <a:pt x="156158" y="190463"/>
                  <a:pt x="150540" y="190463"/>
                </a:cubicBezTo>
                <a:lnTo>
                  <a:pt x="16148" y="190500"/>
                </a:lnTo>
                <a:cubicBezTo>
                  <a:pt x="10530" y="190500"/>
                  <a:pt x="5953" y="185924"/>
                  <a:pt x="5953" y="180305"/>
                </a:cubicBezTo>
                <a:cubicBezTo>
                  <a:pt x="5953" y="154186"/>
                  <a:pt x="22324" y="131862"/>
                  <a:pt x="45355" y="123081"/>
                </a:cubicBezTo>
                <a:cubicBezTo>
                  <a:pt x="48481" y="121890"/>
                  <a:pt x="51792" y="123862"/>
                  <a:pt x="52611" y="127099"/>
                </a:cubicBezTo>
                <a:lnTo>
                  <a:pt x="65484" y="178631"/>
                </a:lnTo>
                <a:lnTo>
                  <a:pt x="65708" y="178631"/>
                </a:lnTo>
                <a:lnTo>
                  <a:pt x="77242" y="135806"/>
                </a:lnTo>
                <a:lnTo>
                  <a:pt x="67047" y="123899"/>
                </a:lnTo>
                <a:cubicBezTo>
                  <a:pt x="66042" y="122709"/>
                  <a:pt x="65484" y="121221"/>
                  <a:pt x="65484" y="119658"/>
                </a:cubicBezTo>
                <a:cubicBezTo>
                  <a:pt x="65484" y="116049"/>
                  <a:pt x="68387" y="113147"/>
                  <a:pt x="71996" y="11314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1100" y="1414463"/>
            <a:ext cx="10668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User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2263" y="1310924"/>
            <a:ext cx="3276600" cy="4492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  A High Net Worth Individual (HNWI) who owns an automotive company. </a:t>
            </a:r>
          </a:p>
          <a:p>
            <a:pPr>
              <a:lnSpc>
                <a:spcPct val="140000"/>
              </a:lnSpc>
            </a:pPr>
            <a:endParaRPr lang="en-US" sz="1400" dirty="0">
              <a:solidFill>
                <a:srgbClr val="212529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 He is purchasing this sports car as a career milestone. </a:t>
            </a:r>
          </a:p>
          <a:p>
            <a:pPr>
              <a:lnSpc>
                <a:spcPct val="140000"/>
              </a:lnSpc>
            </a:pPr>
            <a:endParaRPr lang="en-US" sz="1400" dirty="0">
              <a:solidFill>
                <a:srgbClr val="212529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 He also wants to impress his teenage kids, making the car's technology feel aspirational and exciting to a younger, tech-savvy generation.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67200" y="1123950"/>
            <a:ext cx="3657600" cy="5391150"/>
          </a:xfrm>
          <a:custGeom>
            <a:avLst/>
            <a:gdLst/>
            <a:ahLst/>
            <a:cxnLst/>
            <a:rect l="l" t="t" r="r" b="b"/>
            <a:pathLst>
              <a:path w="3657600" h="539115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5314962"/>
                </a:lnTo>
                <a:cubicBezTo>
                  <a:pt x="3657600" y="5357040"/>
                  <a:pt x="3623490" y="5391150"/>
                  <a:pt x="3581412" y="5391150"/>
                </a:cubicBezTo>
                <a:lnTo>
                  <a:pt x="76188" y="5391150"/>
                </a:lnTo>
                <a:cubicBezTo>
                  <a:pt x="34110" y="5391150"/>
                  <a:pt x="0" y="5357040"/>
                  <a:pt x="0" y="531496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67200" y="108585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95800" y="133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29150" y="1466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67300" y="1414463"/>
            <a:ext cx="14573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43425" y="2135889"/>
            <a:ext cx="3276600" cy="3743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This user has an exceptionally high bar. As someone who runs an automotive business, he understands vehicles deeply, generic dashboards won't impress him. </a:t>
            </a:r>
          </a:p>
          <a:p>
            <a:pPr>
              <a:lnSpc>
                <a:spcPct val="140000"/>
              </a:lnSpc>
            </a:pPr>
            <a:endParaRPr lang="en-US" sz="1400" dirty="0">
              <a:solidFill>
                <a:srgbClr val="212529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His teenagers, raised on smartphones and gaming, will judge the interface instantly. </a:t>
            </a:r>
          </a:p>
          <a:p>
            <a:pPr>
              <a:lnSpc>
                <a:spcPct val="140000"/>
              </a:lnSpc>
            </a:pPr>
            <a:endParaRPr lang="en-US" sz="1400" dirty="0">
              <a:solidFill>
                <a:srgbClr val="212529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The current instrument cluster is forgettable i.e. it lacks emotional impact and fails to communicate performance character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53400" y="1085850"/>
            <a:ext cx="3657600" cy="5391150"/>
          </a:xfrm>
          <a:custGeom>
            <a:avLst/>
            <a:gdLst/>
            <a:ahLst/>
            <a:cxnLst/>
            <a:rect l="l" t="t" r="r" b="b"/>
            <a:pathLst>
              <a:path w="3657600" h="539115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5314962"/>
                </a:lnTo>
                <a:cubicBezTo>
                  <a:pt x="3657600" y="5357040"/>
                  <a:pt x="3623490" y="5391150"/>
                  <a:pt x="3581412" y="5391150"/>
                </a:cubicBezTo>
                <a:lnTo>
                  <a:pt x="76188" y="5391150"/>
                </a:lnTo>
                <a:cubicBezTo>
                  <a:pt x="34110" y="5391150"/>
                  <a:pt x="0" y="5357040"/>
                  <a:pt x="0" y="531496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153400" y="108585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38100" y="0"/>
                </a:moveTo>
                <a:lnTo>
                  <a:pt x="3619500" y="0"/>
                </a:lnTo>
                <a:cubicBezTo>
                  <a:pt x="3640528" y="0"/>
                  <a:pt x="3657600" y="17072"/>
                  <a:pt x="3657600" y="38100"/>
                </a:cubicBezTo>
                <a:lnTo>
                  <a:pt x="36576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82000" y="133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539163" y="14668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53500" y="1414463"/>
            <a:ext cx="16859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02640" y="218510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48700" y="2155471"/>
            <a:ext cx="3009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dashboard is the first thing driver and passengers react to on entry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398407" y="3057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648700" y="3032474"/>
            <a:ext cx="3009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milestone purchase demands a UI worthy of the occasion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05462" y="38540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48700" y="3842458"/>
            <a:ext cx="3009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audience (expert professional + tech-savvy teens) demands sophistication and excitement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06344" y="494409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48700" y="4924778"/>
            <a:ext cx="3009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195 mph, poor information design is dangerous as a 2 sec glance means 572 ft travelled blind</a:t>
            </a:r>
            <a:endParaRPr lang="en-US" sz="1400" dirty="0"/>
          </a:p>
        </p:txBody>
      </p:sp>
      <p:sp>
        <p:nvSpPr>
          <p:cNvPr id="29" name="Shape 19">
            <a:extLst>
              <a:ext uri="{FF2B5EF4-FFF2-40B4-BE49-F238E27FC236}">
                <a16:creationId xmlns:a16="http://schemas.microsoft.com/office/drawing/2014/main" id="{4AB25E88-9500-35B3-95D2-BC2AD1296872}"/>
              </a:ext>
            </a:extLst>
          </p:cNvPr>
          <p:cNvSpPr/>
          <p:nvPr/>
        </p:nvSpPr>
        <p:spPr>
          <a:xfrm>
            <a:off x="625032" y="21907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19">
            <a:extLst>
              <a:ext uri="{FF2B5EF4-FFF2-40B4-BE49-F238E27FC236}">
                <a16:creationId xmlns:a16="http://schemas.microsoft.com/office/drawing/2014/main" id="{1323A0D8-CCA6-FCE3-A815-3389FBC705F0}"/>
              </a:ext>
            </a:extLst>
          </p:cNvPr>
          <p:cNvSpPr/>
          <p:nvPr/>
        </p:nvSpPr>
        <p:spPr>
          <a:xfrm>
            <a:off x="632263" y="3057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D36E2458-8C31-CC40-FDEE-EDE1A1F3D5A9}"/>
              </a:ext>
            </a:extLst>
          </p:cNvPr>
          <p:cNvSpPr/>
          <p:nvPr/>
        </p:nvSpPr>
        <p:spPr>
          <a:xfrm>
            <a:off x="609600" y="39624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19">
            <a:extLst>
              <a:ext uri="{FF2B5EF4-FFF2-40B4-BE49-F238E27FC236}">
                <a16:creationId xmlns:a16="http://schemas.microsoft.com/office/drawing/2014/main" id="{9A72137C-76DA-4E12-E692-252668BFA685}"/>
              </a:ext>
            </a:extLst>
          </p:cNvPr>
          <p:cNvSpPr/>
          <p:nvPr/>
        </p:nvSpPr>
        <p:spPr>
          <a:xfrm>
            <a:off x="4476750" y="217028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5C04DA9B-382E-0BB6-AB65-07F7B0BC781F}"/>
              </a:ext>
            </a:extLst>
          </p:cNvPr>
          <p:cNvSpPr/>
          <p:nvPr/>
        </p:nvSpPr>
        <p:spPr>
          <a:xfrm>
            <a:off x="4495094" y="367030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F39C38DC-EAB7-6947-BAE2-A3C79C92F2B1}"/>
              </a:ext>
            </a:extLst>
          </p:cNvPr>
          <p:cNvSpPr/>
          <p:nvPr/>
        </p:nvSpPr>
        <p:spPr>
          <a:xfrm>
            <a:off x="4495094" y="486789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50" y="419100"/>
            <a:ext cx="2981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User &amp; Context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066800"/>
            <a:ext cx="5581650" cy="2705100"/>
          </a:xfrm>
          <a:custGeom>
            <a:avLst/>
            <a:gdLst/>
            <a:ahLst/>
            <a:cxnLst/>
            <a:rect l="l" t="t" r="r" b="b"/>
            <a:pathLst>
              <a:path w="5581650" h="2705100">
                <a:moveTo>
                  <a:pt x="38100" y="0"/>
                </a:moveTo>
                <a:lnTo>
                  <a:pt x="5505447" y="0"/>
                </a:lnTo>
                <a:cubicBezTo>
                  <a:pt x="5547533" y="0"/>
                  <a:pt x="5581650" y="34117"/>
                  <a:pt x="5581650" y="76203"/>
                </a:cubicBezTo>
                <a:lnTo>
                  <a:pt x="5581650" y="2628897"/>
                </a:lnTo>
                <a:cubicBezTo>
                  <a:pt x="5581650" y="2670983"/>
                  <a:pt x="5547533" y="2705100"/>
                  <a:pt x="5505447" y="2705100"/>
                </a:cubicBezTo>
                <a:lnTo>
                  <a:pt x="38100" y="2705100"/>
                </a:lnTo>
                <a:cubicBezTo>
                  <a:pt x="17072" y="2705100"/>
                  <a:pt x="0" y="2688028"/>
                  <a:pt x="0" y="2667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1066800"/>
            <a:ext cx="38100" cy="2705100"/>
          </a:xfrm>
          <a:custGeom>
            <a:avLst/>
            <a:gdLst/>
            <a:ahLst/>
            <a:cxnLst/>
            <a:rect l="l" t="t" r="r" b="b"/>
            <a:pathLst>
              <a:path w="38100" h="2705100">
                <a:moveTo>
                  <a:pt x="38100" y="0"/>
                </a:moveTo>
                <a:lnTo>
                  <a:pt x="38100" y="0"/>
                </a:lnTo>
                <a:lnTo>
                  <a:pt x="38100" y="2705100"/>
                </a:lnTo>
                <a:lnTo>
                  <a:pt x="38100" y="2705100"/>
                </a:lnTo>
                <a:cubicBezTo>
                  <a:pt x="17072" y="2705100"/>
                  <a:pt x="0" y="2688028"/>
                  <a:pt x="0" y="2667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7700" y="1295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1525" y="1409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3000" y="1338263"/>
            <a:ext cx="24098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User Persona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1988" y="19050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6775" y="1828800"/>
            <a:ext cx="474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Male, 65 years old, HNWI, owns and operates an automotive company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1988" y="22479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6775" y="2171700"/>
            <a:ext cx="4219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knowledge of cars as he will notice every design decision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2463" y="25908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6088" y="2514600"/>
            <a:ext cx="4981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Purchasing this as a personal career milestone so the emotional significance is very high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7225" y="31623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5018" y="3086100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Wants to feel proud showing this car to his family, especially his teenage children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000500"/>
            <a:ext cx="5581650" cy="1790700"/>
          </a:xfrm>
          <a:custGeom>
            <a:avLst/>
            <a:gdLst/>
            <a:ahLst/>
            <a:cxnLst/>
            <a:rect l="l" t="t" r="r" b="b"/>
            <a:pathLst>
              <a:path w="5581650" h="1790700">
                <a:moveTo>
                  <a:pt x="38100" y="0"/>
                </a:moveTo>
                <a:lnTo>
                  <a:pt x="5505456" y="0"/>
                </a:lnTo>
                <a:cubicBezTo>
                  <a:pt x="5547508" y="0"/>
                  <a:pt x="5581650" y="34142"/>
                  <a:pt x="5581650" y="76194"/>
                </a:cubicBezTo>
                <a:lnTo>
                  <a:pt x="5581650" y="1714506"/>
                </a:lnTo>
                <a:cubicBezTo>
                  <a:pt x="5581650" y="1756587"/>
                  <a:pt x="5547537" y="1790700"/>
                  <a:pt x="5505456" y="1790700"/>
                </a:cubicBezTo>
                <a:lnTo>
                  <a:pt x="38100" y="1790700"/>
                </a:lnTo>
                <a:cubicBezTo>
                  <a:pt x="17072" y="1790700"/>
                  <a:pt x="0" y="1773628"/>
                  <a:pt x="0" y="1752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00050" y="4000500"/>
            <a:ext cx="38100" cy="1790700"/>
          </a:xfrm>
          <a:custGeom>
            <a:avLst/>
            <a:gdLst/>
            <a:ahLst/>
            <a:cxnLst/>
            <a:rect l="l" t="t" r="r" b="b"/>
            <a:pathLst>
              <a:path w="38100" h="1790700">
                <a:moveTo>
                  <a:pt x="38100" y="0"/>
                </a:moveTo>
                <a:lnTo>
                  <a:pt x="38100" y="0"/>
                </a:lnTo>
                <a:lnTo>
                  <a:pt x="38100" y="1790700"/>
                </a:lnTo>
                <a:lnTo>
                  <a:pt x="38100" y="1790700"/>
                </a:lnTo>
                <a:cubicBezTo>
                  <a:pt x="17072" y="1790700"/>
                  <a:pt x="0" y="1773628"/>
                  <a:pt x="0" y="1752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7700" y="4229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2950" y="43434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4271963"/>
            <a:ext cx="36195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Secondary Audience (Influential)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7225" y="4838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0822" y="4762500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Teenage kids, highly tech-literate, expect smooth smartphone and gaming UX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1988" y="54102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6775" y="5334000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reaction matters deeply to the father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29350" y="1072444"/>
            <a:ext cx="5581650" cy="5410200"/>
          </a:xfrm>
          <a:custGeom>
            <a:avLst/>
            <a:gdLst/>
            <a:ahLst/>
            <a:cxnLst/>
            <a:rect l="l" t="t" r="r" b="b"/>
            <a:pathLst>
              <a:path w="5581650" h="5410200">
                <a:moveTo>
                  <a:pt x="38100" y="0"/>
                </a:moveTo>
                <a:lnTo>
                  <a:pt x="5505474" y="0"/>
                </a:lnTo>
                <a:cubicBezTo>
                  <a:pt x="5547545" y="0"/>
                  <a:pt x="5581650" y="34105"/>
                  <a:pt x="5581650" y="76176"/>
                </a:cubicBezTo>
                <a:lnTo>
                  <a:pt x="5581650" y="5334024"/>
                </a:lnTo>
                <a:cubicBezTo>
                  <a:pt x="5581650" y="5376095"/>
                  <a:pt x="5547545" y="5410200"/>
                  <a:pt x="5505474" y="5410200"/>
                </a:cubicBezTo>
                <a:lnTo>
                  <a:pt x="38100" y="5410200"/>
                </a:lnTo>
                <a:cubicBezTo>
                  <a:pt x="17072" y="5410200"/>
                  <a:pt x="0" y="5393128"/>
                  <a:pt x="0" y="537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229350" y="1066800"/>
            <a:ext cx="38100" cy="5410200"/>
          </a:xfrm>
          <a:custGeom>
            <a:avLst/>
            <a:gdLst/>
            <a:ahLst/>
            <a:cxnLst/>
            <a:rect l="l" t="t" r="r" b="b"/>
            <a:pathLst>
              <a:path w="38100" h="5410200">
                <a:moveTo>
                  <a:pt x="38100" y="0"/>
                </a:moveTo>
                <a:lnTo>
                  <a:pt x="38100" y="0"/>
                </a:lnTo>
                <a:lnTo>
                  <a:pt x="38100" y="5410200"/>
                </a:lnTo>
                <a:lnTo>
                  <a:pt x="38100" y="5410200"/>
                </a:lnTo>
                <a:cubicBezTo>
                  <a:pt x="17072" y="5410200"/>
                  <a:pt x="0" y="5393128"/>
                  <a:pt x="0" y="537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77000" y="1295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10350" y="14097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72300" y="1338263"/>
            <a:ext cx="18002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Constraints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77000" y="1866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565106" y="19526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96100" y="1828800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896100" y="2095500"/>
            <a:ext cx="4325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1.5-second glance threshold is non-negotiable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477000" y="2514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565106" y="26003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0394" y="8803"/>
                </a:moveTo>
                <a:cubicBezTo>
                  <a:pt x="31566" y="7214"/>
                  <a:pt x="33442" y="6251"/>
                  <a:pt x="35421" y="6251"/>
                </a:cubicBezTo>
                <a:lnTo>
                  <a:pt x="97929" y="6251"/>
                </a:lnTo>
                <a:cubicBezTo>
                  <a:pt x="99908" y="6251"/>
                  <a:pt x="101784" y="7188"/>
                  <a:pt x="102956" y="8803"/>
                </a:cubicBezTo>
                <a:lnTo>
                  <a:pt x="132126" y="48391"/>
                </a:lnTo>
                <a:cubicBezTo>
                  <a:pt x="133897" y="50788"/>
                  <a:pt x="133715" y="54095"/>
                  <a:pt x="131735" y="56309"/>
                </a:cubicBezTo>
                <a:lnTo>
                  <a:pt x="71311" y="122984"/>
                </a:lnTo>
                <a:cubicBezTo>
                  <a:pt x="70139" y="124286"/>
                  <a:pt x="68446" y="125042"/>
                  <a:pt x="66675" y="125042"/>
                </a:cubicBezTo>
                <a:cubicBezTo>
                  <a:pt x="64904" y="125042"/>
                  <a:pt x="63237" y="124286"/>
                  <a:pt x="62039" y="122984"/>
                </a:cubicBezTo>
                <a:lnTo>
                  <a:pt x="1615" y="56309"/>
                </a:lnTo>
                <a:cubicBezTo>
                  <a:pt x="-391" y="54095"/>
                  <a:pt x="-547" y="50788"/>
                  <a:pt x="1224" y="48391"/>
                </a:cubicBezTo>
                <a:lnTo>
                  <a:pt x="30394" y="8803"/>
                </a:lnTo>
                <a:close/>
                <a:moveTo>
                  <a:pt x="40422" y="19169"/>
                </a:moveTo>
                <a:cubicBezTo>
                  <a:pt x="39562" y="19820"/>
                  <a:pt x="39328" y="20992"/>
                  <a:pt x="39875" y="21904"/>
                </a:cubicBezTo>
                <a:lnTo>
                  <a:pt x="54825" y="46829"/>
                </a:lnTo>
                <a:lnTo>
                  <a:pt x="16486" y="50006"/>
                </a:lnTo>
                <a:cubicBezTo>
                  <a:pt x="15419" y="50084"/>
                  <a:pt x="14585" y="50996"/>
                  <a:pt x="14585" y="52090"/>
                </a:cubicBezTo>
                <a:cubicBezTo>
                  <a:pt x="14585" y="53184"/>
                  <a:pt x="15419" y="54069"/>
                  <a:pt x="16486" y="54173"/>
                </a:cubicBezTo>
                <a:lnTo>
                  <a:pt x="66493" y="58341"/>
                </a:lnTo>
                <a:cubicBezTo>
                  <a:pt x="66597" y="58341"/>
                  <a:pt x="66727" y="58341"/>
                  <a:pt x="66831" y="58341"/>
                </a:cubicBezTo>
                <a:lnTo>
                  <a:pt x="116838" y="54173"/>
                </a:lnTo>
                <a:cubicBezTo>
                  <a:pt x="117905" y="54095"/>
                  <a:pt x="118739" y="53184"/>
                  <a:pt x="118739" y="52090"/>
                </a:cubicBezTo>
                <a:cubicBezTo>
                  <a:pt x="118739" y="50996"/>
                  <a:pt x="117905" y="50110"/>
                  <a:pt x="116838" y="50006"/>
                </a:cubicBezTo>
                <a:lnTo>
                  <a:pt x="78499" y="46803"/>
                </a:lnTo>
                <a:lnTo>
                  <a:pt x="93449" y="21904"/>
                </a:lnTo>
                <a:cubicBezTo>
                  <a:pt x="93996" y="20992"/>
                  <a:pt x="93762" y="19794"/>
                  <a:pt x="92902" y="19169"/>
                </a:cubicBezTo>
                <a:cubicBezTo>
                  <a:pt x="92043" y="18544"/>
                  <a:pt x="90845" y="18648"/>
                  <a:pt x="90115" y="19430"/>
                </a:cubicBezTo>
                <a:lnTo>
                  <a:pt x="66675" y="44849"/>
                </a:lnTo>
                <a:lnTo>
                  <a:pt x="43209" y="19430"/>
                </a:lnTo>
                <a:cubicBezTo>
                  <a:pt x="42479" y="18648"/>
                  <a:pt x="41281" y="18544"/>
                  <a:pt x="40422" y="1916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96100" y="2476500"/>
            <a:ext cx="399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Sophistication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896100" y="2743200"/>
            <a:ext cx="47709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 feel as premium as the price tag with good animations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477000" y="3162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548438" y="324802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00013" y="8334"/>
                </a:moveTo>
                <a:lnTo>
                  <a:pt x="133350" y="8334"/>
                </a:lnTo>
                <a:cubicBezTo>
                  <a:pt x="137960" y="8334"/>
                  <a:pt x="141684" y="12059"/>
                  <a:pt x="141684" y="16669"/>
                </a:cubicBezTo>
                <a:cubicBezTo>
                  <a:pt x="141684" y="21279"/>
                  <a:pt x="137960" y="25003"/>
                  <a:pt x="133350" y="25003"/>
                </a:cubicBezTo>
                <a:lnTo>
                  <a:pt x="103763" y="25003"/>
                </a:lnTo>
                <a:cubicBezTo>
                  <a:pt x="102409" y="31723"/>
                  <a:pt x="97799" y="37270"/>
                  <a:pt x="91678" y="39927"/>
                </a:cubicBezTo>
                <a:lnTo>
                  <a:pt x="91678" y="116681"/>
                </a:lnTo>
                <a:lnTo>
                  <a:pt x="133350" y="116681"/>
                </a:lnTo>
                <a:cubicBezTo>
                  <a:pt x="137960" y="116681"/>
                  <a:pt x="141684" y="120406"/>
                  <a:pt x="141684" y="125016"/>
                </a:cubicBezTo>
                <a:cubicBezTo>
                  <a:pt x="141684" y="129626"/>
                  <a:pt x="137960" y="133350"/>
                  <a:pt x="133350" y="133350"/>
                </a:cubicBezTo>
                <a:lnTo>
                  <a:pt x="33337" y="133350"/>
                </a:lnTo>
                <a:cubicBezTo>
                  <a:pt x="28728" y="133350"/>
                  <a:pt x="25003" y="129626"/>
                  <a:pt x="25003" y="125016"/>
                </a:cubicBezTo>
                <a:cubicBezTo>
                  <a:pt x="25003" y="120406"/>
                  <a:pt x="28728" y="116681"/>
                  <a:pt x="33337" y="116681"/>
                </a:cubicBezTo>
                <a:lnTo>
                  <a:pt x="75009" y="116681"/>
                </a:lnTo>
                <a:lnTo>
                  <a:pt x="75009" y="39927"/>
                </a:lnTo>
                <a:cubicBezTo>
                  <a:pt x="68889" y="37244"/>
                  <a:pt x="64279" y="31697"/>
                  <a:pt x="62925" y="25003"/>
                </a:cubicBezTo>
                <a:lnTo>
                  <a:pt x="33337" y="25003"/>
                </a:lnTo>
                <a:cubicBezTo>
                  <a:pt x="28728" y="25003"/>
                  <a:pt x="25003" y="21279"/>
                  <a:pt x="25003" y="16669"/>
                </a:cubicBezTo>
                <a:cubicBezTo>
                  <a:pt x="25003" y="12059"/>
                  <a:pt x="28728" y="8334"/>
                  <a:pt x="33337" y="8334"/>
                </a:cubicBezTo>
                <a:lnTo>
                  <a:pt x="66675" y="8334"/>
                </a:lnTo>
                <a:cubicBezTo>
                  <a:pt x="70478" y="3282"/>
                  <a:pt x="76520" y="0"/>
                  <a:pt x="83344" y="0"/>
                </a:cubicBezTo>
                <a:cubicBezTo>
                  <a:pt x="90168" y="0"/>
                  <a:pt x="96210" y="3282"/>
                  <a:pt x="100013" y="8334"/>
                </a:cubicBezTo>
                <a:close/>
                <a:moveTo>
                  <a:pt x="114493" y="83344"/>
                </a:moveTo>
                <a:lnTo>
                  <a:pt x="152207" y="83344"/>
                </a:lnTo>
                <a:lnTo>
                  <a:pt x="133350" y="50996"/>
                </a:lnTo>
                <a:lnTo>
                  <a:pt x="114493" y="83344"/>
                </a:lnTo>
                <a:close/>
                <a:moveTo>
                  <a:pt x="133350" y="108347"/>
                </a:moveTo>
                <a:cubicBezTo>
                  <a:pt x="116968" y="108347"/>
                  <a:pt x="103346" y="99492"/>
                  <a:pt x="100533" y="87797"/>
                </a:cubicBezTo>
                <a:cubicBezTo>
                  <a:pt x="99856" y="84932"/>
                  <a:pt x="100794" y="81989"/>
                  <a:pt x="102278" y="79437"/>
                </a:cubicBezTo>
                <a:lnTo>
                  <a:pt x="127073" y="36932"/>
                </a:lnTo>
                <a:cubicBezTo>
                  <a:pt x="128375" y="34692"/>
                  <a:pt x="130772" y="33337"/>
                  <a:pt x="133350" y="33337"/>
                </a:cubicBezTo>
                <a:cubicBezTo>
                  <a:pt x="135928" y="33337"/>
                  <a:pt x="138325" y="34718"/>
                  <a:pt x="139627" y="36932"/>
                </a:cubicBezTo>
                <a:lnTo>
                  <a:pt x="164422" y="79437"/>
                </a:lnTo>
                <a:cubicBezTo>
                  <a:pt x="165906" y="81989"/>
                  <a:pt x="166844" y="84932"/>
                  <a:pt x="166167" y="87797"/>
                </a:cubicBezTo>
                <a:cubicBezTo>
                  <a:pt x="163354" y="99466"/>
                  <a:pt x="149732" y="108347"/>
                  <a:pt x="133350" y="108347"/>
                </a:cubicBezTo>
                <a:close/>
                <a:moveTo>
                  <a:pt x="33025" y="50996"/>
                </a:moveTo>
                <a:lnTo>
                  <a:pt x="14168" y="83344"/>
                </a:lnTo>
                <a:lnTo>
                  <a:pt x="51908" y="83344"/>
                </a:lnTo>
                <a:lnTo>
                  <a:pt x="33025" y="50996"/>
                </a:lnTo>
                <a:close/>
                <a:moveTo>
                  <a:pt x="234" y="87797"/>
                </a:moveTo>
                <a:cubicBezTo>
                  <a:pt x="-443" y="84932"/>
                  <a:pt x="495" y="81989"/>
                  <a:pt x="1979" y="79437"/>
                </a:cubicBezTo>
                <a:lnTo>
                  <a:pt x="26774" y="36932"/>
                </a:lnTo>
                <a:cubicBezTo>
                  <a:pt x="28076" y="34692"/>
                  <a:pt x="30473" y="33337"/>
                  <a:pt x="33051" y="33337"/>
                </a:cubicBezTo>
                <a:cubicBezTo>
                  <a:pt x="35629" y="33337"/>
                  <a:pt x="38026" y="34718"/>
                  <a:pt x="39328" y="36932"/>
                </a:cubicBezTo>
                <a:lnTo>
                  <a:pt x="64123" y="79437"/>
                </a:lnTo>
                <a:cubicBezTo>
                  <a:pt x="65607" y="81989"/>
                  <a:pt x="66545" y="84932"/>
                  <a:pt x="65868" y="87797"/>
                </a:cubicBezTo>
                <a:cubicBezTo>
                  <a:pt x="63055" y="99466"/>
                  <a:pt x="49433" y="108347"/>
                  <a:pt x="33051" y="108347"/>
                </a:cubicBezTo>
                <a:cubicBezTo>
                  <a:pt x="16669" y="108347"/>
                  <a:pt x="3047" y="99492"/>
                  <a:pt x="234" y="8779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896100" y="3124200"/>
            <a:ext cx="421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</a:t>
            </a: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appeal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96100" y="3390900"/>
            <a:ext cx="49685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exciting for teens, refined and purposeful for an industry expert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477000" y="381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0"/>
                </a:moveTo>
                <a:lnTo>
                  <a:pt x="266700" y="0"/>
                </a:lnTo>
                <a:cubicBezTo>
                  <a:pt x="287728" y="0"/>
                  <a:pt x="304800" y="17072"/>
                  <a:pt x="304800" y="38100"/>
                </a:cubicBezTo>
                <a:lnTo>
                  <a:pt x="304800" y="266700"/>
                </a:lnTo>
                <a:cubicBezTo>
                  <a:pt x="304800" y="287728"/>
                  <a:pt x="287728" y="304800"/>
                  <a:pt x="2667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565106" y="38957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45839" y="6251"/>
                </a:moveTo>
                <a:cubicBezTo>
                  <a:pt x="45839" y="2787"/>
                  <a:pt x="43052" y="0"/>
                  <a:pt x="39588" y="0"/>
                </a:cubicBezTo>
                <a:cubicBezTo>
                  <a:pt x="36124" y="0"/>
                  <a:pt x="33337" y="2787"/>
                  <a:pt x="33337" y="6251"/>
                </a:cubicBezTo>
                <a:lnTo>
                  <a:pt x="33337" y="16669"/>
                </a:lnTo>
                <a:cubicBezTo>
                  <a:pt x="24144" y="16669"/>
                  <a:pt x="16669" y="24144"/>
                  <a:pt x="16669" y="33337"/>
                </a:cubicBezTo>
                <a:lnTo>
                  <a:pt x="6251" y="33337"/>
                </a:lnTo>
                <a:cubicBezTo>
                  <a:pt x="2787" y="33337"/>
                  <a:pt x="0" y="36124"/>
                  <a:pt x="0" y="39588"/>
                </a:cubicBezTo>
                <a:cubicBezTo>
                  <a:pt x="0" y="43052"/>
                  <a:pt x="2787" y="45839"/>
                  <a:pt x="6251" y="45839"/>
                </a:cubicBezTo>
                <a:lnTo>
                  <a:pt x="16669" y="45839"/>
                </a:lnTo>
                <a:lnTo>
                  <a:pt x="16669" y="60424"/>
                </a:lnTo>
                <a:lnTo>
                  <a:pt x="6251" y="60424"/>
                </a:lnTo>
                <a:cubicBezTo>
                  <a:pt x="2787" y="60424"/>
                  <a:pt x="0" y="63211"/>
                  <a:pt x="0" y="66675"/>
                </a:cubicBezTo>
                <a:cubicBezTo>
                  <a:pt x="0" y="70139"/>
                  <a:pt x="2787" y="72926"/>
                  <a:pt x="6251" y="72926"/>
                </a:cubicBezTo>
                <a:lnTo>
                  <a:pt x="16669" y="72926"/>
                </a:lnTo>
                <a:lnTo>
                  <a:pt x="16669" y="87511"/>
                </a:lnTo>
                <a:lnTo>
                  <a:pt x="6251" y="87511"/>
                </a:lnTo>
                <a:cubicBezTo>
                  <a:pt x="2787" y="87511"/>
                  <a:pt x="0" y="90298"/>
                  <a:pt x="0" y="93762"/>
                </a:cubicBezTo>
                <a:cubicBezTo>
                  <a:pt x="0" y="97226"/>
                  <a:pt x="2787" y="100013"/>
                  <a:pt x="6251" y="100013"/>
                </a:cubicBezTo>
                <a:lnTo>
                  <a:pt x="16669" y="100013"/>
                </a:lnTo>
                <a:cubicBezTo>
                  <a:pt x="16669" y="109206"/>
                  <a:pt x="24144" y="116681"/>
                  <a:pt x="33337" y="116681"/>
                </a:cubicBezTo>
                <a:lnTo>
                  <a:pt x="33337" y="127099"/>
                </a:lnTo>
                <a:cubicBezTo>
                  <a:pt x="33337" y="130563"/>
                  <a:pt x="36124" y="133350"/>
                  <a:pt x="39588" y="133350"/>
                </a:cubicBezTo>
                <a:cubicBezTo>
                  <a:pt x="43052" y="133350"/>
                  <a:pt x="45839" y="130563"/>
                  <a:pt x="45839" y="127099"/>
                </a:cubicBezTo>
                <a:lnTo>
                  <a:pt x="45839" y="116681"/>
                </a:lnTo>
                <a:lnTo>
                  <a:pt x="60424" y="116681"/>
                </a:lnTo>
                <a:lnTo>
                  <a:pt x="60424" y="127099"/>
                </a:lnTo>
                <a:cubicBezTo>
                  <a:pt x="60424" y="130563"/>
                  <a:pt x="63211" y="133350"/>
                  <a:pt x="66675" y="133350"/>
                </a:cubicBezTo>
                <a:cubicBezTo>
                  <a:pt x="70139" y="133350"/>
                  <a:pt x="72926" y="130563"/>
                  <a:pt x="72926" y="127099"/>
                </a:cubicBezTo>
                <a:lnTo>
                  <a:pt x="72926" y="116681"/>
                </a:lnTo>
                <a:lnTo>
                  <a:pt x="87511" y="116681"/>
                </a:lnTo>
                <a:lnTo>
                  <a:pt x="87511" y="127099"/>
                </a:lnTo>
                <a:cubicBezTo>
                  <a:pt x="87511" y="130563"/>
                  <a:pt x="90298" y="133350"/>
                  <a:pt x="93762" y="133350"/>
                </a:cubicBezTo>
                <a:cubicBezTo>
                  <a:pt x="97226" y="133350"/>
                  <a:pt x="100013" y="130563"/>
                  <a:pt x="100013" y="127099"/>
                </a:cubicBezTo>
                <a:lnTo>
                  <a:pt x="100013" y="116681"/>
                </a:lnTo>
                <a:cubicBezTo>
                  <a:pt x="109206" y="116681"/>
                  <a:pt x="116681" y="109206"/>
                  <a:pt x="116681" y="100013"/>
                </a:cubicBezTo>
                <a:lnTo>
                  <a:pt x="127099" y="100013"/>
                </a:lnTo>
                <a:cubicBezTo>
                  <a:pt x="130563" y="100013"/>
                  <a:pt x="133350" y="97226"/>
                  <a:pt x="133350" y="93762"/>
                </a:cubicBezTo>
                <a:cubicBezTo>
                  <a:pt x="133350" y="90298"/>
                  <a:pt x="130563" y="87511"/>
                  <a:pt x="127099" y="87511"/>
                </a:cubicBezTo>
                <a:lnTo>
                  <a:pt x="116681" y="87511"/>
                </a:lnTo>
                <a:lnTo>
                  <a:pt x="116681" y="72926"/>
                </a:lnTo>
                <a:lnTo>
                  <a:pt x="127099" y="72926"/>
                </a:lnTo>
                <a:cubicBezTo>
                  <a:pt x="130563" y="72926"/>
                  <a:pt x="133350" y="70139"/>
                  <a:pt x="133350" y="66675"/>
                </a:cubicBezTo>
                <a:cubicBezTo>
                  <a:pt x="133350" y="63211"/>
                  <a:pt x="130563" y="60424"/>
                  <a:pt x="127099" y="60424"/>
                </a:cubicBezTo>
                <a:lnTo>
                  <a:pt x="116681" y="60424"/>
                </a:lnTo>
                <a:lnTo>
                  <a:pt x="116681" y="45839"/>
                </a:lnTo>
                <a:lnTo>
                  <a:pt x="127099" y="45839"/>
                </a:lnTo>
                <a:cubicBezTo>
                  <a:pt x="130563" y="45839"/>
                  <a:pt x="133350" y="43052"/>
                  <a:pt x="133350" y="39588"/>
                </a:cubicBezTo>
                <a:cubicBezTo>
                  <a:pt x="133350" y="36124"/>
                  <a:pt x="130563" y="33337"/>
                  <a:pt x="127099" y="33337"/>
                </a:cubicBez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100013" y="6251"/>
                </a:lnTo>
                <a:cubicBezTo>
                  <a:pt x="100013" y="2787"/>
                  <a:pt x="97226" y="0"/>
                  <a:pt x="93762" y="0"/>
                </a:cubicBezTo>
                <a:cubicBezTo>
                  <a:pt x="90298" y="0"/>
                  <a:pt x="87511" y="2787"/>
                  <a:pt x="87511" y="6251"/>
                </a:cubicBezTo>
                <a:lnTo>
                  <a:pt x="87511" y="16669"/>
                </a:lnTo>
                <a:lnTo>
                  <a:pt x="72926" y="16669"/>
                </a:lnTo>
                <a:lnTo>
                  <a:pt x="72926" y="6251"/>
                </a:lnTo>
                <a:cubicBezTo>
                  <a:pt x="72926" y="2787"/>
                  <a:pt x="70139" y="0"/>
                  <a:pt x="66675" y="0"/>
                </a:cubicBezTo>
                <a:cubicBezTo>
                  <a:pt x="63211" y="0"/>
                  <a:pt x="60424" y="2787"/>
                  <a:pt x="60424" y="6251"/>
                </a:cubicBezTo>
                <a:lnTo>
                  <a:pt x="60424" y="16669"/>
                </a:lnTo>
                <a:lnTo>
                  <a:pt x="45839" y="16669"/>
                </a:lnTo>
                <a:lnTo>
                  <a:pt x="45839" y="6251"/>
                </a:lnTo>
                <a:close/>
                <a:moveTo>
                  <a:pt x="41672" y="33337"/>
                </a:moveTo>
                <a:lnTo>
                  <a:pt x="91678" y="33337"/>
                </a:lnTo>
                <a:cubicBezTo>
                  <a:pt x="96288" y="33337"/>
                  <a:pt x="100013" y="37062"/>
                  <a:pt x="100013" y="41672"/>
                </a:cubicBezTo>
                <a:lnTo>
                  <a:pt x="100013" y="91678"/>
                </a:lnTo>
                <a:cubicBezTo>
                  <a:pt x="100013" y="96288"/>
                  <a:pt x="96288" y="100013"/>
                  <a:pt x="91678" y="100013"/>
                </a:cubicBezTo>
                <a:lnTo>
                  <a:pt x="41672" y="100013"/>
                </a:lnTo>
                <a:cubicBezTo>
                  <a:pt x="37062" y="100013"/>
                  <a:pt x="33337" y="96288"/>
                  <a:pt x="33337" y="91678"/>
                </a:cubicBezTo>
                <a:lnTo>
                  <a:pt x="33337" y="41672"/>
                </a:lnTo>
                <a:cubicBezTo>
                  <a:pt x="33337" y="37062"/>
                  <a:pt x="37062" y="33337"/>
                  <a:pt x="41672" y="33337"/>
                </a:cubicBezTo>
                <a:close/>
                <a:moveTo>
                  <a:pt x="45839" y="45839"/>
                </a:moveTo>
                <a:lnTo>
                  <a:pt x="45839" y="87511"/>
                </a:lnTo>
                <a:lnTo>
                  <a:pt x="87511" y="87511"/>
                </a:lnTo>
                <a:lnTo>
                  <a:pt x="87511" y="45839"/>
                </a:lnTo>
                <a:lnTo>
                  <a:pt x="45839" y="4583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96100" y="3771900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96100" y="4038600"/>
            <a:ext cx="37436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screen display, 1920×720, 60 fps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50" y="419100"/>
            <a:ext cx="4648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Existing Solutions &amp; Gaps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3020" y="1066800"/>
            <a:ext cx="3686175" cy="5410200"/>
          </a:xfrm>
          <a:custGeom>
            <a:avLst/>
            <a:gdLst/>
            <a:ahLst/>
            <a:cxnLst/>
            <a:rect l="l" t="t" r="r" b="b"/>
            <a:pathLst>
              <a:path w="3686175" h="5410200">
                <a:moveTo>
                  <a:pt x="76193" y="0"/>
                </a:moveTo>
                <a:lnTo>
                  <a:pt x="3609982" y="0"/>
                </a:lnTo>
                <a:cubicBezTo>
                  <a:pt x="3652062" y="0"/>
                  <a:pt x="3686175" y="34113"/>
                  <a:pt x="3686175" y="76193"/>
                </a:cubicBezTo>
                <a:lnTo>
                  <a:pt x="3686175" y="5334007"/>
                </a:lnTo>
                <a:cubicBezTo>
                  <a:pt x="3686175" y="5376087"/>
                  <a:pt x="3652062" y="5410200"/>
                  <a:pt x="3609982" y="5410200"/>
                </a:cubicBezTo>
                <a:lnTo>
                  <a:pt x="76193" y="5410200"/>
                </a:lnTo>
                <a:cubicBezTo>
                  <a:pt x="34113" y="5410200"/>
                  <a:pt x="0" y="5376087"/>
                  <a:pt x="0" y="533400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71500" y="1257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0243" y="34945"/>
                </a:moveTo>
                <a:lnTo>
                  <a:pt x="32474" y="57150"/>
                </a:lnTo>
                <a:lnTo>
                  <a:pt x="119926" y="57150"/>
                </a:lnTo>
                <a:lnTo>
                  <a:pt x="112157" y="34945"/>
                </a:lnTo>
                <a:cubicBezTo>
                  <a:pt x="110817" y="31135"/>
                  <a:pt x="107216" y="28575"/>
                  <a:pt x="103168" y="28575"/>
                </a:cubicBezTo>
                <a:lnTo>
                  <a:pt x="49232" y="28575"/>
                </a:lnTo>
                <a:cubicBezTo>
                  <a:pt x="45184" y="28575"/>
                  <a:pt x="41583" y="31135"/>
                  <a:pt x="40243" y="34945"/>
                </a:cubicBezTo>
                <a:close/>
                <a:moveTo>
                  <a:pt x="11787" y="58579"/>
                </a:moveTo>
                <a:lnTo>
                  <a:pt x="22265" y="28664"/>
                </a:lnTo>
                <a:cubicBezTo>
                  <a:pt x="26283" y="17205"/>
                  <a:pt x="37088" y="9525"/>
                  <a:pt x="49232" y="9525"/>
                </a:cubicBezTo>
                <a:lnTo>
                  <a:pt x="103168" y="9525"/>
                </a:lnTo>
                <a:cubicBezTo>
                  <a:pt x="115312" y="9525"/>
                  <a:pt x="126117" y="17205"/>
                  <a:pt x="130135" y="28664"/>
                </a:cubicBezTo>
                <a:lnTo>
                  <a:pt x="140613" y="58579"/>
                </a:lnTo>
                <a:cubicBezTo>
                  <a:pt x="147518" y="61436"/>
                  <a:pt x="152400" y="68253"/>
                  <a:pt x="152400" y="762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33350" y="142875"/>
                </a:lnTo>
                <a:cubicBezTo>
                  <a:pt x="128081" y="142875"/>
                  <a:pt x="123825" y="138619"/>
                  <a:pt x="123825" y="133350"/>
                </a:cubicBezTo>
                <a:lnTo>
                  <a:pt x="123825" y="123825"/>
                </a:lnTo>
                <a:lnTo>
                  <a:pt x="28575" y="123825"/>
                </a:lnTo>
                <a:lnTo>
                  <a:pt x="28575" y="133350"/>
                </a:lnTo>
                <a:cubicBezTo>
                  <a:pt x="28575" y="138619"/>
                  <a:pt x="24319" y="142875"/>
                  <a:pt x="19050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76200"/>
                </a:lnTo>
                <a:cubicBezTo>
                  <a:pt x="0" y="68253"/>
                  <a:pt x="4882" y="61436"/>
                  <a:pt x="11787" y="58579"/>
                </a:cubicBezTo>
                <a:close/>
                <a:moveTo>
                  <a:pt x="38100" y="90488"/>
                </a:moveTo>
                <a:cubicBezTo>
                  <a:pt x="38100" y="85231"/>
                  <a:pt x="33832" y="80962"/>
                  <a:pt x="28575" y="80962"/>
                </a:cubicBezTo>
                <a:cubicBezTo>
                  <a:pt x="23318" y="80962"/>
                  <a:pt x="19050" y="85231"/>
                  <a:pt x="19050" y="90488"/>
                </a:cubicBezTo>
                <a:cubicBezTo>
                  <a:pt x="19050" y="95744"/>
                  <a:pt x="23318" y="100013"/>
                  <a:pt x="28575" y="100013"/>
                </a:cubicBezTo>
                <a:cubicBezTo>
                  <a:pt x="33832" y="100013"/>
                  <a:pt x="38100" y="95744"/>
                  <a:pt x="38100" y="90488"/>
                </a:cubicBezTo>
                <a:close/>
                <a:moveTo>
                  <a:pt x="123825" y="100013"/>
                </a:moveTo>
                <a:cubicBezTo>
                  <a:pt x="129082" y="100013"/>
                  <a:pt x="133350" y="95744"/>
                  <a:pt x="133350" y="90488"/>
                </a:cubicBezTo>
                <a:cubicBezTo>
                  <a:pt x="133350" y="85231"/>
                  <a:pt x="129082" y="80962"/>
                  <a:pt x="123825" y="80962"/>
                </a:cubicBezTo>
                <a:cubicBezTo>
                  <a:pt x="118568" y="80962"/>
                  <a:pt x="114300" y="85231"/>
                  <a:pt x="114300" y="90488"/>
                </a:cubicBezTo>
                <a:cubicBezTo>
                  <a:pt x="114300" y="95744"/>
                  <a:pt x="118568" y="100013"/>
                  <a:pt x="123825" y="10001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66800" y="1314450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Benchmarks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8650" y="1992485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8200" y="2084204"/>
            <a:ext cx="2886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Porsche / McLaren — refined and technical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5313" y="4162063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3438" y="2699452"/>
            <a:ext cx="3114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Ferrari digital cluster — prestigious but complex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1324" y="2718512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3906" y="3385245"/>
            <a:ext cx="3171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Corvette / Mustang digital — bold and American but aesthetically rough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0550" y="3400776"/>
            <a:ext cx="76200" cy="152400"/>
          </a:xfrm>
          <a:custGeom>
            <a:avLst/>
            <a:gdLst/>
            <a:ahLst/>
            <a:cxnLst/>
            <a:rect l="l" t="t" r="r" b="b"/>
            <a:pathLst>
              <a:path w="76200" h="152400">
                <a:moveTo>
                  <a:pt x="73551" y="69473"/>
                </a:moveTo>
                <a:cubicBezTo>
                  <a:pt x="77272" y="73194"/>
                  <a:pt x="77272" y="79236"/>
                  <a:pt x="73551" y="82957"/>
                </a:cubicBezTo>
                <a:lnTo>
                  <a:pt x="25926" y="130582"/>
                </a:lnTo>
                <a:cubicBezTo>
                  <a:pt x="22205" y="134303"/>
                  <a:pt x="16163" y="134303"/>
                  <a:pt x="12442" y="130582"/>
                </a:cubicBezTo>
                <a:cubicBezTo>
                  <a:pt x="8721" y="126861"/>
                  <a:pt x="8721" y="120819"/>
                  <a:pt x="12442" y="117098"/>
                </a:cubicBezTo>
                <a:lnTo>
                  <a:pt x="53340" y="76200"/>
                </a:lnTo>
                <a:lnTo>
                  <a:pt x="12472" y="35302"/>
                </a:lnTo>
                <a:cubicBezTo>
                  <a:pt x="8751" y="31581"/>
                  <a:pt x="8751" y="25539"/>
                  <a:pt x="12472" y="21818"/>
                </a:cubicBezTo>
                <a:cubicBezTo>
                  <a:pt x="16193" y="18098"/>
                  <a:pt x="22235" y="18098"/>
                  <a:pt x="25956" y="21818"/>
                </a:cubicBezTo>
                <a:lnTo>
                  <a:pt x="73581" y="69443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6316" y="4279891"/>
            <a:ext cx="3181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Tesla / Rivian — clean and modern but not performance-oriented, no sports car character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54401" y="1028700"/>
            <a:ext cx="3686175" cy="5410200"/>
          </a:xfrm>
          <a:custGeom>
            <a:avLst/>
            <a:gdLst/>
            <a:ahLst/>
            <a:cxnLst/>
            <a:rect l="l" t="t" r="r" b="b"/>
            <a:pathLst>
              <a:path w="3686175" h="5410200">
                <a:moveTo>
                  <a:pt x="76193" y="0"/>
                </a:moveTo>
                <a:lnTo>
                  <a:pt x="3609982" y="0"/>
                </a:lnTo>
                <a:cubicBezTo>
                  <a:pt x="3652062" y="0"/>
                  <a:pt x="3686175" y="34113"/>
                  <a:pt x="3686175" y="76193"/>
                </a:cubicBezTo>
                <a:lnTo>
                  <a:pt x="3686175" y="5334007"/>
                </a:lnTo>
                <a:cubicBezTo>
                  <a:pt x="3686175" y="5376087"/>
                  <a:pt x="3652062" y="5410200"/>
                  <a:pt x="3609982" y="5410200"/>
                </a:cubicBezTo>
                <a:lnTo>
                  <a:pt x="76193" y="5410200"/>
                </a:lnTo>
                <a:cubicBezTo>
                  <a:pt x="34113" y="5410200"/>
                  <a:pt x="0" y="5376087"/>
                  <a:pt x="0" y="5334007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444901" y="1257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59201" y="1371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3813" y="47625"/>
                </a:moveTo>
                <a:cubicBezTo>
                  <a:pt x="29081" y="47625"/>
                  <a:pt x="33338" y="51881"/>
                  <a:pt x="33338" y="57150"/>
                </a:cubicBezTo>
                <a:lnTo>
                  <a:pt x="33338" y="133350"/>
                </a:lnTo>
                <a:cubicBezTo>
                  <a:pt x="33338" y="138619"/>
                  <a:pt x="29081" y="142875"/>
                  <a:pt x="23813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57150"/>
                </a:lnTo>
                <a:cubicBezTo>
                  <a:pt x="0" y="51881"/>
                  <a:pt x="4256" y="47625"/>
                  <a:pt x="9525" y="47625"/>
                </a:cubicBezTo>
                <a:lnTo>
                  <a:pt x="23813" y="47625"/>
                </a:lnTo>
                <a:close/>
                <a:moveTo>
                  <a:pt x="80546" y="4763"/>
                </a:moveTo>
                <a:cubicBezTo>
                  <a:pt x="88672" y="4763"/>
                  <a:pt x="95250" y="11341"/>
                  <a:pt x="95250" y="19467"/>
                </a:cubicBezTo>
                <a:lnTo>
                  <a:pt x="95250" y="20717"/>
                </a:lnTo>
                <a:cubicBezTo>
                  <a:pt x="95250" y="22741"/>
                  <a:pt x="94863" y="24765"/>
                  <a:pt x="94119" y="26640"/>
                </a:cubicBezTo>
                <a:lnTo>
                  <a:pt x="85725" y="47625"/>
                </a:lnTo>
                <a:lnTo>
                  <a:pt x="133350" y="47625"/>
                </a:lnTo>
                <a:cubicBezTo>
                  <a:pt x="141238" y="47625"/>
                  <a:pt x="147638" y="54025"/>
                  <a:pt x="147638" y="61912"/>
                </a:cubicBezTo>
                <a:cubicBezTo>
                  <a:pt x="147638" y="67776"/>
                  <a:pt x="144095" y="72807"/>
                  <a:pt x="139035" y="75009"/>
                </a:cubicBezTo>
                <a:cubicBezTo>
                  <a:pt x="144095" y="77212"/>
                  <a:pt x="147638" y="82242"/>
                  <a:pt x="147638" y="88106"/>
                </a:cubicBezTo>
                <a:cubicBezTo>
                  <a:pt x="147638" y="95071"/>
                  <a:pt x="142637" y="100876"/>
                  <a:pt x="136029" y="102126"/>
                </a:cubicBezTo>
                <a:cubicBezTo>
                  <a:pt x="137339" y="104299"/>
                  <a:pt x="138113" y="106829"/>
                  <a:pt x="138113" y="109537"/>
                </a:cubicBezTo>
                <a:cubicBezTo>
                  <a:pt x="138113" y="116145"/>
                  <a:pt x="133648" y="121682"/>
                  <a:pt x="127575" y="123319"/>
                </a:cubicBezTo>
                <a:cubicBezTo>
                  <a:pt x="128230" y="124956"/>
                  <a:pt x="128588" y="126742"/>
                  <a:pt x="128588" y="128588"/>
                </a:cubicBezTo>
                <a:cubicBezTo>
                  <a:pt x="128588" y="136475"/>
                  <a:pt x="122188" y="142875"/>
                  <a:pt x="114300" y="142875"/>
                </a:cubicBezTo>
                <a:lnTo>
                  <a:pt x="88136" y="142875"/>
                </a:lnTo>
                <a:cubicBezTo>
                  <a:pt x="77331" y="142875"/>
                  <a:pt x="66824" y="139184"/>
                  <a:pt x="58400" y="132427"/>
                </a:cubicBezTo>
                <a:lnTo>
                  <a:pt x="54769" y="129540"/>
                </a:lnTo>
                <a:cubicBezTo>
                  <a:pt x="50244" y="125938"/>
                  <a:pt x="47625" y="120461"/>
                  <a:pt x="47625" y="114657"/>
                </a:cubicBezTo>
                <a:lnTo>
                  <a:pt x="47625" y="59115"/>
                </a:lnTo>
                <a:cubicBezTo>
                  <a:pt x="47625" y="54679"/>
                  <a:pt x="48667" y="50304"/>
                  <a:pt x="50631" y="46345"/>
                </a:cubicBezTo>
                <a:lnTo>
                  <a:pt x="67360" y="12889"/>
                </a:lnTo>
                <a:cubicBezTo>
                  <a:pt x="69860" y="7918"/>
                  <a:pt x="74950" y="4763"/>
                  <a:pt x="80546" y="476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40201" y="131445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Works Well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41803" y="20002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39717" y="1965680"/>
            <a:ext cx="3181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European premium brands: consistent, polished, brand-coherent visual language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16227" y="408586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39717" y="3035303"/>
            <a:ext cx="3181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Tesla/Rivian: immediately impressive startup animation, familiar to younger users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440138" y="2895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41354" y="4071057"/>
            <a:ext cx="3181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Sports-focused systems: performance data density that experts appreciate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37475" y="1076325"/>
            <a:ext cx="3667125" cy="5391150"/>
          </a:xfrm>
          <a:custGeom>
            <a:avLst/>
            <a:gdLst/>
            <a:ahLst/>
            <a:cxnLst/>
            <a:rect l="l" t="t" r="r" b="b"/>
            <a:pathLst>
              <a:path w="3667125" h="5391150">
                <a:moveTo>
                  <a:pt x="76203" y="0"/>
                </a:moveTo>
                <a:lnTo>
                  <a:pt x="3590922" y="0"/>
                </a:lnTo>
                <a:cubicBezTo>
                  <a:pt x="3632980" y="0"/>
                  <a:pt x="3667125" y="34145"/>
                  <a:pt x="3667125" y="76203"/>
                </a:cubicBezTo>
                <a:lnTo>
                  <a:pt x="3667125" y="5314947"/>
                </a:lnTo>
                <a:cubicBezTo>
                  <a:pt x="3667125" y="5357005"/>
                  <a:pt x="3632980" y="5391150"/>
                  <a:pt x="3590922" y="5391150"/>
                </a:cubicBezTo>
                <a:lnTo>
                  <a:pt x="76203" y="5391150"/>
                </a:lnTo>
                <a:cubicBezTo>
                  <a:pt x="34145" y="5391150"/>
                  <a:pt x="0" y="5357005"/>
                  <a:pt x="0" y="53149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D32F2F"/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37500" y="1284822"/>
            <a:ext cx="371475" cy="381000"/>
          </a:xfrm>
          <a:custGeom>
            <a:avLst/>
            <a:gdLst/>
            <a:ahLst/>
            <a:cxnLst/>
            <a:rect l="l" t="t" r="r" b="b"/>
            <a:pathLst>
              <a:path w="371475" h="381000">
                <a:moveTo>
                  <a:pt x="185738" y="0"/>
                </a:moveTo>
                <a:lnTo>
                  <a:pt x="185738" y="0"/>
                </a:lnTo>
                <a:cubicBezTo>
                  <a:pt x="288249" y="0"/>
                  <a:pt x="371475" y="83226"/>
                  <a:pt x="371475" y="185738"/>
                </a:cubicBezTo>
                <a:lnTo>
                  <a:pt x="371475" y="195263"/>
                </a:lnTo>
                <a:cubicBezTo>
                  <a:pt x="371475" y="297774"/>
                  <a:pt x="288249" y="381000"/>
                  <a:pt x="185738" y="381000"/>
                </a:cubicBezTo>
                <a:lnTo>
                  <a:pt x="185738" y="381000"/>
                </a:lnTo>
                <a:cubicBezTo>
                  <a:pt x="83226" y="381000"/>
                  <a:pt x="0" y="297774"/>
                  <a:pt x="0" y="195263"/>
                </a:cubicBezTo>
                <a:lnTo>
                  <a:pt x="0" y="185738"/>
                </a:lnTo>
                <a:cubicBezTo>
                  <a:pt x="0" y="83226"/>
                  <a:pt x="83226" y="0"/>
                  <a:pt x="185737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66981" y="139506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825210" y="1208622"/>
            <a:ext cx="28670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Gaps — Our Opportunity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37500" y="203552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560538" y="2018596"/>
            <a:ext cx="3143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system targets the dual audience: Data centric design for drivers + appeasing to the passengers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327975" y="314184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567886" y="3112212"/>
            <a:ext cx="3105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Startup and ambient animations are absent or forgettable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37500" y="5810250"/>
            <a:ext cx="3267075" cy="457200"/>
          </a:xfrm>
          <a:custGeom>
            <a:avLst/>
            <a:gdLst/>
            <a:ahLst/>
            <a:cxnLst/>
            <a:rect l="l" t="t" r="r" b="b"/>
            <a:pathLst>
              <a:path w="3267075" h="457200">
                <a:moveTo>
                  <a:pt x="76202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380998"/>
                </a:lnTo>
                <a:cubicBezTo>
                  <a:pt x="3267075" y="423083"/>
                  <a:pt x="3232958" y="457200"/>
                  <a:pt x="3190873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32F2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661350" y="5924550"/>
            <a:ext cx="286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D32F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where we differentiate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50" y="419100"/>
            <a:ext cx="676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Proposed Solution – Concept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66800"/>
            <a:ext cx="11430000" cy="1419225"/>
          </a:xfrm>
          <a:custGeom>
            <a:avLst/>
            <a:gdLst/>
            <a:ahLst/>
            <a:cxnLst/>
            <a:rect l="l" t="t" r="r" b="b"/>
            <a:pathLst>
              <a:path w="11430000" h="1419225">
                <a:moveTo>
                  <a:pt x="76198" y="0"/>
                </a:moveTo>
                <a:lnTo>
                  <a:pt x="11353802" y="0"/>
                </a:lnTo>
                <a:cubicBezTo>
                  <a:pt x="11395885" y="0"/>
                  <a:pt x="11430000" y="34115"/>
                  <a:pt x="11430000" y="76198"/>
                </a:cubicBezTo>
                <a:lnTo>
                  <a:pt x="11430000" y="1343027"/>
                </a:lnTo>
                <a:cubicBezTo>
                  <a:pt x="11430000" y="1385110"/>
                  <a:pt x="11395885" y="1419225"/>
                  <a:pt x="11353802" y="1419225"/>
                </a:cubicBezTo>
                <a:lnTo>
                  <a:pt x="76198" y="1419225"/>
                </a:lnTo>
                <a:cubicBezTo>
                  <a:pt x="34115" y="1419225"/>
                  <a:pt x="0" y="1385110"/>
                  <a:pt x="0" y="1343027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gradFill flip="none" rotWithShape="1">
            <a:gsLst>
              <a:gs pos="0">
                <a:srgbClr val="D32F2F"/>
              </a:gs>
              <a:gs pos="100000">
                <a:srgbClr val="FF6B6B"/>
              </a:gs>
            </a:gsLst>
            <a:lin ang="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1958" y="1276350"/>
            <a:ext cx="14382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1704975"/>
            <a:ext cx="110585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performance-driven digital instrument cluster that feels like a career milestone every time the car starts while striking enough to earn a teenager's respect, sophisticated enough to satisfy an automotive industry expert and safe enough to use at higher speeds.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1000" y="2676525"/>
            <a:ext cx="11430000" cy="3990975"/>
          </a:xfrm>
          <a:custGeom>
            <a:avLst/>
            <a:gdLst/>
            <a:ahLst/>
            <a:cxnLst/>
            <a:rect l="l" t="t" r="r" b="b"/>
            <a:pathLst>
              <a:path w="11430000" h="3990975">
                <a:moveTo>
                  <a:pt x="76188" y="0"/>
                </a:moveTo>
                <a:lnTo>
                  <a:pt x="11353812" y="0"/>
                </a:lnTo>
                <a:cubicBezTo>
                  <a:pt x="11395861" y="0"/>
                  <a:pt x="11430000" y="34139"/>
                  <a:pt x="11430000" y="76188"/>
                </a:cubicBezTo>
                <a:lnTo>
                  <a:pt x="11430000" y="3914787"/>
                </a:lnTo>
                <a:cubicBezTo>
                  <a:pt x="11430000" y="3956865"/>
                  <a:pt x="11395890" y="3990975"/>
                  <a:pt x="11353812" y="3990975"/>
                </a:cubicBezTo>
                <a:lnTo>
                  <a:pt x="76188" y="3990975"/>
                </a:lnTo>
                <a:cubicBezTo>
                  <a:pt x="34139" y="3990975"/>
                  <a:pt x="0" y="3956836"/>
                  <a:pt x="0" y="3914787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8175" y="29384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0019" y="157163"/>
                </a:moveTo>
                <a:cubicBezTo>
                  <a:pt x="193417" y="157163"/>
                  <a:pt x="228600" y="121980"/>
                  <a:pt x="228600" y="78581"/>
                </a:cubicBezTo>
                <a:cubicBezTo>
                  <a:pt x="228600" y="35183"/>
                  <a:pt x="193417" y="0"/>
                  <a:pt x="150019" y="0"/>
                </a:cubicBezTo>
                <a:cubicBezTo>
                  <a:pt x="106620" y="0"/>
                  <a:pt x="71438" y="35183"/>
                  <a:pt x="71438" y="78581"/>
                </a:cubicBezTo>
                <a:cubicBezTo>
                  <a:pt x="71438" y="86931"/>
                  <a:pt x="72732" y="95012"/>
                  <a:pt x="75143" y="102557"/>
                </a:cubicBezTo>
                <a:lnTo>
                  <a:pt x="3125" y="174575"/>
                </a:lnTo>
                <a:cubicBezTo>
                  <a:pt x="1116" y="176585"/>
                  <a:pt x="0" y="179308"/>
                  <a:pt x="0" y="182166"/>
                </a:cubicBezTo>
                <a:lnTo>
                  <a:pt x="0" y="217884"/>
                </a:lnTo>
                <a:cubicBezTo>
                  <a:pt x="0" y="223823"/>
                  <a:pt x="4777" y="228600"/>
                  <a:pt x="10716" y="228600"/>
                </a:cubicBezTo>
                <a:lnTo>
                  <a:pt x="46434" y="228600"/>
                </a:lnTo>
                <a:cubicBezTo>
                  <a:pt x="52373" y="228600"/>
                  <a:pt x="57150" y="223823"/>
                  <a:pt x="57150" y="217884"/>
                </a:cubicBezTo>
                <a:lnTo>
                  <a:pt x="57150" y="200025"/>
                </a:lnTo>
                <a:lnTo>
                  <a:pt x="75009" y="200025"/>
                </a:lnTo>
                <a:cubicBezTo>
                  <a:pt x="80948" y="200025"/>
                  <a:pt x="85725" y="195248"/>
                  <a:pt x="85725" y="189309"/>
                </a:cubicBezTo>
                <a:lnTo>
                  <a:pt x="85725" y="171450"/>
                </a:lnTo>
                <a:lnTo>
                  <a:pt x="103584" y="171450"/>
                </a:lnTo>
                <a:cubicBezTo>
                  <a:pt x="106442" y="171450"/>
                  <a:pt x="109165" y="170334"/>
                  <a:pt x="111175" y="168325"/>
                </a:cubicBezTo>
                <a:lnTo>
                  <a:pt x="126043" y="153457"/>
                </a:lnTo>
                <a:cubicBezTo>
                  <a:pt x="133588" y="155868"/>
                  <a:pt x="141669" y="157163"/>
                  <a:pt x="150019" y="157163"/>
                </a:cubicBezTo>
                <a:close/>
                <a:moveTo>
                  <a:pt x="167878" y="42863"/>
                </a:moveTo>
                <a:cubicBezTo>
                  <a:pt x="177735" y="42863"/>
                  <a:pt x="185738" y="50865"/>
                  <a:pt x="185738" y="60722"/>
                </a:cubicBezTo>
                <a:cubicBezTo>
                  <a:pt x="185738" y="70579"/>
                  <a:pt x="177735" y="78581"/>
                  <a:pt x="167878" y="78581"/>
                </a:cubicBezTo>
                <a:cubicBezTo>
                  <a:pt x="158021" y="78581"/>
                  <a:pt x="150019" y="70579"/>
                  <a:pt x="150019" y="60722"/>
                </a:cubicBezTo>
                <a:cubicBezTo>
                  <a:pt x="150019" y="50865"/>
                  <a:pt x="158021" y="42863"/>
                  <a:pt x="167878" y="42863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9650" y="2905125"/>
            <a:ext cx="21240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Differentiators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8650" y="3390900"/>
            <a:ext cx="5391150" cy="838200"/>
          </a:xfrm>
          <a:custGeom>
            <a:avLst/>
            <a:gdLst/>
            <a:ahLst/>
            <a:cxnLst/>
            <a:rect l="l" t="t" r="r" b="b"/>
            <a:pathLst>
              <a:path w="5391150" h="838200">
                <a:moveTo>
                  <a:pt x="38100" y="0"/>
                </a:moveTo>
                <a:lnTo>
                  <a:pt x="5314949" y="0"/>
                </a:lnTo>
                <a:cubicBezTo>
                  <a:pt x="5357034" y="0"/>
                  <a:pt x="5391150" y="34116"/>
                  <a:pt x="5391150" y="76201"/>
                </a:cubicBezTo>
                <a:lnTo>
                  <a:pt x="5391150" y="761999"/>
                </a:lnTo>
                <a:cubicBezTo>
                  <a:pt x="5391150" y="804084"/>
                  <a:pt x="5357034" y="838200"/>
                  <a:pt x="53149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8650" y="33909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0100" y="3543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4257" y="3619500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5400" y="3249791"/>
            <a:ext cx="403133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Cinematic startup sequence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95400" y="3616680"/>
            <a:ext cx="40195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emotional impact from the first moment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91250" y="3390900"/>
            <a:ext cx="5391150" cy="838200"/>
          </a:xfrm>
          <a:custGeom>
            <a:avLst/>
            <a:gdLst/>
            <a:ahLst/>
            <a:cxnLst/>
            <a:rect l="l" t="t" r="r" b="b"/>
            <a:pathLst>
              <a:path w="5391150" h="838200">
                <a:moveTo>
                  <a:pt x="38100" y="0"/>
                </a:moveTo>
                <a:lnTo>
                  <a:pt x="5314949" y="0"/>
                </a:lnTo>
                <a:cubicBezTo>
                  <a:pt x="5357034" y="0"/>
                  <a:pt x="5391150" y="34116"/>
                  <a:pt x="5391150" y="76201"/>
                </a:cubicBezTo>
                <a:lnTo>
                  <a:pt x="5391150" y="761999"/>
                </a:lnTo>
                <a:cubicBezTo>
                  <a:pt x="5391150" y="804084"/>
                  <a:pt x="5357034" y="838200"/>
                  <a:pt x="53149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91250" y="33909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62700" y="3543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12272" y="36195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3249791"/>
            <a:ext cx="319442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Three-tier visual hierarchy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7999" y="3588458"/>
            <a:ext cx="318263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information clarity at a glance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8650" y="4381500"/>
            <a:ext cx="5391150" cy="1066800"/>
          </a:xfrm>
          <a:custGeom>
            <a:avLst/>
            <a:gdLst/>
            <a:ahLst/>
            <a:cxnLst/>
            <a:rect l="l" t="t" r="r" b="b"/>
            <a:pathLst>
              <a:path w="5391150" h="1066800">
                <a:moveTo>
                  <a:pt x="38100" y="0"/>
                </a:moveTo>
                <a:lnTo>
                  <a:pt x="5314948" y="0"/>
                </a:lnTo>
                <a:cubicBezTo>
                  <a:pt x="5357033" y="0"/>
                  <a:pt x="5391150" y="34117"/>
                  <a:pt x="5391150" y="76202"/>
                </a:cubicBezTo>
                <a:lnTo>
                  <a:pt x="5391150" y="990598"/>
                </a:lnTo>
                <a:cubicBezTo>
                  <a:pt x="5391150" y="1032683"/>
                  <a:pt x="5357033" y="1066800"/>
                  <a:pt x="53149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8650" y="43815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0100" y="4533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7589" y="46101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95400" y="4206524"/>
            <a:ext cx="576410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adaptive modes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95400" y="4437946"/>
            <a:ext cx="57523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Normal/Street (refined, premium), Sports </a:t>
            </a:r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(necessary data-first) and Night mode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91250" y="4375856"/>
            <a:ext cx="5391150" cy="1066800"/>
          </a:xfrm>
          <a:custGeom>
            <a:avLst/>
            <a:gdLst/>
            <a:ahLst/>
            <a:cxnLst/>
            <a:rect l="l" t="t" r="r" b="b"/>
            <a:pathLst>
              <a:path w="5391150" h="1066800">
                <a:moveTo>
                  <a:pt x="38100" y="0"/>
                </a:moveTo>
                <a:lnTo>
                  <a:pt x="5314948" y="0"/>
                </a:lnTo>
                <a:cubicBezTo>
                  <a:pt x="5357033" y="0"/>
                  <a:pt x="5391150" y="34117"/>
                  <a:pt x="5391150" y="76202"/>
                </a:cubicBezTo>
                <a:lnTo>
                  <a:pt x="5391150" y="990598"/>
                </a:lnTo>
                <a:cubicBezTo>
                  <a:pt x="5391150" y="1032683"/>
                  <a:pt x="5357033" y="1066800"/>
                  <a:pt x="53149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91250" y="43815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62700" y="4533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12272" y="46101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7999" y="4353280"/>
            <a:ext cx="344196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language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4748392"/>
            <a:ext cx="343017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Bold, precise, confident Detroit character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8650" y="5600700"/>
            <a:ext cx="10953750" cy="838200"/>
          </a:xfrm>
          <a:custGeom>
            <a:avLst/>
            <a:gdLst/>
            <a:ahLst/>
            <a:cxnLst/>
            <a:rect l="l" t="t" r="r" b="b"/>
            <a:pathLst>
              <a:path w="10953750" h="838200">
                <a:moveTo>
                  <a:pt x="38100" y="0"/>
                </a:moveTo>
                <a:lnTo>
                  <a:pt x="10877549" y="0"/>
                </a:lnTo>
                <a:cubicBezTo>
                  <a:pt x="10919634" y="0"/>
                  <a:pt x="10953750" y="34116"/>
                  <a:pt x="10953750" y="76201"/>
                </a:cubicBezTo>
                <a:lnTo>
                  <a:pt x="10953750" y="761999"/>
                </a:lnTo>
                <a:cubicBezTo>
                  <a:pt x="10953750" y="804084"/>
                  <a:pt x="10919634" y="838200"/>
                  <a:pt x="108775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8650" y="56007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00100" y="5753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47440" y="58293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95400" y="5425724"/>
            <a:ext cx="498612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Ambient display states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295400" y="5730524"/>
            <a:ext cx="49743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passengers feel they're in something genuinely special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8" descr="A diagram of a diagram&#10;&#10;AI-generated content may be incorrect.">
            <a:extLst>
              <a:ext uri="{FF2B5EF4-FFF2-40B4-BE49-F238E27FC236}">
                <a16:creationId xmlns:a16="http://schemas.microsoft.com/office/drawing/2014/main" id="{71020043-3947-F0D0-2E30-ED7EE3EDE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501" y="561379"/>
            <a:ext cx="9144299" cy="573524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50" y="419100"/>
            <a:ext cx="428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User Flow &amp; Interaction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047750"/>
            <a:ext cx="5619750" cy="1390650"/>
          </a:xfrm>
          <a:custGeom>
            <a:avLst/>
            <a:gdLst/>
            <a:ahLst/>
            <a:cxnLst/>
            <a:rect l="l" t="t" r="r" b="b"/>
            <a:pathLst>
              <a:path w="5619750" h="13906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314456"/>
                </a:lnTo>
                <a:cubicBezTo>
                  <a:pt x="5619750" y="1356509"/>
                  <a:pt x="5585609" y="1390650"/>
                  <a:pt x="5543556" y="1390650"/>
                </a:cubicBezTo>
                <a:lnTo>
                  <a:pt x="76194" y="1390650"/>
                </a:lnTo>
                <a:cubicBezTo>
                  <a:pt x="34141" y="1390650"/>
                  <a:pt x="0" y="1356509"/>
                  <a:pt x="0" y="13144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1000" y="10477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1500" y="1257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5725" y="0"/>
                </a:moveTo>
                <a:cubicBezTo>
                  <a:pt x="85725" y="-5269"/>
                  <a:pt x="81469" y="-9525"/>
                  <a:pt x="76200" y="-9525"/>
                </a:cubicBezTo>
                <a:cubicBezTo>
                  <a:pt x="70931" y="-9525"/>
                  <a:pt x="66675" y="-5269"/>
                  <a:pt x="66675" y="0"/>
                </a:cubicBezTo>
                <a:lnTo>
                  <a:pt x="66675" y="76200"/>
                </a:lnTo>
                <a:cubicBezTo>
                  <a:pt x="66675" y="81469"/>
                  <a:pt x="70931" y="85725"/>
                  <a:pt x="76200" y="85725"/>
                </a:cubicBezTo>
                <a:cubicBezTo>
                  <a:pt x="81469" y="85725"/>
                  <a:pt x="85725" y="81469"/>
                  <a:pt x="85725" y="76200"/>
                </a:cubicBezTo>
                <a:lnTo>
                  <a:pt x="85725" y="0"/>
                </a:lnTo>
                <a:close/>
                <a:moveTo>
                  <a:pt x="43547" y="29289"/>
                </a:moveTo>
                <a:cubicBezTo>
                  <a:pt x="47863" y="26283"/>
                  <a:pt x="48905" y="20330"/>
                  <a:pt x="45899" y="16014"/>
                </a:cubicBezTo>
                <a:cubicBezTo>
                  <a:pt x="42892" y="11698"/>
                  <a:pt x="36939" y="10656"/>
                  <a:pt x="32623" y="13662"/>
                </a:cubicBezTo>
                <a:cubicBezTo>
                  <a:pt x="12918" y="27414"/>
                  <a:pt x="0" y="50304"/>
                  <a:pt x="0" y="76200"/>
                </a:cubicBezTo>
                <a:cubicBezTo>
                  <a:pt x="0" y="118289"/>
                  <a:pt x="34111" y="152400"/>
                  <a:pt x="76200" y="152400"/>
                </a:cubicBezTo>
                <a:cubicBezTo>
                  <a:pt x="118289" y="152400"/>
                  <a:pt x="152400" y="118289"/>
                  <a:pt x="152400" y="76200"/>
                </a:cubicBezTo>
                <a:cubicBezTo>
                  <a:pt x="152400" y="50304"/>
                  <a:pt x="139482" y="27414"/>
                  <a:pt x="119747" y="13662"/>
                </a:cubicBezTo>
                <a:cubicBezTo>
                  <a:pt x="115431" y="10656"/>
                  <a:pt x="109508" y="11698"/>
                  <a:pt x="106472" y="16014"/>
                </a:cubicBezTo>
                <a:cubicBezTo>
                  <a:pt x="103436" y="20330"/>
                  <a:pt x="104507" y="26253"/>
                  <a:pt x="108823" y="29289"/>
                </a:cubicBezTo>
                <a:cubicBezTo>
                  <a:pt x="123646" y="39648"/>
                  <a:pt x="133320" y="56793"/>
                  <a:pt x="133320" y="76200"/>
                </a:cubicBezTo>
                <a:cubicBezTo>
                  <a:pt x="133320" y="107752"/>
                  <a:pt x="107722" y="133350"/>
                  <a:pt x="76170" y="133350"/>
                </a:cubicBezTo>
                <a:cubicBezTo>
                  <a:pt x="44619" y="133350"/>
                  <a:pt x="19050" y="107752"/>
                  <a:pt x="19050" y="76200"/>
                </a:cubicBezTo>
                <a:cubicBezTo>
                  <a:pt x="19050" y="56793"/>
                  <a:pt x="28724" y="39618"/>
                  <a:pt x="43547" y="2928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66800" y="1314450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Startup Flow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1752600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Driver enters → key press → cinematic startup sweep → Street mode fades in → Dashboard settles into clean premium resting state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5356" y="2609849"/>
            <a:ext cx="5639682" cy="2164645"/>
          </a:xfrm>
          <a:custGeom>
            <a:avLst/>
            <a:gdLst/>
            <a:ahLst/>
            <a:cxnLst/>
            <a:rect l="l" t="t" r="r" b="b"/>
            <a:pathLst>
              <a:path w="5619750" h="2000250">
                <a:moveTo>
                  <a:pt x="38100" y="0"/>
                </a:moveTo>
                <a:lnTo>
                  <a:pt x="5581650" y="0"/>
                </a:lnTo>
                <a:cubicBezTo>
                  <a:pt x="5602692" y="0"/>
                  <a:pt x="5619750" y="17058"/>
                  <a:pt x="5619750" y="38100"/>
                </a:cubicBezTo>
                <a:lnTo>
                  <a:pt x="5619750" y="1924040"/>
                </a:lnTo>
                <a:cubicBezTo>
                  <a:pt x="5619750" y="1966130"/>
                  <a:pt x="5585630" y="2000250"/>
                  <a:pt x="5543540" y="2000250"/>
                </a:cubicBezTo>
                <a:lnTo>
                  <a:pt x="76210" y="2000250"/>
                </a:lnTo>
                <a:cubicBezTo>
                  <a:pt x="34120" y="2000250"/>
                  <a:pt x="0" y="1966130"/>
                  <a:pt x="0" y="192404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81000" y="26098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1500" y="2819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5800" y="2933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66800" y="287655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 Switch Flow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" y="3314700"/>
            <a:ext cx="531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steering wheel button press → Smart Animate transition (300ms) 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5788" y="37338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0575" y="3657600"/>
            <a:ext cx="472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Sport:</a:t>
            </a: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RPM dominates, G-force meter appears, color accent intensifies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1500" y="40386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9172" y="3962400"/>
            <a:ext cx="5124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Normal:</a:t>
            </a: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balanced layout — Speed prominent, navigation and fuel accessible, refined ambient glow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05538" y="1047749"/>
            <a:ext cx="5605462" cy="3726745"/>
          </a:xfrm>
          <a:custGeom>
            <a:avLst/>
            <a:gdLst/>
            <a:ahLst/>
            <a:cxnLst/>
            <a:rect l="l" t="t" r="r" b="b"/>
            <a:pathLst>
              <a:path w="5619750" h="31813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105157"/>
                </a:lnTo>
                <a:cubicBezTo>
                  <a:pt x="5619750" y="3147237"/>
                  <a:pt x="5585637" y="3181350"/>
                  <a:pt x="5543557" y="3181350"/>
                </a:cubicBezTo>
                <a:lnTo>
                  <a:pt x="76193" y="3181350"/>
                </a:lnTo>
                <a:cubicBezTo>
                  <a:pt x="34113" y="3181350"/>
                  <a:pt x="0" y="3147237"/>
                  <a:pt x="0" y="31051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91250" y="10477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81750" y="1257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96050" y="1371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77050" y="1314450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Warning Alert Flow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0" y="1752600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38100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00800" y="17526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57963" y="1905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86575" y="186690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(brake failure, engine fire)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86575" y="209550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Full-screen red takeover + audible alarm — no dismiss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0" y="2552700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38100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00800" y="25527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557963" y="2705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86575" y="2667000"/>
            <a:ext cx="2828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Urgent (low oil, door ajar)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86575" y="2895600"/>
            <a:ext cx="2828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Persistent amber icon + text until resolved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0" y="3352800"/>
            <a:ext cx="5219700" cy="685800"/>
          </a:xfrm>
          <a:custGeom>
            <a:avLst/>
            <a:gdLst/>
            <a:ahLst/>
            <a:cxnLst/>
            <a:rect l="l" t="t" r="r" b="b"/>
            <a:pathLst>
              <a:path w="5219700" h="685800">
                <a:moveTo>
                  <a:pt x="38100" y="0"/>
                </a:moveTo>
                <a:lnTo>
                  <a:pt x="5143501" y="0"/>
                </a:lnTo>
                <a:cubicBezTo>
                  <a:pt x="5185584" y="0"/>
                  <a:pt x="5219700" y="34116"/>
                  <a:pt x="5219700" y="76199"/>
                </a:cubicBezTo>
                <a:lnTo>
                  <a:pt x="5219700" y="609601"/>
                </a:lnTo>
                <a:cubicBezTo>
                  <a:pt x="5219700" y="651684"/>
                  <a:pt x="5185584" y="685800"/>
                  <a:pt x="51435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>
              <a:alpha val="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00800" y="33528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557963" y="3505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86575" y="3467100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Advisory (service due)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86575" y="3695700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Shows once, collapses to small icon only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75356" y="5061655"/>
            <a:ext cx="11435644" cy="1298221"/>
          </a:xfrm>
          <a:custGeom>
            <a:avLst/>
            <a:gdLst/>
            <a:ahLst/>
            <a:cxnLst/>
            <a:rect l="l" t="t" r="r" b="b"/>
            <a:pathLst>
              <a:path w="5619750" h="1219200">
                <a:moveTo>
                  <a:pt x="76200" y="0"/>
                </a:moveTo>
                <a:lnTo>
                  <a:pt x="5543550" y="0"/>
                </a:lnTo>
                <a:cubicBezTo>
                  <a:pt x="5585606" y="0"/>
                  <a:pt x="5619750" y="34144"/>
                  <a:pt x="5619750" y="76200"/>
                </a:cubicBezTo>
                <a:lnTo>
                  <a:pt x="5619750" y="1143000"/>
                </a:lnTo>
                <a:cubicBezTo>
                  <a:pt x="5619750" y="1185056"/>
                  <a:pt x="5585606" y="1219200"/>
                  <a:pt x="554355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32F2F"/>
              </a:gs>
              <a:gs pos="100000">
                <a:srgbClr val="FF6B6B"/>
              </a:gs>
            </a:gsLst>
            <a:lin ang="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51581" y="530930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23056" y="5290255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Spatial Consistency Rule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3006" y="5633155"/>
            <a:ext cx="53149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Speed, RPM, and Gear never move across any mode, muscle memory that holds at 150 mph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 descr="A diagram of a warning system&#10;&#10;AI-generated content may be incorrect.">
            <a:extLst>
              <a:ext uri="{FF2B5EF4-FFF2-40B4-BE49-F238E27FC236}">
                <a16:creationId xmlns:a16="http://schemas.microsoft.com/office/drawing/2014/main" id="{D3EE7AC1-D46C-BB19-5389-9F549770D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68" y="171156"/>
            <a:ext cx="8867063" cy="651568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50" y="419100"/>
            <a:ext cx="4581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 Prototype / Visual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017412"/>
            <a:ext cx="5600700" cy="2552700"/>
          </a:xfrm>
          <a:custGeom>
            <a:avLst/>
            <a:gdLst/>
            <a:ahLst/>
            <a:cxnLst/>
            <a:rect l="l" t="t" r="r" b="b"/>
            <a:pathLst>
              <a:path w="5600700" h="2552700">
                <a:moveTo>
                  <a:pt x="38100" y="0"/>
                </a:moveTo>
                <a:lnTo>
                  <a:pt x="5524502" y="0"/>
                </a:lnTo>
                <a:cubicBezTo>
                  <a:pt x="5566585" y="0"/>
                  <a:pt x="5600700" y="34115"/>
                  <a:pt x="5600700" y="76198"/>
                </a:cubicBezTo>
                <a:lnTo>
                  <a:pt x="5600700" y="2476502"/>
                </a:lnTo>
                <a:cubicBezTo>
                  <a:pt x="5600700" y="2518585"/>
                  <a:pt x="5566585" y="2552700"/>
                  <a:pt x="5524502" y="2552700"/>
                </a:cubicBez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1028700"/>
            <a:ext cx="38100" cy="2552700"/>
          </a:xfrm>
          <a:custGeom>
            <a:avLst/>
            <a:gdLst/>
            <a:ahLst/>
            <a:cxnLst/>
            <a:rect l="l" t="t" r="r" b="b"/>
            <a:pathLst>
              <a:path w="38100" h="2552700">
                <a:moveTo>
                  <a:pt x="38100" y="0"/>
                </a:moveTo>
                <a:lnTo>
                  <a:pt x="38100" y="0"/>
                </a:lnTo>
                <a:lnTo>
                  <a:pt x="38100" y="2552700"/>
                </a:ln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600" y="1219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23900" y="1333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04900" y="1276350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Figma Prototype 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08500" y="1276350"/>
            <a:ext cx="904875" cy="266700"/>
          </a:xfrm>
          <a:custGeom>
            <a:avLst/>
            <a:gdLst/>
            <a:ahLst/>
            <a:cxnLst/>
            <a:rect l="l" t="t" r="r" b="b"/>
            <a:pathLst>
              <a:path w="904875" h="266700">
                <a:moveTo>
                  <a:pt x="133350" y="0"/>
                </a:moveTo>
                <a:lnTo>
                  <a:pt x="771525" y="0"/>
                </a:lnTo>
                <a:cubicBezTo>
                  <a:pt x="845123" y="0"/>
                  <a:pt x="904875" y="59752"/>
                  <a:pt x="904875" y="133350"/>
                </a:cubicBezTo>
                <a:lnTo>
                  <a:pt x="904875" y="133350"/>
                </a:lnTo>
                <a:cubicBezTo>
                  <a:pt x="904875" y="206948"/>
                  <a:pt x="845123" y="266700"/>
                  <a:pt x="7715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08500" y="1276350"/>
            <a:ext cx="9715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1714500"/>
            <a:ext cx="526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Feb 2–6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125" y="2057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0284" y="2019300"/>
            <a:ext cx="5048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Street mode: Speed center (large hybrid digital/analog), RPM arc left, Fuel/Temp/Nav flanking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8175" y="2590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6300" y="2552700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Dark background, white primary text, red accent for redline and warnings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8175" y="2895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76300" y="2857500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Typography: Bold and clearly distinct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8175" y="3200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76300" y="3162300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Cinematic startup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3733800"/>
            <a:ext cx="5600700" cy="2552700"/>
          </a:xfrm>
          <a:custGeom>
            <a:avLst/>
            <a:gdLst/>
            <a:ahLst/>
            <a:cxnLst/>
            <a:rect l="l" t="t" r="r" b="b"/>
            <a:pathLst>
              <a:path w="5600700" h="2552700">
                <a:moveTo>
                  <a:pt x="38100" y="0"/>
                </a:moveTo>
                <a:lnTo>
                  <a:pt x="5524502" y="0"/>
                </a:lnTo>
                <a:cubicBezTo>
                  <a:pt x="5566585" y="0"/>
                  <a:pt x="5600700" y="34115"/>
                  <a:pt x="5600700" y="76198"/>
                </a:cubicBezTo>
                <a:lnTo>
                  <a:pt x="5600700" y="2476502"/>
                </a:lnTo>
                <a:cubicBezTo>
                  <a:pt x="5600700" y="2518585"/>
                  <a:pt x="5566585" y="2552700"/>
                  <a:pt x="5524502" y="2552700"/>
                </a:cubicBez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00050" y="3733800"/>
            <a:ext cx="38100" cy="2552700"/>
          </a:xfrm>
          <a:custGeom>
            <a:avLst/>
            <a:gdLst/>
            <a:ahLst/>
            <a:cxnLst/>
            <a:rect l="l" t="t" r="r" b="b"/>
            <a:pathLst>
              <a:path w="38100" h="2552700">
                <a:moveTo>
                  <a:pt x="38100" y="0"/>
                </a:moveTo>
                <a:lnTo>
                  <a:pt x="38100" y="0"/>
                </a:lnTo>
                <a:lnTo>
                  <a:pt x="38100" y="2552700"/>
                </a:lnTo>
                <a:lnTo>
                  <a:pt x="38100" y="2552700"/>
                </a:lnTo>
                <a:cubicBezTo>
                  <a:pt x="17072" y="2552700"/>
                  <a:pt x="0" y="2535628"/>
                  <a:pt x="0" y="2514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9600" y="3924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23900" y="4038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1912" y="14288"/>
                </a:moveTo>
                <a:cubicBezTo>
                  <a:pt x="61912" y="6402"/>
                  <a:pt x="68315" y="0"/>
                  <a:pt x="76200" y="0"/>
                </a:cubicBezTo>
                <a:cubicBezTo>
                  <a:pt x="84085" y="0"/>
                  <a:pt x="90488" y="6402"/>
                  <a:pt x="90488" y="14287"/>
                </a:cubicBezTo>
                <a:cubicBezTo>
                  <a:pt x="90488" y="22173"/>
                  <a:pt x="84085" y="28575"/>
                  <a:pt x="76200" y="28575"/>
                </a:cubicBezTo>
                <a:cubicBezTo>
                  <a:pt x="68315" y="28575"/>
                  <a:pt x="61912" y="22173"/>
                  <a:pt x="61912" y="14288"/>
                </a:cubicBezTo>
                <a:close/>
                <a:moveTo>
                  <a:pt x="61912" y="138113"/>
                </a:moveTo>
                <a:cubicBezTo>
                  <a:pt x="61912" y="130227"/>
                  <a:pt x="68315" y="123825"/>
                  <a:pt x="76200" y="123825"/>
                </a:cubicBezTo>
                <a:cubicBezTo>
                  <a:pt x="84085" y="123825"/>
                  <a:pt x="90488" y="130227"/>
                  <a:pt x="90488" y="138113"/>
                </a:cubicBezTo>
                <a:cubicBezTo>
                  <a:pt x="90488" y="145998"/>
                  <a:pt x="84085" y="152400"/>
                  <a:pt x="76200" y="152400"/>
                </a:cubicBezTo>
                <a:cubicBezTo>
                  <a:pt x="68315" y="152400"/>
                  <a:pt x="61912" y="145998"/>
                  <a:pt x="61912" y="138113"/>
                </a:cubicBezTo>
                <a:close/>
                <a:moveTo>
                  <a:pt x="14288" y="61912"/>
                </a:moveTo>
                <a:cubicBezTo>
                  <a:pt x="22173" y="61912"/>
                  <a:pt x="28575" y="68315"/>
                  <a:pt x="28575" y="76200"/>
                </a:cubicBezTo>
                <a:cubicBezTo>
                  <a:pt x="28575" y="84085"/>
                  <a:pt x="22173" y="90488"/>
                  <a:pt x="14288" y="90488"/>
                </a:cubicBezTo>
                <a:cubicBezTo>
                  <a:pt x="6402" y="90488"/>
                  <a:pt x="0" y="84085"/>
                  <a:pt x="0" y="76200"/>
                </a:cubicBezTo>
                <a:cubicBezTo>
                  <a:pt x="0" y="68315"/>
                  <a:pt x="6402" y="61912"/>
                  <a:pt x="14287" y="61912"/>
                </a:cubicBezTo>
                <a:close/>
                <a:moveTo>
                  <a:pt x="123825" y="76200"/>
                </a:moveTo>
                <a:cubicBezTo>
                  <a:pt x="123825" y="68315"/>
                  <a:pt x="130227" y="61912"/>
                  <a:pt x="138113" y="61912"/>
                </a:cubicBezTo>
                <a:cubicBezTo>
                  <a:pt x="145998" y="61912"/>
                  <a:pt x="152400" y="68315"/>
                  <a:pt x="152400" y="76200"/>
                </a:cubicBezTo>
                <a:cubicBezTo>
                  <a:pt x="152400" y="84085"/>
                  <a:pt x="145998" y="90488"/>
                  <a:pt x="138113" y="90488"/>
                </a:cubicBezTo>
                <a:cubicBezTo>
                  <a:pt x="130227" y="90488"/>
                  <a:pt x="123825" y="84085"/>
                  <a:pt x="123825" y="76200"/>
                </a:cubicBezTo>
                <a:close/>
                <a:moveTo>
                  <a:pt x="22324" y="109865"/>
                </a:moveTo>
                <a:cubicBezTo>
                  <a:pt x="27902" y="104288"/>
                  <a:pt x="36958" y="104288"/>
                  <a:pt x="42535" y="109865"/>
                </a:cubicBezTo>
                <a:cubicBezTo>
                  <a:pt x="48112" y="115442"/>
                  <a:pt x="48112" y="124498"/>
                  <a:pt x="42535" y="130076"/>
                </a:cubicBezTo>
                <a:cubicBezTo>
                  <a:pt x="36958" y="135653"/>
                  <a:pt x="27902" y="135653"/>
                  <a:pt x="22324" y="130076"/>
                </a:cubicBezTo>
                <a:cubicBezTo>
                  <a:pt x="16747" y="124498"/>
                  <a:pt x="16747" y="115442"/>
                  <a:pt x="22324" y="109865"/>
                </a:cubicBezTo>
                <a:close/>
                <a:moveTo>
                  <a:pt x="22324" y="22324"/>
                </a:moveTo>
                <a:cubicBezTo>
                  <a:pt x="27902" y="16747"/>
                  <a:pt x="36958" y="16747"/>
                  <a:pt x="42535" y="22324"/>
                </a:cubicBezTo>
                <a:cubicBezTo>
                  <a:pt x="48112" y="27902"/>
                  <a:pt x="48112" y="36958"/>
                  <a:pt x="42535" y="42535"/>
                </a:cubicBezTo>
                <a:cubicBezTo>
                  <a:pt x="36958" y="48112"/>
                  <a:pt x="27902" y="48112"/>
                  <a:pt x="22324" y="42535"/>
                </a:cubicBezTo>
                <a:cubicBezTo>
                  <a:pt x="16747" y="36958"/>
                  <a:pt x="16747" y="27902"/>
                  <a:pt x="22324" y="22324"/>
                </a:cubicBezTo>
                <a:close/>
                <a:moveTo>
                  <a:pt x="130076" y="109865"/>
                </a:moveTo>
                <a:cubicBezTo>
                  <a:pt x="135657" y="115446"/>
                  <a:pt x="135657" y="124495"/>
                  <a:pt x="130076" y="130076"/>
                </a:cubicBezTo>
                <a:cubicBezTo>
                  <a:pt x="124495" y="135657"/>
                  <a:pt x="115446" y="135657"/>
                  <a:pt x="109865" y="130076"/>
                </a:cubicBezTo>
                <a:cubicBezTo>
                  <a:pt x="104284" y="124495"/>
                  <a:pt x="104284" y="115446"/>
                  <a:pt x="109865" y="109865"/>
                </a:cubicBezTo>
                <a:cubicBezTo>
                  <a:pt x="115446" y="104284"/>
                  <a:pt x="124495" y="104284"/>
                  <a:pt x="130076" y="10986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04900" y="398145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Figma Prototype 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04184" y="3981450"/>
            <a:ext cx="904875" cy="266700"/>
          </a:xfrm>
          <a:custGeom>
            <a:avLst/>
            <a:gdLst/>
            <a:ahLst/>
            <a:cxnLst/>
            <a:rect l="l" t="t" r="r" b="b"/>
            <a:pathLst>
              <a:path w="904875" h="266700">
                <a:moveTo>
                  <a:pt x="133350" y="0"/>
                </a:moveTo>
                <a:lnTo>
                  <a:pt x="771525" y="0"/>
                </a:lnTo>
                <a:cubicBezTo>
                  <a:pt x="845123" y="0"/>
                  <a:pt x="904875" y="59752"/>
                  <a:pt x="904875" y="133350"/>
                </a:cubicBezTo>
                <a:lnTo>
                  <a:pt x="904875" y="133350"/>
                </a:lnTo>
                <a:cubicBezTo>
                  <a:pt x="904875" y="206948"/>
                  <a:pt x="845123" y="266700"/>
                  <a:pt x="7715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04184" y="3981450"/>
            <a:ext cx="9715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9600" y="4419600"/>
            <a:ext cx="526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Feb 9–20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0075" y="4762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4416" y="4724400"/>
            <a:ext cx="5086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component library: Warning (Inactive/Active/Critical), Gear (P/R/N/D/1–7), Mode Badge (Street/Sport), Fuel (Full/Half/Low/Critical)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8175" y="5295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76300" y="5257800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Animate transitions across all three modes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8175" y="5600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76300" y="5562600"/>
            <a:ext cx="459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 Layout status bar — warning icons reflow as alerts appear/clear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8175" y="5905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76300" y="5867400"/>
            <a:ext cx="482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Ambient glow animations designed for passenger-facing first impression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43625" y="1028700"/>
            <a:ext cx="5667375" cy="5257800"/>
          </a:xfrm>
          <a:custGeom>
            <a:avLst/>
            <a:gdLst/>
            <a:ahLst/>
            <a:cxnLst/>
            <a:rect l="l" t="t" r="r" b="b"/>
            <a:pathLst>
              <a:path w="5619750" h="5448300">
                <a:moveTo>
                  <a:pt x="76222" y="0"/>
                </a:moveTo>
                <a:lnTo>
                  <a:pt x="5543528" y="0"/>
                </a:lnTo>
                <a:cubicBezTo>
                  <a:pt x="5585624" y="0"/>
                  <a:pt x="5619750" y="34126"/>
                  <a:pt x="5619750" y="76222"/>
                </a:cubicBezTo>
                <a:lnTo>
                  <a:pt x="5619750" y="5372078"/>
                </a:lnTo>
                <a:cubicBezTo>
                  <a:pt x="5619750" y="5414174"/>
                  <a:pt x="5585624" y="5448300"/>
                  <a:pt x="5543528" y="5448300"/>
                </a:cubicBezTo>
                <a:lnTo>
                  <a:pt x="76222" y="5448300"/>
                </a:lnTo>
                <a:cubicBezTo>
                  <a:pt x="34126" y="5448300"/>
                  <a:pt x="0" y="5414174"/>
                  <a:pt x="0" y="5372078"/>
                </a:cubicBezTo>
                <a:lnTo>
                  <a:pt x="0" y="76222"/>
                </a:lnTo>
                <a:cubicBezTo>
                  <a:pt x="0" y="34154"/>
                  <a:pt x="34154" y="0"/>
                  <a:pt x="7622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381750" y="1219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496050" y="1333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77050" y="1276350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Three-Tier Visual Hierarchy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81750" y="1752600"/>
            <a:ext cx="5238750" cy="914400"/>
          </a:xfrm>
          <a:custGeom>
            <a:avLst/>
            <a:gdLst/>
            <a:ahLst/>
            <a:cxnLst/>
            <a:rect l="l" t="t" r="r" b="b"/>
            <a:pathLst>
              <a:path w="5238750" h="914400">
                <a:moveTo>
                  <a:pt x="76197" y="0"/>
                </a:moveTo>
                <a:lnTo>
                  <a:pt x="5162553" y="0"/>
                </a:lnTo>
                <a:cubicBezTo>
                  <a:pt x="5204635" y="0"/>
                  <a:pt x="5238750" y="34115"/>
                  <a:pt x="5238750" y="76197"/>
                </a:cubicBezTo>
                <a:lnTo>
                  <a:pt x="5238750" y="838203"/>
                </a:lnTo>
                <a:cubicBezTo>
                  <a:pt x="5238750" y="880285"/>
                  <a:pt x="5204635" y="914400"/>
                  <a:pt x="51625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534150" y="190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60207" y="1943100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53250" y="1924050"/>
            <a:ext cx="228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Tier 1 — Critical Driving Info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34150" y="2286000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Speed, RPM, Gear — Always visible, never moves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81750" y="2781300"/>
            <a:ext cx="5238750" cy="914400"/>
          </a:xfrm>
          <a:custGeom>
            <a:avLst/>
            <a:gdLst/>
            <a:ahLst/>
            <a:cxnLst/>
            <a:rect l="l" t="t" r="r" b="b"/>
            <a:pathLst>
              <a:path w="5238750" h="914400">
                <a:moveTo>
                  <a:pt x="76197" y="0"/>
                </a:moveTo>
                <a:lnTo>
                  <a:pt x="5162553" y="0"/>
                </a:lnTo>
                <a:cubicBezTo>
                  <a:pt x="5204635" y="0"/>
                  <a:pt x="5238750" y="34115"/>
                  <a:pt x="5238750" y="76197"/>
                </a:cubicBezTo>
                <a:lnTo>
                  <a:pt x="5238750" y="838203"/>
                </a:lnTo>
                <a:cubicBezTo>
                  <a:pt x="5238750" y="880285"/>
                  <a:pt x="5204635" y="914400"/>
                  <a:pt x="51625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534150" y="2933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645622" y="29718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53250" y="2952750"/>
            <a:ext cx="203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Tier 2 — Secondary Data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34150" y="3314700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Fuel, Temp, Navigation — Contextually relevant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81750" y="3810000"/>
            <a:ext cx="5238750" cy="914400"/>
          </a:xfrm>
          <a:custGeom>
            <a:avLst/>
            <a:gdLst/>
            <a:ahLst/>
            <a:cxnLst/>
            <a:rect l="l" t="t" r="r" b="b"/>
            <a:pathLst>
              <a:path w="5238750" h="914400">
                <a:moveTo>
                  <a:pt x="76197" y="0"/>
                </a:moveTo>
                <a:lnTo>
                  <a:pt x="5162553" y="0"/>
                </a:lnTo>
                <a:cubicBezTo>
                  <a:pt x="5204635" y="0"/>
                  <a:pt x="5238750" y="34115"/>
                  <a:pt x="5238750" y="76197"/>
                </a:cubicBezTo>
                <a:lnTo>
                  <a:pt x="5238750" y="838203"/>
                </a:lnTo>
                <a:cubicBezTo>
                  <a:pt x="5238750" y="880285"/>
                  <a:pt x="5204635" y="914400"/>
                  <a:pt x="51625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534150" y="3962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643539" y="400050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53250" y="3981450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Tier 3 — Ambient &amp; Aesthetic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534150" y="4343400"/>
            <a:ext cx="501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Animations, glow effects, brand moments — Passenger-facing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screenshot of a car dashboard&#10;&#10;AI-generated content may be incorrect.">
            <a:extLst>
              <a:ext uri="{FF2B5EF4-FFF2-40B4-BE49-F238E27FC236}">
                <a16:creationId xmlns:a16="http://schemas.microsoft.com/office/drawing/2014/main" id="{2FA35B00-8ACE-9E2E-CCF7-5EC3EBBFD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23" y="192351"/>
            <a:ext cx="8328376" cy="3133516"/>
          </a:xfrm>
          <a:prstGeom prst="rect">
            <a:avLst/>
          </a:prstGeom>
        </p:spPr>
      </p:pic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CE2C5397-9022-6F1F-CDB3-4216A680F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22" y="3552364"/>
            <a:ext cx="8328377" cy="315945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50" y="41910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 Technology &amp; Implementation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066800"/>
            <a:ext cx="5581650" cy="1638300"/>
          </a:xfrm>
          <a:custGeom>
            <a:avLst/>
            <a:gdLst/>
            <a:ahLst/>
            <a:cxnLst/>
            <a:rect l="l" t="t" r="r" b="b"/>
            <a:pathLst>
              <a:path w="5581650" h="16383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1562103"/>
                </a:lnTo>
                <a:cubicBezTo>
                  <a:pt x="5581650" y="1604185"/>
                  <a:pt x="5547535" y="1638300"/>
                  <a:pt x="5505453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1066800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600" y="1257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23900" y="1371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0253" y="0"/>
                </a:moveTo>
                <a:cubicBezTo>
                  <a:pt x="125968" y="0"/>
                  <a:pt x="131445" y="2262"/>
                  <a:pt x="135463" y="6310"/>
                </a:cubicBezTo>
                <a:lnTo>
                  <a:pt x="146090" y="16937"/>
                </a:lnTo>
                <a:cubicBezTo>
                  <a:pt x="150138" y="20955"/>
                  <a:pt x="152400" y="26432"/>
                  <a:pt x="152400" y="32147"/>
                </a:cubicBezTo>
                <a:cubicBezTo>
                  <a:pt x="152400" y="37862"/>
                  <a:pt x="150138" y="43339"/>
                  <a:pt x="146090" y="47357"/>
                </a:cubicBezTo>
                <a:lnTo>
                  <a:pt x="132725" y="60722"/>
                </a:lnTo>
                <a:lnTo>
                  <a:pt x="91678" y="19675"/>
                </a:lnTo>
                <a:lnTo>
                  <a:pt x="105043" y="6310"/>
                </a:lnTo>
                <a:cubicBezTo>
                  <a:pt x="109061" y="2262"/>
                  <a:pt x="114538" y="0"/>
                  <a:pt x="120253" y="0"/>
                </a:cubicBezTo>
                <a:close/>
                <a:moveTo>
                  <a:pt x="17532" y="93791"/>
                </a:moveTo>
                <a:lnTo>
                  <a:pt x="81588" y="29766"/>
                </a:lnTo>
                <a:lnTo>
                  <a:pt x="122634" y="70812"/>
                </a:lnTo>
                <a:lnTo>
                  <a:pt x="58609" y="134868"/>
                </a:lnTo>
                <a:cubicBezTo>
                  <a:pt x="55424" y="138053"/>
                  <a:pt x="51435" y="140375"/>
                  <a:pt x="47089" y="141595"/>
                </a:cubicBezTo>
                <a:lnTo>
                  <a:pt x="9049" y="152132"/>
                </a:lnTo>
                <a:cubicBezTo>
                  <a:pt x="6578" y="152817"/>
                  <a:pt x="3899" y="152132"/>
                  <a:pt x="2084" y="150287"/>
                </a:cubicBezTo>
                <a:cubicBezTo>
                  <a:pt x="268" y="148441"/>
                  <a:pt x="-446" y="145792"/>
                  <a:pt x="238" y="143321"/>
                </a:cubicBezTo>
                <a:lnTo>
                  <a:pt x="10835" y="105311"/>
                </a:lnTo>
                <a:cubicBezTo>
                  <a:pt x="12055" y="100965"/>
                  <a:pt x="14347" y="97006"/>
                  <a:pt x="17562" y="93791"/>
                </a:cubicBezTo>
                <a:close/>
                <a:moveTo>
                  <a:pt x="67092" y="24051"/>
                </a:moveTo>
                <a:lnTo>
                  <a:pt x="24051" y="67092"/>
                </a:lnTo>
                <a:lnTo>
                  <a:pt x="3483" y="46524"/>
                </a:lnTo>
                <a:cubicBezTo>
                  <a:pt x="-1161" y="41880"/>
                  <a:pt x="-1161" y="34350"/>
                  <a:pt x="3483" y="29676"/>
                </a:cubicBezTo>
                <a:lnTo>
                  <a:pt x="29676" y="3483"/>
                </a:lnTo>
                <a:cubicBezTo>
                  <a:pt x="34320" y="-1161"/>
                  <a:pt x="41850" y="-1161"/>
                  <a:pt x="46524" y="3483"/>
                </a:cubicBezTo>
                <a:lnTo>
                  <a:pt x="48280" y="5239"/>
                </a:lnTo>
                <a:lnTo>
                  <a:pt x="31522" y="21997"/>
                </a:lnTo>
                <a:cubicBezTo>
                  <a:pt x="29200" y="24319"/>
                  <a:pt x="29200" y="28099"/>
                  <a:pt x="31522" y="30420"/>
                </a:cubicBezTo>
                <a:cubicBezTo>
                  <a:pt x="33844" y="32742"/>
                  <a:pt x="37624" y="32742"/>
                  <a:pt x="39945" y="30420"/>
                </a:cubicBezTo>
                <a:lnTo>
                  <a:pt x="56704" y="13662"/>
                </a:lnTo>
                <a:lnTo>
                  <a:pt x="67092" y="24051"/>
                </a:lnTo>
                <a:close/>
                <a:moveTo>
                  <a:pt x="128349" y="85308"/>
                </a:moveTo>
                <a:lnTo>
                  <a:pt x="138738" y="95696"/>
                </a:lnTo>
                <a:lnTo>
                  <a:pt x="121980" y="112455"/>
                </a:lnTo>
                <a:cubicBezTo>
                  <a:pt x="119658" y="114776"/>
                  <a:pt x="119658" y="118556"/>
                  <a:pt x="121980" y="120878"/>
                </a:cubicBezTo>
                <a:cubicBezTo>
                  <a:pt x="124301" y="123200"/>
                  <a:pt x="128081" y="123200"/>
                  <a:pt x="130403" y="120878"/>
                </a:cubicBezTo>
                <a:lnTo>
                  <a:pt x="147161" y="104120"/>
                </a:lnTo>
                <a:lnTo>
                  <a:pt x="148917" y="105876"/>
                </a:lnTo>
                <a:cubicBezTo>
                  <a:pt x="153561" y="110520"/>
                  <a:pt x="153561" y="118050"/>
                  <a:pt x="148917" y="122724"/>
                </a:cubicBezTo>
                <a:lnTo>
                  <a:pt x="122724" y="148917"/>
                </a:lnTo>
                <a:cubicBezTo>
                  <a:pt x="118080" y="153561"/>
                  <a:pt x="110550" y="153561"/>
                  <a:pt x="105876" y="148917"/>
                </a:cubicBezTo>
                <a:lnTo>
                  <a:pt x="85308" y="128349"/>
                </a:lnTo>
                <a:lnTo>
                  <a:pt x="128349" y="8530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04900" y="1314450"/>
            <a:ext cx="2543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&amp; Prototyping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1790700"/>
            <a:ext cx="5181600" cy="723900"/>
          </a:xfrm>
          <a:custGeom>
            <a:avLst/>
            <a:gdLst/>
            <a:ahLst/>
            <a:cxnLst/>
            <a:rect l="l" t="t" r="r" b="b"/>
            <a:pathLst>
              <a:path w="5181600" h="723900">
                <a:moveTo>
                  <a:pt x="76198" y="0"/>
                </a:moveTo>
                <a:lnTo>
                  <a:pt x="5105402" y="0"/>
                </a:lnTo>
                <a:cubicBezTo>
                  <a:pt x="5147457" y="0"/>
                  <a:pt x="5181600" y="34143"/>
                  <a:pt x="5181600" y="76198"/>
                </a:cubicBezTo>
                <a:lnTo>
                  <a:pt x="5181600" y="647702"/>
                </a:lnTo>
                <a:cubicBezTo>
                  <a:pt x="5181600" y="689757"/>
                  <a:pt x="5147457" y="723900"/>
                  <a:pt x="51054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81050" y="19431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6251" y="42773"/>
                </a:moveTo>
                <a:cubicBezTo>
                  <a:pt x="6251" y="19154"/>
                  <a:pt x="25405" y="0"/>
                  <a:pt x="49024" y="0"/>
                </a:cubicBezTo>
                <a:lnTo>
                  <a:pt x="122426" y="0"/>
                </a:lnTo>
                <a:cubicBezTo>
                  <a:pt x="146045" y="0"/>
                  <a:pt x="165199" y="19154"/>
                  <a:pt x="165199" y="42773"/>
                </a:cubicBezTo>
                <a:cubicBezTo>
                  <a:pt x="165199" y="57730"/>
                  <a:pt x="157520" y="70902"/>
                  <a:pt x="145911" y="78537"/>
                </a:cubicBezTo>
                <a:cubicBezTo>
                  <a:pt x="157520" y="86171"/>
                  <a:pt x="165199" y="99343"/>
                  <a:pt x="165199" y="114300"/>
                </a:cubicBezTo>
                <a:cubicBezTo>
                  <a:pt x="165199" y="137919"/>
                  <a:pt x="146045" y="157073"/>
                  <a:pt x="122426" y="157073"/>
                </a:cubicBezTo>
                <a:lnTo>
                  <a:pt x="121488" y="157073"/>
                </a:lnTo>
                <a:cubicBezTo>
                  <a:pt x="110416" y="157073"/>
                  <a:pt x="100325" y="152876"/>
                  <a:pt x="92735" y="145956"/>
                </a:cubicBezTo>
                <a:lnTo>
                  <a:pt x="92735" y="185380"/>
                </a:lnTo>
                <a:cubicBezTo>
                  <a:pt x="92735" y="209312"/>
                  <a:pt x="73089" y="228600"/>
                  <a:pt x="49247" y="228600"/>
                </a:cubicBezTo>
                <a:cubicBezTo>
                  <a:pt x="25673" y="228600"/>
                  <a:pt x="6251" y="209490"/>
                  <a:pt x="6251" y="185827"/>
                </a:cubicBezTo>
                <a:cubicBezTo>
                  <a:pt x="6251" y="170870"/>
                  <a:pt x="13930" y="157698"/>
                  <a:pt x="25539" y="150063"/>
                </a:cubicBezTo>
                <a:cubicBezTo>
                  <a:pt x="13930" y="142429"/>
                  <a:pt x="6251" y="129257"/>
                  <a:pt x="6251" y="114300"/>
                </a:cubicBezTo>
                <a:cubicBezTo>
                  <a:pt x="6251" y="99343"/>
                  <a:pt x="13930" y="86171"/>
                  <a:pt x="25539" y="78537"/>
                </a:cubicBezTo>
                <a:cubicBezTo>
                  <a:pt x="13930" y="70902"/>
                  <a:pt x="6251" y="57730"/>
                  <a:pt x="6251" y="42773"/>
                </a:cubicBezTo>
                <a:close/>
                <a:moveTo>
                  <a:pt x="78715" y="85546"/>
                </a:moveTo>
                <a:lnTo>
                  <a:pt x="49024" y="85546"/>
                </a:lnTo>
                <a:cubicBezTo>
                  <a:pt x="33129" y="85546"/>
                  <a:pt x="20270" y="98405"/>
                  <a:pt x="20270" y="114300"/>
                </a:cubicBezTo>
                <a:cubicBezTo>
                  <a:pt x="20270" y="130106"/>
                  <a:pt x="33040" y="142964"/>
                  <a:pt x="48845" y="143054"/>
                </a:cubicBezTo>
                <a:lnTo>
                  <a:pt x="78715" y="143054"/>
                </a:lnTo>
                <a:lnTo>
                  <a:pt x="78715" y="85546"/>
                </a:lnTo>
                <a:close/>
                <a:moveTo>
                  <a:pt x="92735" y="114300"/>
                </a:moveTo>
                <a:cubicBezTo>
                  <a:pt x="92735" y="130195"/>
                  <a:pt x="105594" y="143054"/>
                  <a:pt x="121488" y="143054"/>
                </a:cubicBezTo>
                <a:lnTo>
                  <a:pt x="122426" y="143054"/>
                </a:lnTo>
                <a:cubicBezTo>
                  <a:pt x="138321" y="143054"/>
                  <a:pt x="151180" y="130195"/>
                  <a:pt x="151180" y="114300"/>
                </a:cubicBezTo>
                <a:cubicBezTo>
                  <a:pt x="151180" y="98405"/>
                  <a:pt x="138321" y="85546"/>
                  <a:pt x="122426" y="85546"/>
                </a:cubicBezTo>
                <a:lnTo>
                  <a:pt x="121488" y="85546"/>
                </a:lnTo>
                <a:cubicBezTo>
                  <a:pt x="105594" y="85546"/>
                  <a:pt x="92735" y="98405"/>
                  <a:pt x="92735" y="114300"/>
                </a:cubicBezTo>
                <a:close/>
                <a:moveTo>
                  <a:pt x="49024" y="157073"/>
                </a:moveTo>
                <a:lnTo>
                  <a:pt x="48845" y="157073"/>
                </a:lnTo>
                <a:cubicBezTo>
                  <a:pt x="33040" y="157163"/>
                  <a:pt x="20270" y="170021"/>
                  <a:pt x="20270" y="185827"/>
                </a:cubicBezTo>
                <a:cubicBezTo>
                  <a:pt x="20270" y="201632"/>
                  <a:pt x="33308" y="214580"/>
                  <a:pt x="49247" y="214580"/>
                </a:cubicBezTo>
                <a:cubicBezTo>
                  <a:pt x="65455" y="214580"/>
                  <a:pt x="78715" y="201454"/>
                  <a:pt x="78715" y="185336"/>
                </a:cubicBezTo>
                <a:lnTo>
                  <a:pt x="78715" y="157029"/>
                </a:lnTo>
                <a:lnTo>
                  <a:pt x="49024" y="157029"/>
                </a:lnTo>
                <a:close/>
                <a:moveTo>
                  <a:pt x="49024" y="14020"/>
                </a:moveTo>
                <a:cubicBezTo>
                  <a:pt x="33129" y="14020"/>
                  <a:pt x="20270" y="26878"/>
                  <a:pt x="20270" y="42773"/>
                </a:cubicBezTo>
                <a:cubicBezTo>
                  <a:pt x="20270" y="58668"/>
                  <a:pt x="33129" y="71527"/>
                  <a:pt x="49024" y="71527"/>
                </a:cubicBezTo>
                <a:lnTo>
                  <a:pt x="78715" y="71527"/>
                </a:lnTo>
                <a:lnTo>
                  <a:pt x="78715" y="14020"/>
                </a:lnTo>
                <a:lnTo>
                  <a:pt x="49024" y="14020"/>
                </a:lnTo>
                <a:close/>
                <a:moveTo>
                  <a:pt x="92735" y="71527"/>
                </a:moveTo>
                <a:lnTo>
                  <a:pt x="122426" y="71527"/>
                </a:lnTo>
                <a:cubicBezTo>
                  <a:pt x="138321" y="71527"/>
                  <a:pt x="151180" y="58668"/>
                  <a:pt x="151180" y="42773"/>
                </a:cubicBezTo>
                <a:cubicBezTo>
                  <a:pt x="151180" y="26878"/>
                  <a:pt x="138321" y="14020"/>
                  <a:pt x="122426" y="14020"/>
                </a:cubicBezTo>
                <a:lnTo>
                  <a:pt x="92735" y="14020"/>
                </a:lnTo>
                <a:lnTo>
                  <a:pt x="92735" y="71527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23950" y="1905000"/>
            <a:ext cx="452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Figma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23950" y="2171700"/>
            <a:ext cx="451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 library, Smart Animate, Auto Layout, full variant system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3318928"/>
            <a:ext cx="5581650" cy="1638300"/>
          </a:xfrm>
          <a:custGeom>
            <a:avLst/>
            <a:gdLst/>
            <a:ahLst/>
            <a:cxnLst/>
            <a:rect l="l" t="t" r="r" b="b"/>
            <a:pathLst>
              <a:path w="5581650" h="16383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1562103"/>
                </a:lnTo>
                <a:cubicBezTo>
                  <a:pt x="5581650" y="1604185"/>
                  <a:pt x="5547535" y="1638300"/>
                  <a:pt x="5505453" y="1638300"/>
                </a:cubicBez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3318928"/>
            <a:ext cx="38100" cy="1638300"/>
          </a:xfrm>
          <a:custGeom>
            <a:avLst/>
            <a:gdLst/>
            <a:ahLst/>
            <a:cxnLst/>
            <a:rect l="l" t="t" r="r" b="b"/>
            <a:pathLst>
              <a:path w="38100" h="1638300">
                <a:moveTo>
                  <a:pt x="38100" y="0"/>
                </a:moveTo>
                <a:lnTo>
                  <a:pt x="38100" y="0"/>
                </a:lnTo>
                <a:lnTo>
                  <a:pt x="38100" y="1638300"/>
                </a:lnTo>
                <a:lnTo>
                  <a:pt x="38100" y="1638300"/>
                </a:lnTo>
                <a:cubicBezTo>
                  <a:pt x="17072" y="1638300"/>
                  <a:pt x="0" y="1621228"/>
                  <a:pt x="0" y="160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3355" y="35150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28130" y="3625147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04900" y="3566578"/>
            <a:ext cx="202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Stack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" y="4042828"/>
            <a:ext cx="5181600" cy="723900"/>
          </a:xfrm>
          <a:custGeom>
            <a:avLst/>
            <a:gdLst/>
            <a:ahLst/>
            <a:cxnLst/>
            <a:rect l="l" t="t" r="r" b="b"/>
            <a:pathLst>
              <a:path w="5181600" h="723900">
                <a:moveTo>
                  <a:pt x="76198" y="0"/>
                </a:moveTo>
                <a:lnTo>
                  <a:pt x="5105402" y="0"/>
                </a:lnTo>
                <a:cubicBezTo>
                  <a:pt x="5147457" y="0"/>
                  <a:pt x="5181600" y="34143"/>
                  <a:pt x="5181600" y="76198"/>
                </a:cubicBezTo>
                <a:lnTo>
                  <a:pt x="5181600" y="647702"/>
                </a:lnTo>
                <a:cubicBezTo>
                  <a:pt x="5181600" y="689757"/>
                  <a:pt x="5147457" y="723900"/>
                  <a:pt x="51054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2475" y="419522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23950" y="4157128"/>
            <a:ext cx="2819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 Studio 7.x+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3950" y="4423828"/>
            <a:ext cx="2809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automotive HMI implementation platform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7450" y="1066800"/>
            <a:ext cx="5543550" cy="4272844"/>
          </a:xfrm>
          <a:custGeom>
            <a:avLst/>
            <a:gdLst/>
            <a:ahLst/>
            <a:cxnLst/>
            <a:rect l="l" t="t" r="r" b="b"/>
            <a:pathLst>
              <a:path w="5581650" h="5410200">
                <a:moveTo>
                  <a:pt x="38100" y="0"/>
                </a:moveTo>
                <a:lnTo>
                  <a:pt x="5505474" y="0"/>
                </a:lnTo>
                <a:cubicBezTo>
                  <a:pt x="5547545" y="0"/>
                  <a:pt x="5581650" y="34105"/>
                  <a:pt x="5581650" y="76176"/>
                </a:cubicBezTo>
                <a:lnTo>
                  <a:pt x="5581650" y="5334024"/>
                </a:lnTo>
                <a:cubicBezTo>
                  <a:pt x="5581650" y="5376095"/>
                  <a:pt x="5547545" y="5410200"/>
                  <a:pt x="5505474" y="5410200"/>
                </a:cubicBezTo>
                <a:lnTo>
                  <a:pt x="38100" y="5410200"/>
                </a:lnTo>
                <a:cubicBezTo>
                  <a:pt x="17072" y="5410200"/>
                  <a:pt x="0" y="5393128"/>
                  <a:pt x="0" y="537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29349" y="1066800"/>
            <a:ext cx="45719" cy="4272844"/>
          </a:xfrm>
          <a:custGeom>
            <a:avLst/>
            <a:gdLst/>
            <a:ahLst/>
            <a:cxnLst/>
            <a:rect l="l" t="t" r="r" b="b"/>
            <a:pathLst>
              <a:path w="38100" h="5410200">
                <a:moveTo>
                  <a:pt x="38100" y="0"/>
                </a:moveTo>
                <a:lnTo>
                  <a:pt x="38100" y="0"/>
                </a:lnTo>
                <a:lnTo>
                  <a:pt x="38100" y="5410200"/>
                </a:lnTo>
                <a:lnTo>
                  <a:pt x="38100" y="5410200"/>
                </a:lnTo>
                <a:cubicBezTo>
                  <a:pt x="17072" y="5410200"/>
                  <a:pt x="0" y="5393128"/>
                  <a:pt x="0" y="537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38900" y="1257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53200" y="1371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34200" y="1314450"/>
            <a:ext cx="2524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Machine Architecture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57950" y="1790700"/>
            <a:ext cx="5162550" cy="876300"/>
          </a:xfrm>
          <a:custGeom>
            <a:avLst/>
            <a:gdLst/>
            <a:ahLst/>
            <a:cxnLst/>
            <a:rect l="l" t="t" r="r" b="b"/>
            <a:pathLst>
              <a:path w="5162550" h="876300">
                <a:moveTo>
                  <a:pt x="38100" y="0"/>
                </a:moveTo>
                <a:lnTo>
                  <a:pt x="5086347" y="0"/>
                </a:lnTo>
                <a:cubicBezTo>
                  <a:pt x="5128433" y="0"/>
                  <a:pt x="5162550" y="34117"/>
                  <a:pt x="5162550" y="76203"/>
                </a:cubicBezTo>
                <a:lnTo>
                  <a:pt x="5162550" y="800097"/>
                </a:lnTo>
                <a:cubicBezTo>
                  <a:pt x="5162550" y="842183"/>
                  <a:pt x="5128433" y="876300"/>
                  <a:pt x="50863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57950" y="17907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41306" y="19812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71438" y="23812"/>
                </a:moveTo>
                <a:cubicBezTo>
                  <a:pt x="31998" y="23812"/>
                  <a:pt x="0" y="55811"/>
                  <a:pt x="0" y="95250"/>
                </a:cubicBezTo>
                <a:cubicBezTo>
                  <a:pt x="0" y="134689"/>
                  <a:pt x="31998" y="166688"/>
                  <a:pt x="71438" y="166688"/>
                </a:cubicBezTo>
                <a:lnTo>
                  <a:pt x="142875" y="166688"/>
                </a:lnTo>
                <a:cubicBezTo>
                  <a:pt x="182314" y="166688"/>
                  <a:pt x="214313" y="134689"/>
                  <a:pt x="214313" y="95250"/>
                </a:cubicBezTo>
                <a:cubicBezTo>
                  <a:pt x="214313" y="55811"/>
                  <a:pt x="182314" y="23812"/>
                  <a:pt x="142875" y="23812"/>
                </a:cubicBezTo>
                <a:lnTo>
                  <a:pt x="71438" y="23812"/>
                </a:lnTo>
                <a:close/>
                <a:moveTo>
                  <a:pt x="142875" y="59531"/>
                </a:moveTo>
                <a:cubicBezTo>
                  <a:pt x="162589" y="59531"/>
                  <a:pt x="178594" y="75536"/>
                  <a:pt x="178594" y="95250"/>
                </a:cubicBezTo>
                <a:cubicBezTo>
                  <a:pt x="178594" y="114964"/>
                  <a:pt x="162589" y="130969"/>
                  <a:pt x="142875" y="130969"/>
                </a:cubicBezTo>
                <a:cubicBezTo>
                  <a:pt x="123161" y="130969"/>
                  <a:pt x="107156" y="114964"/>
                  <a:pt x="107156" y="95250"/>
                </a:cubicBezTo>
                <a:cubicBezTo>
                  <a:pt x="107156" y="75536"/>
                  <a:pt x="123161" y="59531"/>
                  <a:pt x="142875" y="59531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81825" y="1943100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 states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29400" y="22860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Normal/Street ↔ Sport (single steering wheel button, no menus)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57950" y="2819400"/>
            <a:ext cx="5162550" cy="876300"/>
          </a:xfrm>
          <a:custGeom>
            <a:avLst/>
            <a:gdLst/>
            <a:ahLst/>
            <a:cxnLst/>
            <a:rect l="l" t="t" r="r" b="b"/>
            <a:pathLst>
              <a:path w="5162550" h="876300">
                <a:moveTo>
                  <a:pt x="38100" y="0"/>
                </a:moveTo>
                <a:lnTo>
                  <a:pt x="5086347" y="0"/>
                </a:lnTo>
                <a:cubicBezTo>
                  <a:pt x="5128433" y="0"/>
                  <a:pt x="5162550" y="34117"/>
                  <a:pt x="5162550" y="76203"/>
                </a:cubicBezTo>
                <a:lnTo>
                  <a:pt x="5162550" y="800097"/>
                </a:lnTo>
                <a:cubicBezTo>
                  <a:pt x="5162550" y="842183"/>
                  <a:pt x="5128433" y="876300"/>
                  <a:pt x="50863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57950" y="28194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653213" y="3009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81825" y="2971800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 states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29400" y="33147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 → Advisory → Urgent → Critical (escalating override)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57950" y="3848100"/>
            <a:ext cx="5162550" cy="876300"/>
          </a:xfrm>
          <a:custGeom>
            <a:avLst/>
            <a:gdLst/>
            <a:ahLst/>
            <a:cxnLst/>
            <a:rect l="l" t="t" r="r" b="b"/>
            <a:pathLst>
              <a:path w="5162550" h="876300">
                <a:moveTo>
                  <a:pt x="38100" y="0"/>
                </a:moveTo>
                <a:lnTo>
                  <a:pt x="5086347" y="0"/>
                </a:lnTo>
                <a:cubicBezTo>
                  <a:pt x="5128433" y="0"/>
                  <a:pt x="5162550" y="34117"/>
                  <a:pt x="5162550" y="76203"/>
                </a:cubicBezTo>
                <a:lnTo>
                  <a:pt x="5162550" y="800097"/>
                </a:lnTo>
                <a:cubicBezTo>
                  <a:pt x="5162550" y="842183"/>
                  <a:pt x="5128433" y="876300"/>
                  <a:pt x="508634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457950" y="38481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653213" y="4038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70061" y="54732"/>
                </a:moveTo>
                <a:cubicBezTo>
                  <a:pt x="67233" y="56294"/>
                  <a:pt x="65484" y="59308"/>
                  <a:pt x="65484" y="62508"/>
                </a:cubicBezTo>
                <a:lnTo>
                  <a:pt x="65484" y="127992"/>
                </a:lnTo>
                <a:cubicBezTo>
                  <a:pt x="65484" y="131229"/>
                  <a:pt x="67233" y="134206"/>
                  <a:pt x="70061" y="135768"/>
                </a:cubicBezTo>
                <a:cubicBezTo>
                  <a:pt x="72889" y="137331"/>
                  <a:pt x="76312" y="137294"/>
                  <a:pt x="79102" y="135582"/>
                </a:cubicBezTo>
                <a:lnTo>
                  <a:pt x="132680" y="102840"/>
                </a:lnTo>
                <a:cubicBezTo>
                  <a:pt x="135322" y="101203"/>
                  <a:pt x="136959" y="98338"/>
                  <a:pt x="136959" y="95213"/>
                </a:cubicBezTo>
                <a:cubicBezTo>
                  <a:pt x="136959" y="92087"/>
                  <a:pt x="135322" y="89222"/>
                  <a:pt x="132680" y="87585"/>
                </a:cubicBezTo>
                <a:lnTo>
                  <a:pt x="79102" y="54843"/>
                </a:lnTo>
                <a:cubicBezTo>
                  <a:pt x="76349" y="53169"/>
                  <a:pt x="72889" y="53094"/>
                  <a:pt x="70061" y="54657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81825" y="4000500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Startup state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29400" y="43434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Cinematic sequence → Street default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9175" y="369175"/>
            <a:ext cx="55376" cy="443010"/>
          </a:xfrm>
          <a:custGeom>
            <a:avLst/>
            <a:gdLst/>
            <a:ahLst/>
            <a:cxnLst/>
            <a:rect l="l" t="t" r="r" b="b"/>
            <a:pathLst>
              <a:path w="55376" h="443010">
                <a:moveTo>
                  <a:pt x="0" y="0"/>
                </a:moveTo>
                <a:lnTo>
                  <a:pt x="55376" y="0"/>
                </a:lnTo>
                <a:lnTo>
                  <a:pt x="55376" y="443010"/>
                </a:lnTo>
                <a:lnTo>
                  <a:pt x="0" y="44301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5304" y="406092"/>
            <a:ext cx="4845420" cy="369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6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8. Validation &amp; Evaluation Plan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9175" y="996772"/>
            <a:ext cx="5629917" cy="2131985"/>
          </a:xfrm>
          <a:custGeom>
            <a:avLst/>
            <a:gdLst/>
            <a:ahLst/>
            <a:cxnLst/>
            <a:rect l="l" t="t" r="r" b="b"/>
            <a:pathLst>
              <a:path w="5629917" h="2131985">
                <a:moveTo>
                  <a:pt x="73831" y="0"/>
                </a:moveTo>
                <a:lnTo>
                  <a:pt x="5556086" y="0"/>
                </a:lnTo>
                <a:cubicBezTo>
                  <a:pt x="5596862" y="0"/>
                  <a:pt x="5629917" y="33055"/>
                  <a:pt x="5629917" y="73831"/>
                </a:cubicBezTo>
                <a:lnTo>
                  <a:pt x="5629917" y="2058154"/>
                </a:lnTo>
                <a:cubicBezTo>
                  <a:pt x="5629917" y="2098930"/>
                  <a:pt x="5596862" y="2131985"/>
                  <a:pt x="5556086" y="2131985"/>
                </a:cubicBezTo>
                <a:lnTo>
                  <a:pt x="73831" y="2131985"/>
                </a:lnTo>
                <a:cubicBezTo>
                  <a:pt x="33055" y="2131985"/>
                  <a:pt x="0" y="2098930"/>
                  <a:pt x="0" y="2058154"/>
                </a:cubicBezTo>
                <a:lnTo>
                  <a:pt x="0" y="73831"/>
                </a:lnTo>
                <a:cubicBezTo>
                  <a:pt x="0" y="33082"/>
                  <a:pt x="33082" y="0"/>
                  <a:pt x="73831" y="0"/>
                </a:cubicBezTo>
                <a:close/>
              </a:path>
            </a:pathLst>
          </a:custGeom>
          <a:gradFill flip="none" rotWithShape="1">
            <a:gsLst>
              <a:gs pos="0">
                <a:srgbClr val="D32F2F"/>
              </a:gs>
              <a:gs pos="100000">
                <a:srgbClr val="FF6B6B"/>
              </a:gs>
            </a:gsLst>
            <a:lin ang="2700000" scaled="1"/>
          </a:gradFill>
          <a:ln/>
          <a:effectLst>
            <a:outerShdw blurRad="138441" dist="9229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3375" y="1185974"/>
            <a:ext cx="311491" cy="276881"/>
          </a:xfrm>
          <a:custGeom>
            <a:avLst/>
            <a:gdLst/>
            <a:ahLst/>
            <a:cxnLst/>
            <a:rect l="l" t="t" r="r" b="b"/>
            <a:pathLst>
              <a:path w="311491" h="276881">
                <a:moveTo>
                  <a:pt x="155746" y="17305"/>
                </a:moveTo>
                <a:cubicBezTo>
                  <a:pt x="112050" y="17305"/>
                  <a:pt x="77062" y="37206"/>
                  <a:pt x="51591" y="60892"/>
                </a:cubicBezTo>
                <a:cubicBezTo>
                  <a:pt x="26282" y="84416"/>
                  <a:pt x="9356" y="112483"/>
                  <a:pt x="1298" y="131789"/>
                </a:cubicBezTo>
                <a:cubicBezTo>
                  <a:pt x="-487" y="136061"/>
                  <a:pt x="-487" y="140820"/>
                  <a:pt x="1298" y="145092"/>
                </a:cubicBezTo>
                <a:cubicBezTo>
                  <a:pt x="9356" y="164398"/>
                  <a:pt x="26282" y="192519"/>
                  <a:pt x="51591" y="215989"/>
                </a:cubicBezTo>
                <a:cubicBezTo>
                  <a:pt x="77062" y="239621"/>
                  <a:pt x="112050" y="259576"/>
                  <a:pt x="155746" y="259576"/>
                </a:cubicBezTo>
                <a:cubicBezTo>
                  <a:pt x="199441" y="259576"/>
                  <a:pt x="234430" y="239675"/>
                  <a:pt x="259901" y="215989"/>
                </a:cubicBezTo>
                <a:cubicBezTo>
                  <a:pt x="285209" y="192465"/>
                  <a:pt x="302136" y="164398"/>
                  <a:pt x="310193" y="145092"/>
                </a:cubicBezTo>
                <a:cubicBezTo>
                  <a:pt x="311978" y="140820"/>
                  <a:pt x="311978" y="136061"/>
                  <a:pt x="310193" y="131789"/>
                </a:cubicBezTo>
                <a:cubicBezTo>
                  <a:pt x="302136" y="112483"/>
                  <a:pt x="285209" y="84362"/>
                  <a:pt x="259901" y="60892"/>
                </a:cubicBezTo>
                <a:cubicBezTo>
                  <a:pt x="234430" y="37260"/>
                  <a:pt x="199441" y="17305"/>
                  <a:pt x="155746" y="17305"/>
                </a:cubicBezTo>
                <a:close/>
                <a:moveTo>
                  <a:pt x="77873" y="138441"/>
                </a:moveTo>
                <a:cubicBezTo>
                  <a:pt x="77873" y="95461"/>
                  <a:pt x="112766" y="60568"/>
                  <a:pt x="155746" y="60568"/>
                </a:cubicBezTo>
                <a:cubicBezTo>
                  <a:pt x="198725" y="60568"/>
                  <a:pt x="233618" y="95461"/>
                  <a:pt x="233618" y="138441"/>
                </a:cubicBezTo>
                <a:cubicBezTo>
                  <a:pt x="233618" y="181420"/>
                  <a:pt x="198725" y="216313"/>
                  <a:pt x="155746" y="216313"/>
                </a:cubicBezTo>
                <a:cubicBezTo>
                  <a:pt x="112766" y="216313"/>
                  <a:pt x="77873" y="181420"/>
                  <a:pt x="77873" y="138441"/>
                </a:cubicBezTo>
                <a:close/>
                <a:moveTo>
                  <a:pt x="155746" y="103830"/>
                </a:moveTo>
                <a:cubicBezTo>
                  <a:pt x="155746" y="122920"/>
                  <a:pt x="140225" y="138441"/>
                  <a:pt x="121136" y="138441"/>
                </a:cubicBezTo>
                <a:cubicBezTo>
                  <a:pt x="114916" y="138441"/>
                  <a:pt x="109076" y="136818"/>
                  <a:pt x="103993" y="133898"/>
                </a:cubicBezTo>
                <a:cubicBezTo>
                  <a:pt x="103452" y="139793"/>
                  <a:pt x="103939" y="145849"/>
                  <a:pt x="105561" y="151852"/>
                </a:cubicBezTo>
                <a:cubicBezTo>
                  <a:pt x="112970" y="179540"/>
                  <a:pt x="141469" y="195980"/>
                  <a:pt x="169157" y="188571"/>
                </a:cubicBezTo>
                <a:cubicBezTo>
                  <a:pt x="196845" y="181162"/>
                  <a:pt x="213285" y="152663"/>
                  <a:pt x="205876" y="124975"/>
                </a:cubicBezTo>
                <a:cubicBezTo>
                  <a:pt x="199279" y="100261"/>
                  <a:pt x="175863" y="84524"/>
                  <a:pt x="151203" y="86688"/>
                </a:cubicBezTo>
                <a:cubicBezTo>
                  <a:pt x="154069" y="91717"/>
                  <a:pt x="155746" y="97557"/>
                  <a:pt x="155746" y="10383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10616" y="1181360"/>
            <a:ext cx="1781269" cy="286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Glance Test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3762" y="1578223"/>
            <a:ext cx="5334577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(Primary Safety Validation)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3762" y="1910480"/>
            <a:ext cx="5334577" cy="479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 dashboard for 1 second, hide it, ask: "What speed? What gear? Any warnings?"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3762" y="2501160"/>
            <a:ext cx="5260742" cy="443010"/>
          </a:xfrm>
          <a:custGeom>
            <a:avLst/>
            <a:gdLst/>
            <a:ahLst/>
            <a:cxnLst/>
            <a:rect l="l" t="t" r="r" b="b"/>
            <a:pathLst>
              <a:path w="5260742" h="443010">
                <a:moveTo>
                  <a:pt x="73836" y="0"/>
                </a:moveTo>
                <a:lnTo>
                  <a:pt x="5186905" y="0"/>
                </a:lnTo>
                <a:cubicBezTo>
                  <a:pt x="5227684" y="0"/>
                  <a:pt x="5260742" y="33058"/>
                  <a:pt x="5260742" y="73836"/>
                </a:cubicBezTo>
                <a:lnTo>
                  <a:pt x="5260742" y="369173"/>
                </a:lnTo>
                <a:cubicBezTo>
                  <a:pt x="5260742" y="409952"/>
                  <a:pt x="5227684" y="443010"/>
                  <a:pt x="5186905" y="443010"/>
                </a:cubicBezTo>
                <a:lnTo>
                  <a:pt x="73836" y="443010"/>
                </a:lnTo>
                <a:cubicBezTo>
                  <a:pt x="33085" y="443010"/>
                  <a:pt x="0" y="409925"/>
                  <a:pt x="0" y="369173"/>
                </a:cubicBezTo>
                <a:lnTo>
                  <a:pt x="0" y="73836"/>
                </a:lnTo>
                <a:cubicBezTo>
                  <a:pt x="0" y="33085"/>
                  <a:pt x="33085" y="0"/>
                  <a:pt x="7383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2974" y="2648830"/>
            <a:ext cx="147670" cy="147670"/>
          </a:xfrm>
          <a:custGeom>
            <a:avLst/>
            <a:gdLst/>
            <a:ahLst/>
            <a:cxnLst/>
            <a:rect l="l" t="t" r="r" b="b"/>
            <a:pathLst>
              <a:path w="147670" h="147670">
                <a:moveTo>
                  <a:pt x="73835" y="0"/>
                </a:moveTo>
                <a:cubicBezTo>
                  <a:pt x="78075" y="0"/>
                  <a:pt x="81968" y="2336"/>
                  <a:pt x="83987" y="6057"/>
                </a:cubicBezTo>
                <a:lnTo>
                  <a:pt x="146286" y="121424"/>
                </a:lnTo>
                <a:cubicBezTo>
                  <a:pt x="148218" y="125000"/>
                  <a:pt x="148131" y="129327"/>
                  <a:pt x="146055" y="132816"/>
                </a:cubicBezTo>
                <a:cubicBezTo>
                  <a:pt x="143978" y="136306"/>
                  <a:pt x="140200" y="138441"/>
                  <a:pt x="136133" y="138441"/>
                </a:cubicBezTo>
                <a:lnTo>
                  <a:pt x="11537" y="138441"/>
                </a:lnTo>
                <a:cubicBezTo>
                  <a:pt x="7470" y="138441"/>
                  <a:pt x="3721" y="136306"/>
                  <a:pt x="1615" y="132816"/>
                </a:cubicBezTo>
                <a:cubicBezTo>
                  <a:pt x="-490" y="129327"/>
                  <a:pt x="-548" y="125000"/>
                  <a:pt x="1384" y="121424"/>
                </a:cubicBezTo>
                <a:lnTo>
                  <a:pt x="63683" y="6057"/>
                </a:lnTo>
                <a:cubicBezTo>
                  <a:pt x="65702" y="2336"/>
                  <a:pt x="69595" y="0"/>
                  <a:pt x="73835" y="0"/>
                </a:cubicBezTo>
                <a:close/>
                <a:moveTo>
                  <a:pt x="73835" y="48454"/>
                </a:moveTo>
                <a:cubicBezTo>
                  <a:pt x="69999" y="48454"/>
                  <a:pt x="66913" y="51540"/>
                  <a:pt x="66913" y="55376"/>
                </a:cubicBezTo>
                <a:lnTo>
                  <a:pt x="66913" y="87679"/>
                </a:lnTo>
                <a:cubicBezTo>
                  <a:pt x="66913" y="91515"/>
                  <a:pt x="69999" y="94601"/>
                  <a:pt x="73835" y="94601"/>
                </a:cubicBezTo>
                <a:cubicBezTo>
                  <a:pt x="77671" y="94601"/>
                  <a:pt x="80757" y="91515"/>
                  <a:pt x="80757" y="87679"/>
                </a:cubicBezTo>
                <a:lnTo>
                  <a:pt x="80757" y="55376"/>
                </a:lnTo>
                <a:cubicBezTo>
                  <a:pt x="80757" y="51540"/>
                  <a:pt x="77671" y="48454"/>
                  <a:pt x="73835" y="48454"/>
                </a:cubicBezTo>
                <a:close/>
                <a:moveTo>
                  <a:pt x="81536" y="110752"/>
                </a:moveTo>
                <a:cubicBezTo>
                  <a:pt x="81711" y="107894"/>
                  <a:pt x="80285" y="105174"/>
                  <a:pt x="77835" y="103692"/>
                </a:cubicBezTo>
                <a:cubicBezTo>
                  <a:pt x="75385" y="102210"/>
                  <a:pt x="72314" y="102210"/>
                  <a:pt x="69864" y="103692"/>
                </a:cubicBezTo>
                <a:cubicBezTo>
                  <a:pt x="67413" y="105174"/>
                  <a:pt x="65988" y="107894"/>
                  <a:pt x="66163" y="110752"/>
                </a:cubicBezTo>
                <a:cubicBezTo>
                  <a:pt x="65988" y="113611"/>
                  <a:pt x="67413" y="116330"/>
                  <a:pt x="69864" y="117813"/>
                </a:cubicBezTo>
                <a:cubicBezTo>
                  <a:pt x="72314" y="119295"/>
                  <a:pt x="75385" y="119295"/>
                  <a:pt x="77835" y="117813"/>
                </a:cubicBezTo>
                <a:cubicBezTo>
                  <a:pt x="80285" y="116330"/>
                  <a:pt x="81711" y="113611"/>
                  <a:pt x="81536" y="11075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02760" y="2611912"/>
            <a:ext cx="4874827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 failure triggers a redesign.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9175" y="3276427"/>
            <a:ext cx="5629917" cy="3580996"/>
          </a:xfrm>
          <a:custGeom>
            <a:avLst/>
            <a:gdLst/>
            <a:ahLst/>
            <a:cxnLst/>
            <a:rect l="l" t="t" r="r" b="b"/>
            <a:pathLst>
              <a:path w="5629917" h="3580996">
                <a:moveTo>
                  <a:pt x="73840" y="0"/>
                </a:moveTo>
                <a:lnTo>
                  <a:pt x="5556077" y="0"/>
                </a:lnTo>
                <a:cubicBezTo>
                  <a:pt x="5596857" y="0"/>
                  <a:pt x="5629917" y="33059"/>
                  <a:pt x="5629917" y="73840"/>
                </a:cubicBezTo>
                <a:lnTo>
                  <a:pt x="5629917" y="3507156"/>
                </a:lnTo>
                <a:cubicBezTo>
                  <a:pt x="5629917" y="3547937"/>
                  <a:pt x="5596857" y="3580996"/>
                  <a:pt x="5556077" y="3580996"/>
                </a:cubicBezTo>
                <a:lnTo>
                  <a:pt x="73840" y="3580996"/>
                </a:lnTo>
                <a:cubicBezTo>
                  <a:pt x="33059" y="3580996"/>
                  <a:pt x="0" y="3547937"/>
                  <a:pt x="0" y="3507156"/>
                </a:cubicBezTo>
                <a:lnTo>
                  <a:pt x="0" y="73840"/>
                </a:lnTo>
                <a:cubicBezTo>
                  <a:pt x="0" y="33087"/>
                  <a:pt x="33087" y="0"/>
                  <a:pt x="7384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5376" dist="3691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1450" y="3479473"/>
            <a:ext cx="221505" cy="221505"/>
          </a:xfrm>
          <a:custGeom>
            <a:avLst/>
            <a:gdLst/>
            <a:ahLst/>
            <a:cxnLst/>
            <a:rect l="l" t="t" r="r" b="b"/>
            <a:pathLst>
              <a:path w="221505" h="221505">
                <a:moveTo>
                  <a:pt x="13844" y="13844"/>
                </a:moveTo>
                <a:cubicBezTo>
                  <a:pt x="21502" y="13844"/>
                  <a:pt x="27688" y="20031"/>
                  <a:pt x="27688" y="27688"/>
                </a:cubicBezTo>
                <a:lnTo>
                  <a:pt x="27688" y="173051"/>
                </a:lnTo>
                <a:cubicBezTo>
                  <a:pt x="27688" y="176858"/>
                  <a:pt x="30803" y="179973"/>
                  <a:pt x="34610" y="179973"/>
                </a:cubicBezTo>
                <a:lnTo>
                  <a:pt x="207661" y="179973"/>
                </a:lnTo>
                <a:cubicBezTo>
                  <a:pt x="215318" y="179973"/>
                  <a:pt x="221505" y="186159"/>
                  <a:pt x="221505" y="193817"/>
                </a:cubicBezTo>
                <a:cubicBezTo>
                  <a:pt x="221505" y="201474"/>
                  <a:pt x="215318" y="207661"/>
                  <a:pt x="207661" y="207661"/>
                </a:cubicBezTo>
                <a:lnTo>
                  <a:pt x="34610" y="207661"/>
                </a:lnTo>
                <a:cubicBezTo>
                  <a:pt x="15488" y="207661"/>
                  <a:pt x="0" y="192173"/>
                  <a:pt x="0" y="173051"/>
                </a:cubicBezTo>
                <a:lnTo>
                  <a:pt x="0" y="27688"/>
                </a:lnTo>
                <a:cubicBezTo>
                  <a:pt x="0" y="20031"/>
                  <a:pt x="6187" y="13844"/>
                  <a:pt x="13844" y="13844"/>
                </a:cubicBezTo>
                <a:close/>
                <a:moveTo>
                  <a:pt x="55376" y="41532"/>
                </a:moveTo>
                <a:cubicBezTo>
                  <a:pt x="55376" y="33875"/>
                  <a:pt x="61563" y="27688"/>
                  <a:pt x="69220" y="27688"/>
                </a:cubicBezTo>
                <a:lnTo>
                  <a:pt x="152285" y="27688"/>
                </a:lnTo>
                <a:cubicBezTo>
                  <a:pt x="159942" y="27688"/>
                  <a:pt x="166129" y="33875"/>
                  <a:pt x="166129" y="41532"/>
                </a:cubicBezTo>
                <a:cubicBezTo>
                  <a:pt x="166129" y="49190"/>
                  <a:pt x="159942" y="55376"/>
                  <a:pt x="152285" y="55376"/>
                </a:cubicBezTo>
                <a:lnTo>
                  <a:pt x="69220" y="55376"/>
                </a:lnTo>
                <a:cubicBezTo>
                  <a:pt x="61563" y="55376"/>
                  <a:pt x="55376" y="49190"/>
                  <a:pt x="55376" y="41532"/>
                </a:cubicBezTo>
                <a:close/>
                <a:moveTo>
                  <a:pt x="69220" y="76142"/>
                </a:moveTo>
                <a:lnTo>
                  <a:pt x="124597" y="76142"/>
                </a:lnTo>
                <a:cubicBezTo>
                  <a:pt x="132254" y="76142"/>
                  <a:pt x="138441" y="82329"/>
                  <a:pt x="138441" y="89986"/>
                </a:cubicBezTo>
                <a:cubicBezTo>
                  <a:pt x="138441" y="97644"/>
                  <a:pt x="132254" y="103830"/>
                  <a:pt x="124597" y="103830"/>
                </a:cubicBezTo>
                <a:lnTo>
                  <a:pt x="69220" y="103830"/>
                </a:lnTo>
                <a:cubicBezTo>
                  <a:pt x="61563" y="103830"/>
                  <a:pt x="55376" y="97644"/>
                  <a:pt x="55376" y="89986"/>
                </a:cubicBezTo>
                <a:cubicBezTo>
                  <a:pt x="55376" y="82329"/>
                  <a:pt x="61563" y="76142"/>
                  <a:pt x="69220" y="76142"/>
                </a:cubicBezTo>
                <a:close/>
                <a:moveTo>
                  <a:pt x="69220" y="124597"/>
                </a:moveTo>
                <a:lnTo>
                  <a:pt x="179973" y="124597"/>
                </a:lnTo>
                <a:cubicBezTo>
                  <a:pt x="187630" y="124597"/>
                  <a:pt x="193817" y="130783"/>
                  <a:pt x="193817" y="138441"/>
                </a:cubicBezTo>
                <a:cubicBezTo>
                  <a:pt x="193817" y="146098"/>
                  <a:pt x="187630" y="152285"/>
                  <a:pt x="179973" y="152285"/>
                </a:cubicBezTo>
                <a:lnTo>
                  <a:pt x="69220" y="152285"/>
                </a:lnTo>
                <a:cubicBezTo>
                  <a:pt x="61563" y="152285"/>
                  <a:pt x="55376" y="146098"/>
                  <a:pt x="55376" y="138441"/>
                </a:cubicBezTo>
                <a:cubicBezTo>
                  <a:pt x="55376" y="130783"/>
                  <a:pt x="61563" y="124597"/>
                  <a:pt x="69220" y="124597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41396" y="3461014"/>
            <a:ext cx="2676518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3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Usability &amp; Safety Metrics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3762" y="3867107"/>
            <a:ext cx="5260742" cy="406092"/>
          </a:xfrm>
          <a:custGeom>
            <a:avLst/>
            <a:gdLst/>
            <a:ahLst/>
            <a:cxnLst/>
            <a:rect l="l" t="t" r="r" b="b"/>
            <a:pathLst>
              <a:path w="5260742" h="406092">
                <a:moveTo>
                  <a:pt x="73836" y="0"/>
                </a:moveTo>
                <a:lnTo>
                  <a:pt x="5186906" y="0"/>
                </a:lnTo>
                <a:cubicBezTo>
                  <a:pt x="5227684" y="0"/>
                  <a:pt x="5260742" y="33057"/>
                  <a:pt x="5260742" y="73836"/>
                </a:cubicBezTo>
                <a:lnTo>
                  <a:pt x="5260742" y="332257"/>
                </a:lnTo>
                <a:cubicBezTo>
                  <a:pt x="5260742" y="373035"/>
                  <a:pt x="5227684" y="406092"/>
                  <a:pt x="5186906" y="406092"/>
                </a:cubicBezTo>
                <a:lnTo>
                  <a:pt x="73836" y="406092"/>
                </a:lnTo>
                <a:cubicBezTo>
                  <a:pt x="33085" y="406092"/>
                  <a:pt x="0" y="373008"/>
                  <a:pt x="0" y="332257"/>
                </a:cubicBezTo>
                <a:lnTo>
                  <a:pt x="0" y="73836"/>
                </a:lnTo>
                <a:cubicBezTo>
                  <a:pt x="0" y="33085"/>
                  <a:pt x="33085" y="0"/>
                  <a:pt x="73836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7597" y="3959400"/>
            <a:ext cx="2113526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info (Speed, RPM, Gear)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76524" y="3940942"/>
            <a:ext cx="572221" cy="258422"/>
          </a:xfrm>
          <a:custGeom>
            <a:avLst/>
            <a:gdLst/>
            <a:ahLst/>
            <a:cxnLst/>
            <a:rect l="l" t="t" r="r" b="b"/>
            <a:pathLst>
              <a:path w="572221" h="258422">
                <a:moveTo>
                  <a:pt x="129211" y="0"/>
                </a:moveTo>
                <a:lnTo>
                  <a:pt x="443010" y="0"/>
                </a:lnTo>
                <a:cubicBezTo>
                  <a:pt x="514371" y="0"/>
                  <a:pt x="572221" y="57850"/>
                  <a:pt x="572221" y="129211"/>
                </a:cubicBezTo>
                <a:lnTo>
                  <a:pt x="572221" y="129211"/>
                </a:lnTo>
                <a:cubicBezTo>
                  <a:pt x="572221" y="200573"/>
                  <a:pt x="514371" y="258422"/>
                  <a:pt x="443010" y="258422"/>
                </a:cubicBezTo>
                <a:lnTo>
                  <a:pt x="129211" y="258422"/>
                </a:lnTo>
                <a:cubicBezTo>
                  <a:pt x="57850" y="258422"/>
                  <a:pt x="0" y="200573"/>
                  <a:pt x="0" y="129211"/>
                </a:cubicBezTo>
                <a:lnTo>
                  <a:pt x="0" y="129211"/>
                </a:lnTo>
                <a:cubicBezTo>
                  <a:pt x="0" y="57850"/>
                  <a:pt x="57850" y="0"/>
                  <a:pt x="129211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76524" y="3940942"/>
            <a:ext cx="636827" cy="258422"/>
          </a:xfrm>
          <a:prstGeom prst="rect">
            <a:avLst/>
          </a:prstGeom>
          <a:noFill/>
          <a:ln/>
        </p:spPr>
        <p:txBody>
          <a:bodyPr wrap="square" lIns="110752" tIns="36917" rIns="110752" bIns="36917" rtlCol="0" anchor="ctr"/>
          <a:lstStyle/>
          <a:p>
            <a:pPr>
              <a:lnSpc>
                <a:spcPct val="120000"/>
              </a:lnSpc>
            </a:pPr>
            <a:r>
              <a:rPr lang="en-US" sz="101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0.5s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3762" y="4347034"/>
            <a:ext cx="5260742" cy="406092"/>
          </a:xfrm>
          <a:custGeom>
            <a:avLst/>
            <a:gdLst/>
            <a:ahLst/>
            <a:cxnLst/>
            <a:rect l="l" t="t" r="r" b="b"/>
            <a:pathLst>
              <a:path w="5260742" h="406092">
                <a:moveTo>
                  <a:pt x="73836" y="0"/>
                </a:moveTo>
                <a:lnTo>
                  <a:pt x="5186906" y="0"/>
                </a:lnTo>
                <a:cubicBezTo>
                  <a:pt x="5227684" y="0"/>
                  <a:pt x="5260742" y="33057"/>
                  <a:pt x="5260742" y="73836"/>
                </a:cubicBezTo>
                <a:lnTo>
                  <a:pt x="5260742" y="332257"/>
                </a:lnTo>
                <a:cubicBezTo>
                  <a:pt x="5260742" y="373035"/>
                  <a:pt x="5227684" y="406092"/>
                  <a:pt x="5186906" y="406092"/>
                </a:cubicBezTo>
                <a:lnTo>
                  <a:pt x="73836" y="406092"/>
                </a:lnTo>
                <a:cubicBezTo>
                  <a:pt x="33085" y="406092"/>
                  <a:pt x="0" y="373008"/>
                  <a:pt x="0" y="332257"/>
                </a:cubicBezTo>
                <a:lnTo>
                  <a:pt x="0" y="73836"/>
                </a:lnTo>
                <a:cubicBezTo>
                  <a:pt x="0" y="33085"/>
                  <a:pt x="33085" y="0"/>
                  <a:pt x="73836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7597" y="4439328"/>
            <a:ext cx="2187361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Secondary info (Fuel, Temp, Nav)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05077" y="4420869"/>
            <a:ext cx="535304" cy="258422"/>
          </a:xfrm>
          <a:custGeom>
            <a:avLst/>
            <a:gdLst/>
            <a:ahLst/>
            <a:cxnLst/>
            <a:rect l="l" t="t" r="r" b="b"/>
            <a:pathLst>
              <a:path w="535304" h="258422">
                <a:moveTo>
                  <a:pt x="129211" y="0"/>
                </a:moveTo>
                <a:lnTo>
                  <a:pt x="406092" y="0"/>
                </a:lnTo>
                <a:cubicBezTo>
                  <a:pt x="477454" y="0"/>
                  <a:pt x="535304" y="57850"/>
                  <a:pt x="535304" y="129211"/>
                </a:cubicBezTo>
                <a:lnTo>
                  <a:pt x="535304" y="129211"/>
                </a:lnTo>
                <a:cubicBezTo>
                  <a:pt x="535304" y="200573"/>
                  <a:pt x="477454" y="258422"/>
                  <a:pt x="406092" y="258422"/>
                </a:cubicBezTo>
                <a:lnTo>
                  <a:pt x="129211" y="258422"/>
                </a:lnTo>
                <a:cubicBezTo>
                  <a:pt x="57850" y="258422"/>
                  <a:pt x="0" y="200573"/>
                  <a:pt x="0" y="129211"/>
                </a:cubicBezTo>
                <a:lnTo>
                  <a:pt x="0" y="129211"/>
                </a:lnTo>
                <a:cubicBezTo>
                  <a:pt x="0" y="57850"/>
                  <a:pt x="57850" y="0"/>
                  <a:pt x="129211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05077" y="4420869"/>
            <a:ext cx="599909" cy="258422"/>
          </a:xfrm>
          <a:prstGeom prst="rect">
            <a:avLst/>
          </a:prstGeom>
          <a:noFill/>
          <a:ln/>
        </p:spPr>
        <p:txBody>
          <a:bodyPr wrap="square" lIns="110752" tIns="36917" rIns="110752" bIns="36917" rtlCol="0" anchor="ctr"/>
          <a:lstStyle/>
          <a:p>
            <a:pPr>
              <a:lnSpc>
                <a:spcPct val="120000"/>
              </a:lnSpc>
            </a:pPr>
            <a:r>
              <a:rPr lang="en-US" sz="101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1.0s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3762" y="4826961"/>
            <a:ext cx="5260742" cy="406092"/>
          </a:xfrm>
          <a:custGeom>
            <a:avLst/>
            <a:gdLst/>
            <a:ahLst/>
            <a:cxnLst/>
            <a:rect l="l" t="t" r="r" b="b"/>
            <a:pathLst>
              <a:path w="5260742" h="406092">
                <a:moveTo>
                  <a:pt x="73836" y="0"/>
                </a:moveTo>
                <a:lnTo>
                  <a:pt x="5186906" y="0"/>
                </a:lnTo>
                <a:cubicBezTo>
                  <a:pt x="5227684" y="0"/>
                  <a:pt x="5260742" y="33057"/>
                  <a:pt x="5260742" y="73836"/>
                </a:cubicBezTo>
                <a:lnTo>
                  <a:pt x="5260742" y="332257"/>
                </a:lnTo>
                <a:cubicBezTo>
                  <a:pt x="5260742" y="373035"/>
                  <a:pt x="5227684" y="406092"/>
                  <a:pt x="5186906" y="406092"/>
                </a:cubicBezTo>
                <a:lnTo>
                  <a:pt x="73836" y="406092"/>
                </a:lnTo>
                <a:cubicBezTo>
                  <a:pt x="33085" y="406092"/>
                  <a:pt x="0" y="373008"/>
                  <a:pt x="0" y="332257"/>
                </a:cubicBezTo>
                <a:lnTo>
                  <a:pt x="0" y="73836"/>
                </a:lnTo>
                <a:cubicBezTo>
                  <a:pt x="0" y="33085"/>
                  <a:pt x="33085" y="0"/>
                  <a:pt x="73836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7597" y="4919255"/>
            <a:ext cx="2242737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interactions (NHTSA threshold)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219354" y="4900796"/>
            <a:ext cx="526074" cy="258422"/>
          </a:xfrm>
          <a:custGeom>
            <a:avLst/>
            <a:gdLst/>
            <a:ahLst/>
            <a:cxnLst/>
            <a:rect l="l" t="t" r="r" b="b"/>
            <a:pathLst>
              <a:path w="526074" h="258422">
                <a:moveTo>
                  <a:pt x="129211" y="0"/>
                </a:moveTo>
                <a:lnTo>
                  <a:pt x="396863" y="0"/>
                </a:lnTo>
                <a:cubicBezTo>
                  <a:pt x="468224" y="0"/>
                  <a:pt x="526074" y="57850"/>
                  <a:pt x="526074" y="129211"/>
                </a:cubicBezTo>
                <a:lnTo>
                  <a:pt x="526074" y="129211"/>
                </a:lnTo>
                <a:cubicBezTo>
                  <a:pt x="526074" y="200573"/>
                  <a:pt x="468224" y="258422"/>
                  <a:pt x="396863" y="258422"/>
                </a:cubicBezTo>
                <a:lnTo>
                  <a:pt x="129211" y="258422"/>
                </a:lnTo>
                <a:cubicBezTo>
                  <a:pt x="57850" y="258422"/>
                  <a:pt x="0" y="200573"/>
                  <a:pt x="0" y="129211"/>
                </a:cubicBezTo>
                <a:lnTo>
                  <a:pt x="0" y="129211"/>
                </a:lnTo>
                <a:cubicBezTo>
                  <a:pt x="0" y="57850"/>
                  <a:pt x="57850" y="0"/>
                  <a:pt x="129211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19354" y="4900796"/>
            <a:ext cx="590680" cy="258422"/>
          </a:xfrm>
          <a:prstGeom prst="rect">
            <a:avLst/>
          </a:prstGeom>
          <a:noFill/>
          <a:ln/>
        </p:spPr>
        <p:txBody>
          <a:bodyPr wrap="square" lIns="110752" tIns="36917" rIns="110752" bIns="36917" rtlCol="0" anchor="ctr"/>
          <a:lstStyle/>
          <a:p>
            <a:pPr>
              <a:lnSpc>
                <a:spcPct val="120000"/>
              </a:lnSpc>
            </a:pPr>
            <a:r>
              <a:rPr lang="en-US" sz="101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1.5s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3762" y="5306889"/>
            <a:ext cx="5260742" cy="406092"/>
          </a:xfrm>
          <a:custGeom>
            <a:avLst/>
            <a:gdLst/>
            <a:ahLst/>
            <a:cxnLst/>
            <a:rect l="l" t="t" r="r" b="b"/>
            <a:pathLst>
              <a:path w="5260742" h="406092">
                <a:moveTo>
                  <a:pt x="73836" y="0"/>
                </a:moveTo>
                <a:lnTo>
                  <a:pt x="5186906" y="0"/>
                </a:lnTo>
                <a:cubicBezTo>
                  <a:pt x="5227684" y="0"/>
                  <a:pt x="5260742" y="33057"/>
                  <a:pt x="5260742" y="73836"/>
                </a:cubicBezTo>
                <a:lnTo>
                  <a:pt x="5260742" y="332257"/>
                </a:lnTo>
                <a:cubicBezTo>
                  <a:pt x="5260742" y="373035"/>
                  <a:pt x="5227684" y="406092"/>
                  <a:pt x="5186906" y="406092"/>
                </a:cubicBezTo>
                <a:lnTo>
                  <a:pt x="73836" y="406092"/>
                </a:lnTo>
                <a:cubicBezTo>
                  <a:pt x="33085" y="406092"/>
                  <a:pt x="0" y="373008"/>
                  <a:pt x="0" y="332257"/>
                </a:cubicBezTo>
                <a:lnTo>
                  <a:pt x="0" y="73836"/>
                </a:lnTo>
                <a:cubicBezTo>
                  <a:pt x="0" y="33085"/>
                  <a:pt x="33085" y="0"/>
                  <a:pt x="73836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7597" y="5399182"/>
            <a:ext cx="1329030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 Studio rendering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80417" y="5380724"/>
            <a:ext cx="562992" cy="258422"/>
          </a:xfrm>
          <a:custGeom>
            <a:avLst/>
            <a:gdLst/>
            <a:ahLst/>
            <a:cxnLst/>
            <a:rect l="l" t="t" r="r" b="b"/>
            <a:pathLst>
              <a:path w="562992" h="258422">
                <a:moveTo>
                  <a:pt x="129211" y="0"/>
                </a:moveTo>
                <a:lnTo>
                  <a:pt x="433780" y="0"/>
                </a:lnTo>
                <a:cubicBezTo>
                  <a:pt x="505142" y="0"/>
                  <a:pt x="562992" y="57850"/>
                  <a:pt x="562992" y="129211"/>
                </a:cubicBezTo>
                <a:lnTo>
                  <a:pt x="562992" y="129211"/>
                </a:lnTo>
                <a:cubicBezTo>
                  <a:pt x="562992" y="200573"/>
                  <a:pt x="505142" y="258422"/>
                  <a:pt x="433780" y="258422"/>
                </a:cubicBezTo>
                <a:lnTo>
                  <a:pt x="129211" y="258422"/>
                </a:lnTo>
                <a:cubicBezTo>
                  <a:pt x="57850" y="258422"/>
                  <a:pt x="0" y="200573"/>
                  <a:pt x="0" y="129211"/>
                </a:cubicBezTo>
                <a:lnTo>
                  <a:pt x="0" y="129211"/>
                </a:lnTo>
                <a:cubicBezTo>
                  <a:pt x="0" y="57850"/>
                  <a:pt x="57850" y="0"/>
                  <a:pt x="129211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80417" y="5380724"/>
            <a:ext cx="627597" cy="258422"/>
          </a:xfrm>
          <a:prstGeom prst="rect">
            <a:avLst/>
          </a:prstGeom>
          <a:noFill/>
          <a:ln/>
        </p:spPr>
        <p:txBody>
          <a:bodyPr wrap="square" lIns="110752" tIns="36917" rIns="110752" bIns="36917" rtlCol="0" anchor="ctr"/>
          <a:lstStyle/>
          <a:p>
            <a:pPr>
              <a:lnSpc>
                <a:spcPct val="120000"/>
              </a:lnSpc>
            </a:pPr>
            <a:r>
              <a:rPr lang="en-US" sz="101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60fps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3762" y="5786816"/>
            <a:ext cx="5260742" cy="406092"/>
          </a:xfrm>
          <a:custGeom>
            <a:avLst/>
            <a:gdLst/>
            <a:ahLst/>
            <a:cxnLst/>
            <a:rect l="l" t="t" r="r" b="b"/>
            <a:pathLst>
              <a:path w="5260742" h="406092">
                <a:moveTo>
                  <a:pt x="73836" y="0"/>
                </a:moveTo>
                <a:lnTo>
                  <a:pt x="5186906" y="0"/>
                </a:lnTo>
                <a:cubicBezTo>
                  <a:pt x="5227684" y="0"/>
                  <a:pt x="5260742" y="33057"/>
                  <a:pt x="5260742" y="73836"/>
                </a:cubicBezTo>
                <a:lnTo>
                  <a:pt x="5260742" y="332257"/>
                </a:lnTo>
                <a:cubicBezTo>
                  <a:pt x="5260742" y="373035"/>
                  <a:pt x="5227684" y="406092"/>
                  <a:pt x="5186906" y="406092"/>
                </a:cubicBezTo>
                <a:lnTo>
                  <a:pt x="73836" y="406092"/>
                </a:lnTo>
                <a:cubicBezTo>
                  <a:pt x="33085" y="406092"/>
                  <a:pt x="0" y="373008"/>
                  <a:pt x="0" y="332257"/>
                </a:cubicBezTo>
                <a:lnTo>
                  <a:pt x="0" y="73836"/>
                </a:lnTo>
                <a:cubicBezTo>
                  <a:pt x="0" y="33085"/>
                  <a:pt x="33085" y="0"/>
                  <a:pt x="73836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7597" y="5879110"/>
            <a:ext cx="2104297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warning comprehension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76524" y="5860651"/>
            <a:ext cx="572221" cy="258422"/>
          </a:xfrm>
          <a:custGeom>
            <a:avLst/>
            <a:gdLst/>
            <a:ahLst/>
            <a:cxnLst/>
            <a:rect l="l" t="t" r="r" b="b"/>
            <a:pathLst>
              <a:path w="572221" h="258422">
                <a:moveTo>
                  <a:pt x="129211" y="0"/>
                </a:moveTo>
                <a:lnTo>
                  <a:pt x="443010" y="0"/>
                </a:lnTo>
                <a:cubicBezTo>
                  <a:pt x="514371" y="0"/>
                  <a:pt x="572221" y="57850"/>
                  <a:pt x="572221" y="129211"/>
                </a:cubicBezTo>
                <a:lnTo>
                  <a:pt x="572221" y="129211"/>
                </a:lnTo>
                <a:cubicBezTo>
                  <a:pt x="572221" y="200573"/>
                  <a:pt x="514371" y="258422"/>
                  <a:pt x="443010" y="258422"/>
                </a:cubicBezTo>
                <a:lnTo>
                  <a:pt x="129211" y="258422"/>
                </a:lnTo>
                <a:cubicBezTo>
                  <a:pt x="57850" y="258422"/>
                  <a:pt x="0" y="200573"/>
                  <a:pt x="0" y="129211"/>
                </a:cubicBezTo>
                <a:lnTo>
                  <a:pt x="0" y="129211"/>
                </a:lnTo>
                <a:cubicBezTo>
                  <a:pt x="0" y="57850"/>
                  <a:pt x="57850" y="0"/>
                  <a:pt x="129211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76524" y="5860651"/>
            <a:ext cx="636827" cy="258422"/>
          </a:xfrm>
          <a:prstGeom prst="rect">
            <a:avLst/>
          </a:prstGeom>
          <a:noFill/>
          <a:ln/>
        </p:spPr>
        <p:txBody>
          <a:bodyPr wrap="square" lIns="110752" tIns="36917" rIns="110752" bIns="36917" rtlCol="0" anchor="ctr"/>
          <a:lstStyle/>
          <a:p>
            <a:pPr>
              <a:lnSpc>
                <a:spcPct val="120000"/>
              </a:lnSpc>
            </a:pPr>
            <a:r>
              <a:rPr lang="en-US" sz="101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0.5s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53762" y="6266743"/>
            <a:ext cx="5260742" cy="406092"/>
          </a:xfrm>
          <a:custGeom>
            <a:avLst/>
            <a:gdLst/>
            <a:ahLst/>
            <a:cxnLst/>
            <a:rect l="l" t="t" r="r" b="b"/>
            <a:pathLst>
              <a:path w="5260742" h="406092">
                <a:moveTo>
                  <a:pt x="73836" y="0"/>
                </a:moveTo>
                <a:lnTo>
                  <a:pt x="5186906" y="0"/>
                </a:lnTo>
                <a:cubicBezTo>
                  <a:pt x="5227684" y="0"/>
                  <a:pt x="5260742" y="33057"/>
                  <a:pt x="5260742" y="73836"/>
                </a:cubicBezTo>
                <a:lnTo>
                  <a:pt x="5260742" y="332257"/>
                </a:lnTo>
                <a:cubicBezTo>
                  <a:pt x="5260742" y="373035"/>
                  <a:pt x="5227684" y="406092"/>
                  <a:pt x="5186906" y="406092"/>
                </a:cubicBezTo>
                <a:lnTo>
                  <a:pt x="73836" y="406092"/>
                </a:lnTo>
                <a:cubicBezTo>
                  <a:pt x="33085" y="406092"/>
                  <a:pt x="0" y="373008"/>
                  <a:pt x="0" y="332257"/>
                </a:cubicBezTo>
                <a:lnTo>
                  <a:pt x="0" y="73836"/>
                </a:lnTo>
                <a:cubicBezTo>
                  <a:pt x="0" y="33085"/>
                  <a:pt x="33085" y="0"/>
                  <a:pt x="73836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7597" y="6359037"/>
            <a:ext cx="895249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 switch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12270" y="6340578"/>
            <a:ext cx="729120" cy="258422"/>
          </a:xfrm>
          <a:custGeom>
            <a:avLst/>
            <a:gdLst/>
            <a:ahLst/>
            <a:cxnLst/>
            <a:rect l="l" t="t" r="r" b="b"/>
            <a:pathLst>
              <a:path w="729120" h="258422">
                <a:moveTo>
                  <a:pt x="129211" y="0"/>
                </a:moveTo>
                <a:lnTo>
                  <a:pt x="599909" y="0"/>
                </a:lnTo>
                <a:cubicBezTo>
                  <a:pt x="671271" y="0"/>
                  <a:pt x="729120" y="57850"/>
                  <a:pt x="729120" y="129211"/>
                </a:cubicBezTo>
                <a:lnTo>
                  <a:pt x="729120" y="129211"/>
                </a:lnTo>
                <a:cubicBezTo>
                  <a:pt x="729120" y="200573"/>
                  <a:pt x="671271" y="258422"/>
                  <a:pt x="599909" y="258422"/>
                </a:cubicBezTo>
                <a:lnTo>
                  <a:pt x="129211" y="258422"/>
                </a:lnTo>
                <a:cubicBezTo>
                  <a:pt x="57850" y="258422"/>
                  <a:pt x="0" y="200573"/>
                  <a:pt x="0" y="129211"/>
                </a:cubicBezTo>
                <a:lnTo>
                  <a:pt x="0" y="129211"/>
                </a:lnTo>
                <a:cubicBezTo>
                  <a:pt x="0" y="57850"/>
                  <a:pt x="57850" y="0"/>
                  <a:pt x="129211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12270" y="6340578"/>
            <a:ext cx="793726" cy="258422"/>
          </a:xfrm>
          <a:prstGeom prst="rect">
            <a:avLst/>
          </a:prstGeom>
          <a:noFill/>
          <a:ln/>
        </p:spPr>
        <p:txBody>
          <a:bodyPr wrap="square" lIns="110752" tIns="36917" rIns="110752" bIns="36917" rtlCol="0" anchor="ctr"/>
          <a:lstStyle/>
          <a:p>
            <a:pPr>
              <a:lnSpc>
                <a:spcPct val="120000"/>
              </a:lnSpc>
            </a:pPr>
            <a:r>
              <a:rPr lang="en-US" sz="101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400ms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06176" y="1008060"/>
            <a:ext cx="5611458" cy="5860651"/>
          </a:xfrm>
          <a:custGeom>
            <a:avLst/>
            <a:gdLst/>
            <a:ahLst/>
            <a:cxnLst/>
            <a:rect l="l" t="t" r="r" b="b"/>
            <a:pathLst>
              <a:path w="5611458" h="5860651">
                <a:moveTo>
                  <a:pt x="36917" y="0"/>
                </a:moveTo>
                <a:lnTo>
                  <a:pt x="5537611" y="0"/>
                </a:lnTo>
                <a:cubicBezTo>
                  <a:pt x="5578396" y="0"/>
                  <a:pt x="5611458" y="33062"/>
                  <a:pt x="5611458" y="73847"/>
                </a:cubicBezTo>
                <a:lnTo>
                  <a:pt x="5611458" y="5786804"/>
                </a:lnTo>
                <a:cubicBezTo>
                  <a:pt x="5611458" y="5827589"/>
                  <a:pt x="5578396" y="5860651"/>
                  <a:pt x="5537611" y="5860651"/>
                </a:cubicBezTo>
                <a:lnTo>
                  <a:pt x="36917" y="5860651"/>
                </a:lnTo>
                <a:cubicBezTo>
                  <a:pt x="16529" y="5860651"/>
                  <a:pt x="0" y="5844123"/>
                  <a:pt x="0" y="5823734"/>
                </a:cubicBezTo>
                <a:lnTo>
                  <a:pt x="0" y="36917"/>
                </a:lnTo>
                <a:cubicBezTo>
                  <a:pt x="0" y="16542"/>
                  <a:pt x="16542" y="0"/>
                  <a:pt x="3691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5376" dist="3691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06176" y="996772"/>
            <a:ext cx="36917" cy="5860651"/>
          </a:xfrm>
          <a:custGeom>
            <a:avLst/>
            <a:gdLst/>
            <a:ahLst/>
            <a:cxnLst/>
            <a:rect l="l" t="t" r="r" b="b"/>
            <a:pathLst>
              <a:path w="36917" h="5860651">
                <a:moveTo>
                  <a:pt x="36917" y="0"/>
                </a:moveTo>
                <a:lnTo>
                  <a:pt x="36917" y="0"/>
                </a:lnTo>
                <a:lnTo>
                  <a:pt x="36917" y="5860651"/>
                </a:lnTo>
                <a:lnTo>
                  <a:pt x="36917" y="5860651"/>
                </a:lnTo>
                <a:cubicBezTo>
                  <a:pt x="16529" y="5860651"/>
                  <a:pt x="0" y="5844123"/>
                  <a:pt x="0" y="5823734"/>
                </a:cubicBezTo>
                <a:lnTo>
                  <a:pt x="0" y="36917"/>
                </a:lnTo>
                <a:cubicBezTo>
                  <a:pt x="0" y="16542"/>
                  <a:pt x="16542" y="0"/>
                  <a:pt x="36917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409222" y="1199818"/>
            <a:ext cx="276881" cy="221505"/>
          </a:xfrm>
          <a:custGeom>
            <a:avLst/>
            <a:gdLst/>
            <a:ahLst/>
            <a:cxnLst/>
            <a:rect l="l" t="t" r="r" b="b"/>
            <a:pathLst>
              <a:path w="276881" h="221505">
                <a:moveTo>
                  <a:pt x="138441" y="6922"/>
                </a:moveTo>
                <a:cubicBezTo>
                  <a:pt x="163273" y="6922"/>
                  <a:pt x="183434" y="27083"/>
                  <a:pt x="183434" y="51915"/>
                </a:cubicBezTo>
                <a:cubicBezTo>
                  <a:pt x="183434" y="76748"/>
                  <a:pt x="163273" y="96908"/>
                  <a:pt x="138441" y="96908"/>
                </a:cubicBezTo>
                <a:cubicBezTo>
                  <a:pt x="113608" y="96908"/>
                  <a:pt x="93447" y="76748"/>
                  <a:pt x="93447" y="51915"/>
                </a:cubicBezTo>
                <a:cubicBezTo>
                  <a:pt x="93447" y="27083"/>
                  <a:pt x="113608" y="6922"/>
                  <a:pt x="138441" y="6922"/>
                </a:cubicBezTo>
                <a:close/>
                <a:moveTo>
                  <a:pt x="41532" y="38071"/>
                </a:moveTo>
                <a:cubicBezTo>
                  <a:pt x="58724" y="38071"/>
                  <a:pt x="72681" y="52029"/>
                  <a:pt x="72681" y="69220"/>
                </a:cubicBezTo>
                <a:cubicBezTo>
                  <a:pt x="72681" y="86412"/>
                  <a:pt x="58724" y="100369"/>
                  <a:pt x="41532" y="100369"/>
                </a:cubicBezTo>
                <a:cubicBezTo>
                  <a:pt x="24341" y="100369"/>
                  <a:pt x="10383" y="86412"/>
                  <a:pt x="10383" y="69220"/>
                </a:cubicBezTo>
                <a:cubicBezTo>
                  <a:pt x="10383" y="52029"/>
                  <a:pt x="24341" y="38071"/>
                  <a:pt x="41532" y="38071"/>
                </a:cubicBezTo>
                <a:close/>
                <a:moveTo>
                  <a:pt x="0" y="179973"/>
                </a:moveTo>
                <a:cubicBezTo>
                  <a:pt x="0" y="149386"/>
                  <a:pt x="24790" y="124597"/>
                  <a:pt x="55376" y="124597"/>
                </a:cubicBezTo>
                <a:cubicBezTo>
                  <a:pt x="60914" y="124597"/>
                  <a:pt x="66278" y="125419"/>
                  <a:pt x="71340" y="126933"/>
                </a:cubicBezTo>
                <a:cubicBezTo>
                  <a:pt x="57107" y="142853"/>
                  <a:pt x="48454" y="163879"/>
                  <a:pt x="48454" y="186895"/>
                </a:cubicBezTo>
                <a:lnTo>
                  <a:pt x="48454" y="193817"/>
                </a:lnTo>
                <a:cubicBezTo>
                  <a:pt x="48454" y="198749"/>
                  <a:pt x="49493" y="203421"/>
                  <a:pt x="51353" y="207661"/>
                </a:cubicBezTo>
                <a:lnTo>
                  <a:pt x="13844" y="207661"/>
                </a:lnTo>
                <a:cubicBezTo>
                  <a:pt x="6187" y="207661"/>
                  <a:pt x="0" y="201474"/>
                  <a:pt x="0" y="193817"/>
                </a:cubicBezTo>
                <a:lnTo>
                  <a:pt x="0" y="179973"/>
                </a:lnTo>
                <a:close/>
                <a:moveTo>
                  <a:pt x="225528" y="207661"/>
                </a:moveTo>
                <a:cubicBezTo>
                  <a:pt x="227389" y="203421"/>
                  <a:pt x="228427" y="198749"/>
                  <a:pt x="228427" y="193817"/>
                </a:cubicBezTo>
                <a:lnTo>
                  <a:pt x="228427" y="186895"/>
                </a:lnTo>
                <a:cubicBezTo>
                  <a:pt x="228427" y="163879"/>
                  <a:pt x="219774" y="142853"/>
                  <a:pt x="205541" y="126933"/>
                </a:cubicBezTo>
                <a:cubicBezTo>
                  <a:pt x="210603" y="125419"/>
                  <a:pt x="215967" y="124597"/>
                  <a:pt x="221505" y="124597"/>
                </a:cubicBezTo>
                <a:cubicBezTo>
                  <a:pt x="252092" y="124597"/>
                  <a:pt x="276881" y="149386"/>
                  <a:pt x="276881" y="179973"/>
                </a:cubicBezTo>
                <a:lnTo>
                  <a:pt x="276881" y="193817"/>
                </a:lnTo>
                <a:cubicBezTo>
                  <a:pt x="276881" y="201474"/>
                  <a:pt x="270695" y="207661"/>
                  <a:pt x="263037" y="207661"/>
                </a:cubicBezTo>
                <a:lnTo>
                  <a:pt x="225528" y="207661"/>
                </a:lnTo>
                <a:close/>
                <a:moveTo>
                  <a:pt x="204200" y="69220"/>
                </a:moveTo>
                <a:cubicBezTo>
                  <a:pt x="204200" y="52029"/>
                  <a:pt x="218157" y="38071"/>
                  <a:pt x="235349" y="38071"/>
                </a:cubicBezTo>
                <a:cubicBezTo>
                  <a:pt x="252541" y="38071"/>
                  <a:pt x="266498" y="52029"/>
                  <a:pt x="266498" y="69220"/>
                </a:cubicBezTo>
                <a:cubicBezTo>
                  <a:pt x="266498" y="86412"/>
                  <a:pt x="252541" y="100369"/>
                  <a:pt x="235349" y="100369"/>
                </a:cubicBezTo>
                <a:cubicBezTo>
                  <a:pt x="218157" y="100369"/>
                  <a:pt x="204200" y="86412"/>
                  <a:pt x="204200" y="69220"/>
                </a:cubicBezTo>
                <a:close/>
                <a:moveTo>
                  <a:pt x="69220" y="186895"/>
                </a:moveTo>
                <a:cubicBezTo>
                  <a:pt x="69220" y="148651"/>
                  <a:pt x="100196" y="117674"/>
                  <a:pt x="138441" y="117674"/>
                </a:cubicBezTo>
                <a:cubicBezTo>
                  <a:pt x="176685" y="117674"/>
                  <a:pt x="207661" y="148651"/>
                  <a:pt x="207661" y="186895"/>
                </a:cubicBezTo>
                <a:lnTo>
                  <a:pt x="207661" y="193817"/>
                </a:lnTo>
                <a:cubicBezTo>
                  <a:pt x="207661" y="201474"/>
                  <a:pt x="201474" y="207661"/>
                  <a:pt x="193817" y="207661"/>
                </a:cubicBezTo>
                <a:lnTo>
                  <a:pt x="83064" y="207661"/>
                </a:lnTo>
                <a:cubicBezTo>
                  <a:pt x="75407" y="207661"/>
                  <a:pt x="69220" y="201474"/>
                  <a:pt x="69220" y="193817"/>
                </a:cubicBezTo>
                <a:lnTo>
                  <a:pt x="69220" y="186895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796855" y="1181360"/>
            <a:ext cx="2242737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3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 Audience Validation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27681" y="1587452"/>
            <a:ext cx="5205366" cy="1181360"/>
          </a:xfrm>
          <a:custGeom>
            <a:avLst/>
            <a:gdLst/>
            <a:ahLst/>
            <a:cxnLst/>
            <a:rect l="l" t="t" r="r" b="b"/>
            <a:pathLst>
              <a:path w="5205366" h="1181360">
                <a:moveTo>
                  <a:pt x="36917" y="0"/>
                </a:moveTo>
                <a:lnTo>
                  <a:pt x="5131531" y="0"/>
                </a:lnTo>
                <a:cubicBezTo>
                  <a:pt x="5172309" y="0"/>
                  <a:pt x="5205366" y="33057"/>
                  <a:pt x="5205366" y="73835"/>
                </a:cubicBezTo>
                <a:lnTo>
                  <a:pt x="5205366" y="1107525"/>
                </a:lnTo>
                <a:cubicBezTo>
                  <a:pt x="5205366" y="1148303"/>
                  <a:pt x="5172309" y="1181360"/>
                  <a:pt x="5131531" y="1181360"/>
                </a:cubicBezTo>
                <a:lnTo>
                  <a:pt x="36917" y="1181360"/>
                </a:lnTo>
                <a:cubicBezTo>
                  <a:pt x="16529" y="1181360"/>
                  <a:pt x="0" y="1164831"/>
                  <a:pt x="0" y="1144442"/>
                </a:cubicBezTo>
                <a:lnTo>
                  <a:pt x="0" y="36917"/>
                </a:lnTo>
                <a:cubicBezTo>
                  <a:pt x="0" y="16542"/>
                  <a:pt x="16542" y="0"/>
                  <a:pt x="36917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427681" y="1587452"/>
            <a:ext cx="36917" cy="1181360"/>
          </a:xfrm>
          <a:custGeom>
            <a:avLst/>
            <a:gdLst/>
            <a:ahLst/>
            <a:cxnLst/>
            <a:rect l="l" t="t" r="r" b="b"/>
            <a:pathLst>
              <a:path w="36917" h="1181360">
                <a:moveTo>
                  <a:pt x="36917" y="0"/>
                </a:moveTo>
                <a:lnTo>
                  <a:pt x="36917" y="0"/>
                </a:lnTo>
                <a:lnTo>
                  <a:pt x="36917" y="1181360"/>
                </a:lnTo>
                <a:lnTo>
                  <a:pt x="36917" y="1181360"/>
                </a:lnTo>
                <a:cubicBezTo>
                  <a:pt x="16529" y="1181360"/>
                  <a:pt x="0" y="1164831"/>
                  <a:pt x="0" y="1144442"/>
                </a:cubicBezTo>
                <a:lnTo>
                  <a:pt x="0" y="36917"/>
                </a:lnTo>
                <a:cubicBezTo>
                  <a:pt x="0" y="16542"/>
                  <a:pt x="16542" y="0"/>
                  <a:pt x="36917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593809" y="1735122"/>
            <a:ext cx="369175" cy="369175"/>
          </a:xfrm>
          <a:custGeom>
            <a:avLst/>
            <a:gdLst/>
            <a:ahLst/>
            <a:cxnLst/>
            <a:rect l="l" t="t" r="r" b="b"/>
            <a:pathLst>
              <a:path w="369175" h="369175">
                <a:moveTo>
                  <a:pt x="184587" y="0"/>
                </a:moveTo>
                <a:lnTo>
                  <a:pt x="184587" y="0"/>
                </a:lnTo>
                <a:cubicBezTo>
                  <a:pt x="286464" y="0"/>
                  <a:pt x="369175" y="82711"/>
                  <a:pt x="369175" y="184587"/>
                </a:cubicBezTo>
                <a:lnTo>
                  <a:pt x="369175" y="184587"/>
                </a:lnTo>
                <a:cubicBezTo>
                  <a:pt x="369175" y="286464"/>
                  <a:pt x="286464" y="369175"/>
                  <a:pt x="184587" y="369175"/>
                </a:cubicBezTo>
                <a:lnTo>
                  <a:pt x="184587" y="369175"/>
                </a:lnTo>
                <a:cubicBezTo>
                  <a:pt x="82711" y="369175"/>
                  <a:pt x="0" y="286464"/>
                  <a:pt x="0" y="184587"/>
                </a:cubicBezTo>
                <a:lnTo>
                  <a:pt x="0" y="184587"/>
                </a:lnTo>
                <a:cubicBezTo>
                  <a:pt x="0" y="82711"/>
                  <a:pt x="82711" y="0"/>
                  <a:pt x="184587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713791" y="1845874"/>
            <a:ext cx="129211" cy="147670"/>
          </a:xfrm>
          <a:custGeom>
            <a:avLst/>
            <a:gdLst/>
            <a:ahLst/>
            <a:cxnLst/>
            <a:rect l="l" t="t" r="r" b="b"/>
            <a:pathLst>
              <a:path w="129211" h="147670">
                <a:moveTo>
                  <a:pt x="64606" y="71528"/>
                </a:moveTo>
                <a:cubicBezTo>
                  <a:pt x="45504" y="71528"/>
                  <a:pt x="29995" y="56019"/>
                  <a:pt x="29995" y="36917"/>
                </a:cubicBezTo>
                <a:cubicBezTo>
                  <a:pt x="29995" y="17816"/>
                  <a:pt x="45504" y="2307"/>
                  <a:pt x="64606" y="2307"/>
                </a:cubicBezTo>
                <a:cubicBezTo>
                  <a:pt x="83707" y="2307"/>
                  <a:pt x="99216" y="17816"/>
                  <a:pt x="99216" y="36917"/>
                </a:cubicBezTo>
                <a:cubicBezTo>
                  <a:pt x="99216" y="56019"/>
                  <a:pt x="83707" y="71528"/>
                  <a:pt x="64606" y="71528"/>
                </a:cubicBezTo>
                <a:close/>
                <a:moveTo>
                  <a:pt x="55809" y="87679"/>
                </a:moveTo>
                <a:lnTo>
                  <a:pt x="73402" y="87679"/>
                </a:lnTo>
                <a:cubicBezTo>
                  <a:pt x="76200" y="87679"/>
                  <a:pt x="78450" y="89929"/>
                  <a:pt x="78450" y="92726"/>
                </a:cubicBezTo>
                <a:cubicBezTo>
                  <a:pt x="78450" y="93938"/>
                  <a:pt x="78017" y="95091"/>
                  <a:pt x="77238" y="96014"/>
                </a:cubicBezTo>
                <a:lnTo>
                  <a:pt x="69336" y="105244"/>
                </a:lnTo>
                <a:lnTo>
                  <a:pt x="78277" y="138441"/>
                </a:lnTo>
                <a:lnTo>
                  <a:pt x="78450" y="138441"/>
                </a:lnTo>
                <a:lnTo>
                  <a:pt x="88429" y="98495"/>
                </a:lnTo>
                <a:cubicBezTo>
                  <a:pt x="89063" y="95985"/>
                  <a:pt x="91630" y="94457"/>
                  <a:pt x="94053" y="95380"/>
                </a:cubicBezTo>
                <a:cubicBezTo>
                  <a:pt x="111906" y="102186"/>
                  <a:pt x="124597" y="119492"/>
                  <a:pt x="124597" y="139738"/>
                </a:cubicBezTo>
                <a:cubicBezTo>
                  <a:pt x="124597" y="144094"/>
                  <a:pt x="121049" y="147641"/>
                  <a:pt x="116694" y="147641"/>
                </a:cubicBezTo>
                <a:lnTo>
                  <a:pt x="12517" y="147670"/>
                </a:lnTo>
                <a:cubicBezTo>
                  <a:pt x="8162" y="147670"/>
                  <a:pt x="4615" y="144122"/>
                  <a:pt x="4615" y="139767"/>
                </a:cubicBezTo>
                <a:cubicBezTo>
                  <a:pt x="4615" y="119520"/>
                  <a:pt x="17305" y="102215"/>
                  <a:pt x="35158" y="95409"/>
                </a:cubicBezTo>
                <a:cubicBezTo>
                  <a:pt x="37581" y="94486"/>
                  <a:pt x="40148" y="96014"/>
                  <a:pt x="40782" y="98524"/>
                </a:cubicBezTo>
                <a:lnTo>
                  <a:pt x="50762" y="138469"/>
                </a:lnTo>
                <a:lnTo>
                  <a:pt x="50935" y="138469"/>
                </a:lnTo>
                <a:lnTo>
                  <a:pt x="59876" y="105273"/>
                </a:lnTo>
                <a:lnTo>
                  <a:pt x="51973" y="96043"/>
                </a:lnTo>
                <a:cubicBezTo>
                  <a:pt x="51194" y="95120"/>
                  <a:pt x="50762" y="93967"/>
                  <a:pt x="50762" y="92755"/>
                </a:cubicBezTo>
                <a:cubicBezTo>
                  <a:pt x="50762" y="89958"/>
                  <a:pt x="53011" y="87708"/>
                  <a:pt x="55809" y="8770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073737" y="1790498"/>
            <a:ext cx="1421323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HNWI expert test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93809" y="2178132"/>
            <a:ext cx="4965402" cy="44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it feel worthy of an automotive professional? Sophisticated, not gimmicky?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27681" y="2916481"/>
            <a:ext cx="5205366" cy="959855"/>
          </a:xfrm>
          <a:custGeom>
            <a:avLst/>
            <a:gdLst/>
            <a:ahLst/>
            <a:cxnLst/>
            <a:rect l="l" t="t" r="r" b="b"/>
            <a:pathLst>
              <a:path w="5205366" h="959855">
                <a:moveTo>
                  <a:pt x="36917" y="0"/>
                </a:moveTo>
                <a:lnTo>
                  <a:pt x="5131534" y="0"/>
                </a:lnTo>
                <a:cubicBezTo>
                  <a:pt x="5172310" y="0"/>
                  <a:pt x="5205366" y="33056"/>
                  <a:pt x="5205366" y="73832"/>
                </a:cubicBezTo>
                <a:lnTo>
                  <a:pt x="5205366" y="886023"/>
                </a:lnTo>
                <a:cubicBezTo>
                  <a:pt x="5205366" y="926799"/>
                  <a:pt x="5172310" y="959855"/>
                  <a:pt x="5131534" y="959855"/>
                </a:cubicBezTo>
                <a:lnTo>
                  <a:pt x="36917" y="959855"/>
                </a:lnTo>
                <a:cubicBezTo>
                  <a:pt x="16529" y="959855"/>
                  <a:pt x="0" y="943326"/>
                  <a:pt x="0" y="922937"/>
                </a:cubicBezTo>
                <a:lnTo>
                  <a:pt x="0" y="36917"/>
                </a:lnTo>
                <a:cubicBezTo>
                  <a:pt x="0" y="16542"/>
                  <a:pt x="16542" y="0"/>
                  <a:pt x="36917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427681" y="2916481"/>
            <a:ext cx="36917" cy="959855"/>
          </a:xfrm>
          <a:custGeom>
            <a:avLst/>
            <a:gdLst/>
            <a:ahLst/>
            <a:cxnLst/>
            <a:rect l="l" t="t" r="r" b="b"/>
            <a:pathLst>
              <a:path w="36917" h="959855">
                <a:moveTo>
                  <a:pt x="36917" y="0"/>
                </a:moveTo>
                <a:lnTo>
                  <a:pt x="36917" y="0"/>
                </a:lnTo>
                <a:lnTo>
                  <a:pt x="36917" y="959855"/>
                </a:lnTo>
                <a:lnTo>
                  <a:pt x="36917" y="959855"/>
                </a:lnTo>
                <a:cubicBezTo>
                  <a:pt x="16529" y="959855"/>
                  <a:pt x="0" y="943326"/>
                  <a:pt x="0" y="922937"/>
                </a:cubicBezTo>
                <a:lnTo>
                  <a:pt x="0" y="36917"/>
                </a:lnTo>
                <a:cubicBezTo>
                  <a:pt x="0" y="16542"/>
                  <a:pt x="16542" y="0"/>
                  <a:pt x="36917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593809" y="3064151"/>
            <a:ext cx="369175" cy="369175"/>
          </a:xfrm>
          <a:custGeom>
            <a:avLst/>
            <a:gdLst/>
            <a:ahLst/>
            <a:cxnLst/>
            <a:rect l="l" t="t" r="r" b="b"/>
            <a:pathLst>
              <a:path w="369175" h="369175">
                <a:moveTo>
                  <a:pt x="184587" y="0"/>
                </a:moveTo>
                <a:lnTo>
                  <a:pt x="184587" y="0"/>
                </a:lnTo>
                <a:cubicBezTo>
                  <a:pt x="286464" y="0"/>
                  <a:pt x="369175" y="82711"/>
                  <a:pt x="369175" y="184587"/>
                </a:cubicBezTo>
                <a:lnTo>
                  <a:pt x="369175" y="184587"/>
                </a:lnTo>
                <a:cubicBezTo>
                  <a:pt x="369175" y="286464"/>
                  <a:pt x="286464" y="369175"/>
                  <a:pt x="184587" y="369175"/>
                </a:cubicBezTo>
                <a:lnTo>
                  <a:pt x="184587" y="369175"/>
                </a:lnTo>
                <a:cubicBezTo>
                  <a:pt x="82711" y="369175"/>
                  <a:pt x="0" y="286464"/>
                  <a:pt x="0" y="184587"/>
                </a:cubicBezTo>
                <a:lnTo>
                  <a:pt x="0" y="184587"/>
                </a:lnTo>
                <a:cubicBezTo>
                  <a:pt x="0" y="82711"/>
                  <a:pt x="82711" y="0"/>
                  <a:pt x="184587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723020" y="3174904"/>
            <a:ext cx="110752" cy="147670"/>
          </a:xfrm>
          <a:custGeom>
            <a:avLst/>
            <a:gdLst/>
            <a:ahLst/>
            <a:cxnLst/>
            <a:rect l="l" t="t" r="r" b="b"/>
            <a:pathLst>
              <a:path w="110752" h="147670">
                <a:moveTo>
                  <a:pt x="4615" y="18459"/>
                </a:moveTo>
                <a:cubicBezTo>
                  <a:pt x="4615" y="8278"/>
                  <a:pt x="12892" y="0"/>
                  <a:pt x="23073" y="0"/>
                </a:cubicBezTo>
                <a:lnTo>
                  <a:pt x="87679" y="0"/>
                </a:lnTo>
                <a:cubicBezTo>
                  <a:pt x="97860" y="0"/>
                  <a:pt x="106138" y="8278"/>
                  <a:pt x="106138" y="18459"/>
                </a:cubicBezTo>
                <a:lnTo>
                  <a:pt x="106138" y="129211"/>
                </a:lnTo>
                <a:cubicBezTo>
                  <a:pt x="106138" y="139392"/>
                  <a:pt x="97860" y="147670"/>
                  <a:pt x="87679" y="147670"/>
                </a:cubicBezTo>
                <a:lnTo>
                  <a:pt x="23073" y="147670"/>
                </a:lnTo>
                <a:cubicBezTo>
                  <a:pt x="12892" y="147670"/>
                  <a:pt x="4615" y="139392"/>
                  <a:pt x="4615" y="129211"/>
                </a:cubicBezTo>
                <a:lnTo>
                  <a:pt x="4615" y="18459"/>
                </a:lnTo>
                <a:close/>
                <a:moveTo>
                  <a:pt x="23073" y="18459"/>
                </a:moveTo>
                <a:lnTo>
                  <a:pt x="23073" y="106138"/>
                </a:lnTo>
                <a:lnTo>
                  <a:pt x="87679" y="106138"/>
                </a:lnTo>
                <a:lnTo>
                  <a:pt x="87679" y="18459"/>
                </a:lnTo>
                <a:lnTo>
                  <a:pt x="23073" y="18459"/>
                </a:lnTo>
                <a:close/>
                <a:moveTo>
                  <a:pt x="55376" y="136133"/>
                </a:moveTo>
                <a:cubicBezTo>
                  <a:pt x="60481" y="136133"/>
                  <a:pt x="64606" y="132009"/>
                  <a:pt x="64606" y="126904"/>
                </a:cubicBezTo>
                <a:cubicBezTo>
                  <a:pt x="64606" y="121799"/>
                  <a:pt x="60481" y="117674"/>
                  <a:pt x="55376" y="117674"/>
                </a:cubicBezTo>
                <a:cubicBezTo>
                  <a:pt x="50271" y="117674"/>
                  <a:pt x="46147" y="121799"/>
                  <a:pt x="46147" y="126904"/>
                </a:cubicBezTo>
                <a:cubicBezTo>
                  <a:pt x="46147" y="132009"/>
                  <a:pt x="50271" y="136133"/>
                  <a:pt x="55376" y="13613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073737" y="3119528"/>
            <a:ext cx="1698204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Teen impression test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593809" y="3507161"/>
            <a:ext cx="4965402" cy="22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3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reaction to startup and Sport/Street modes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50" y="419100"/>
            <a:ext cx="388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9. Progress &amp; Roadmap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066800"/>
            <a:ext cx="11410950" cy="1257300"/>
          </a:xfrm>
          <a:custGeom>
            <a:avLst/>
            <a:gdLst/>
            <a:ahLst/>
            <a:cxnLst/>
            <a:rect l="l" t="t" r="r" b="b"/>
            <a:pathLst>
              <a:path w="11410950" h="1257300">
                <a:moveTo>
                  <a:pt x="38100" y="0"/>
                </a:moveTo>
                <a:lnTo>
                  <a:pt x="11334745" y="0"/>
                </a:lnTo>
                <a:cubicBezTo>
                  <a:pt x="11376832" y="0"/>
                  <a:pt x="11410950" y="34118"/>
                  <a:pt x="11410950" y="76205"/>
                </a:cubicBezTo>
                <a:lnTo>
                  <a:pt x="11410950" y="1181095"/>
                </a:lnTo>
                <a:cubicBezTo>
                  <a:pt x="11410950" y="1223182"/>
                  <a:pt x="11376832" y="1257300"/>
                  <a:pt x="1133474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10668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600" y="1257300"/>
            <a:ext cx="1000125" cy="266700"/>
          </a:xfrm>
          <a:custGeom>
            <a:avLst/>
            <a:gdLst/>
            <a:ahLst/>
            <a:cxnLst/>
            <a:rect l="l" t="t" r="r" b="b"/>
            <a:pathLst>
              <a:path w="1000125" h="266700">
                <a:moveTo>
                  <a:pt x="133350" y="0"/>
                </a:moveTo>
                <a:lnTo>
                  <a:pt x="866775" y="0"/>
                </a:lnTo>
                <a:cubicBezTo>
                  <a:pt x="940373" y="0"/>
                  <a:pt x="1000125" y="59752"/>
                  <a:pt x="1000125" y="133350"/>
                </a:cubicBezTo>
                <a:lnTo>
                  <a:pt x="1000125" y="133350"/>
                </a:lnTo>
                <a:cubicBezTo>
                  <a:pt x="1000125" y="206948"/>
                  <a:pt x="940373" y="266700"/>
                  <a:pt x="8667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9600" y="1257300"/>
            <a:ext cx="10668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24323" y="125730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Figma Prototype 1 (Feb 2–6)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3413" y="1714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2025" y="1676400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Street and Sports mode dashboard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05538" y="1714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20160" y="1676400"/>
            <a:ext cx="5172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 library foundation, project documentation (PRD, Design Brief, Tech Specs)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2915354"/>
            <a:ext cx="11410950" cy="1409700"/>
          </a:xfrm>
          <a:custGeom>
            <a:avLst/>
            <a:gdLst/>
            <a:ahLst/>
            <a:cxnLst/>
            <a:rect l="l" t="t" r="r" b="b"/>
            <a:pathLst>
              <a:path w="11410950" h="1409700">
                <a:moveTo>
                  <a:pt x="38100" y="0"/>
                </a:moveTo>
                <a:lnTo>
                  <a:pt x="11334756" y="0"/>
                </a:lnTo>
                <a:cubicBezTo>
                  <a:pt x="11376808" y="0"/>
                  <a:pt x="11410950" y="34142"/>
                  <a:pt x="11410950" y="76194"/>
                </a:cubicBezTo>
                <a:lnTo>
                  <a:pt x="11410950" y="1333506"/>
                </a:lnTo>
                <a:cubicBezTo>
                  <a:pt x="11410950" y="1375587"/>
                  <a:pt x="11376837" y="1409700"/>
                  <a:pt x="1133475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2915354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9600" y="3105854"/>
            <a:ext cx="1066800" cy="266700"/>
          </a:xfrm>
          <a:custGeom>
            <a:avLst/>
            <a:gdLst/>
            <a:ahLst/>
            <a:cxnLst/>
            <a:rect l="l" t="t" r="r" b="b"/>
            <a:pathLst>
              <a:path w="1066800" h="266700">
                <a:moveTo>
                  <a:pt x="133350" y="0"/>
                </a:moveTo>
                <a:lnTo>
                  <a:pt x="933450" y="0"/>
                </a:lnTo>
                <a:cubicBezTo>
                  <a:pt x="1007048" y="0"/>
                  <a:pt x="1066800" y="59752"/>
                  <a:pt x="1066800" y="133350"/>
                </a:cubicBezTo>
                <a:lnTo>
                  <a:pt x="1066800" y="133350"/>
                </a:lnTo>
                <a:cubicBezTo>
                  <a:pt x="1066800" y="206948"/>
                  <a:pt x="1007048" y="266700"/>
                  <a:pt x="933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9600" y="3105854"/>
            <a:ext cx="11334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92486" y="3105854"/>
            <a:ext cx="401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GL Studio + Prototype 2 (Feb 9–20)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3413" y="356305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7391" y="17859"/>
                </a:moveTo>
                <a:cubicBezTo>
                  <a:pt x="77391" y="8003"/>
                  <a:pt x="85393" y="0"/>
                  <a:pt x="95250" y="0"/>
                </a:cubicBezTo>
                <a:cubicBezTo>
                  <a:pt x="105107" y="0"/>
                  <a:pt x="113109" y="8003"/>
                  <a:pt x="113109" y="17859"/>
                </a:cubicBezTo>
                <a:cubicBezTo>
                  <a:pt x="113109" y="27716"/>
                  <a:pt x="105107" y="35719"/>
                  <a:pt x="95250" y="35719"/>
                </a:cubicBezTo>
                <a:cubicBezTo>
                  <a:pt x="85393" y="35719"/>
                  <a:pt x="77391" y="27716"/>
                  <a:pt x="77391" y="17859"/>
                </a:cubicBezTo>
                <a:close/>
                <a:moveTo>
                  <a:pt x="77391" y="172641"/>
                </a:moveTo>
                <a:cubicBezTo>
                  <a:pt x="77391" y="162784"/>
                  <a:pt x="85393" y="154781"/>
                  <a:pt x="95250" y="154781"/>
                </a:cubicBezTo>
                <a:cubicBezTo>
                  <a:pt x="105107" y="154781"/>
                  <a:pt x="113109" y="162784"/>
                  <a:pt x="113109" y="172641"/>
                </a:cubicBezTo>
                <a:cubicBezTo>
                  <a:pt x="113109" y="182497"/>
                  <a:pt x="105107" y="190500"/>
                  <a:pt x="95250" y="190500"/>
                </a:cubicBezTo>
                <a:cubicBezTo>
                  <a:pt x="85393" y="190500"/>
                  <a:pt x="77391" y="182497"/>
                  <a:pt x="77391" y="172641"/>
                </a:cubicBezTo>
                <a:close/>
                <a:moveTo>
                  <a:pt x="17859" y="77391"/>
                </a:moveTo>
                <a:cubicBezTo>
                  <a:pt x="27716" y="77391"/>
                  <a:pt x="35719" y="85393"/>
                  <a:pt x="35719" y="95250"/>
                </a:cubicBezTo>
                <a:cubicBezTo>
                  <a:pt x="35719" y="105107"/>
                  <a:pt x="27716" y="113109"/>
                  <a:pt x="17859" y="113109"/>
                </a:cubicBezTo>
                <a:cubicBezTo>
                  <a:pt x="8003" y="113109"/>
                  <a:pt x="0" y="105107"/>
                  <a:pt x="0" y="95250"/>
                </a:cubicBezTo>
                <a:cubicBezTo>
                  <a:pt x="0" y="85393"/>
                  <a:pt x="8003" y="77391"/>
                  <a:pt x="17859" y="77391"/>
                </a:cubicBezTo>
                <a:close/>
                <a:moveTo>
                  <a:pt x="154781" y="95250"/>
                </a:moveTo>
                <a:cubicBezTo>
                  <a:pt x="154781" y="85393"/>
                  <a:pt x="162784" y="77391"/>
                  <a:pt x="172641" y="77391"/>
                </a:cubicBezTo>
                <a:cubicBezTo>
                  <a:pt x="182497" y="77391"/>
                  <a:pt x="190500" y="85393"/>
                  <a:pt x="190500" y="95250"/>
                </a:cubicBezTo>
                <a:cubicBezTo>
                  <a:pt x="190500" y="105107"/>
                  <a:pt x="182497" y="113109"/>
                  <a:pt x="172641" y="113109"/>
                </a:cubicBezTo>
                <a:cubicBezTo>
                  <a:pt x="162784" y="113109"/>
                  <a:pt x="154781" y="105107"/>
                  <a:pt x="154781" y="95250"/>
                </a:cubicBezTo>
                <a:close/>
                <a:moveTo>
                  <a:pt x="27905" y="137331"/>
                </a:moveTo>
                <a:cubicBezTo>
                  <a:pt x="34877" y="130359"/>
                  <a:pt x="46197" y="130359"/>
                  <a:pt x="53169" y="137331"/>
                </a:cubicBezTo>
                <a:cubicBezTo>
                  <a:pt x="60141" y="144303"/>
                  <a:pt x="60141" y="155623"/>
                  <a:pt x="53169" y="162595"/>
                </a:cubicBezTo>
                <a:cubicBezTo>
                  <a:pt x="46197" y="169566"/>
                  <a:pt x="34877" y="169566"/>
                  <a:pt x="27905" y="162595"/>
                </a:cubicBezTo>
                <a:cubicBezTo>
                  <a:pt x="20934" y="155623"/>
                  <a:pt x="20934" y="144303"/>
                  <a:pt x="27905" y="137331"/>
                </a:cubicBezTo>
                <a:close/>
                <a:moveTo>
                  <a:pt x="27905" y="27905"/>
                </a:moveTo>
                <a:cubicBezTo>
                  <a:pt x="34877" y="20934"/>
                  <a:pt x="46197" y="20934"/>
                  <a:pt x="53169" y="27905"/>
                </a:cubicBezTo>
                <a:cubicBezTo>
                  <a:pt x="60141" y="34877"/>
                  <a:pt x="60141" y="46197"/>
                  <a:pt x="53169" y="53169"/>
                </a:cubicBezTo>
                <a:cubicBezTo>
                  <a:pt x="46197" y="60141"/>
                  <a:pt x="34877" y="60141"/>
                  <a:pt x="27905" y="53169"/>
                </a:cubicBezTo>
                <a:cubicBezTo>
                  <a:pt x="20934" y="46197"/>
                  <a:pt x="20934" y="34877"/>
                  <a:pt x="27905" y="27905"/>
                </a:cubicBezTo>
                <a:close/>
                <a:moveTo>
                  <a:pt x="162595" y="137331"/>
                </a:moveTo>
                <a:cubicBezTo>
                  <a:pt x="169571" y="144307"/>
                  <a:pt x="169571" y="155618"/>
                  <a:pt x="162595" y="162595"/>
                </a:cubicBezTo>
                <a:cubicBezTo>
                  <a:pt x="155618" y="169571"/>
                  <a:pt x="144307" y="169571"/>
                  <a:pt x="137331" y="162595"/>
                </a:cubicBezTo>
                <a:cubicBezTo>
                  <a:pt x="130355" y="155618"/>
                  <a:pt x="130355" y="144307"/>
                  <a:pt x="137331" y="137331"/>
                </a:cubicBezTo>
                <a:cubicBezTo>
                  <a:pt x="144307" y="130355"/>
                  <a:pt x="155618" y="130355"/>
                  <a:pt x="162595" y="137331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2025" y="3524954"/>
            <a:ext cx="450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 Studio installation, tutorials, component architecture exploration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5063" y="356305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7391" y="17859"/>
                </a:moveTo>
                <a:cubicBezTo>
                  <a:pt x="77391" y="8003"/>
                  <a:pt x="85393" y="0"/>
                  <a:pt x="95250" y="0"/>
                </a:cubicBezTo>
                <a:cubicBezTo>
                  <a:pt x="105107" y="0"/>
                  <a:pt x="113109" y="8003"/>
                  <a:pt x="113109" y="17859"/>
                </a:cubicBezTo>
                <a:cubicBezTo>
                  <a:pt x="113109" y="27716"/>
                  <a:pt x="105107" y="35719"/>
                  <a:pt x="95250" y="35719"/>
                </a:cubicBezTo>
                <a:cubicBezTo>
                  <a:pt x="85393" y="35719"/>
                  <a:pt x="77391" y="27716"/>
                  <a:pt x="77391" y="17859"/>
                </a:cubicBezTo>
                <a:close/>
                <a:moveTo>
                  <a:pt x="77391" y="172641"/>
                </a:moveTo>
                <a:cubicBezTo>
                  <a:pt x="77391" y="162784"/>
                  <a:pt x="85393" y="154781"/>
                  <a:pt x="95250" y="154781"/>
                </a:cubicBezTo>
                <a:cubicBezTo>
                  <a:pt x="105107" y="154781"/>
                  <a:pt x="113109" y="162784"/>
                  <a:pt x="113109" y="172641"/>
                </a:cubicBezTo>
                <a:cubicBezTo>
                  <a:pt x="113109" y="182497"/>
                  <a:pt x="105107" y="190500"/>
                  <a:pt x="95250" y="190500"/>
                </a:cubicBezTo>
                <a:cubicBezTo>
                  <a:pt x="85393" y="190500"/>
                  <a:pt x="77391" y="182497"/>
                  <a:pt x="77391" y="172641"/>
                </a:cubicBezTo>
                <a:close/>
                <a:moveTo>
                  <a:pt x="17859" y="77391"/>
                </a:moveTo>
                <a:cubicBezTo>
                  <a:pt x="27716" y="77391"/>
                  <a:pt x="35719" y="85393"/>
                  <a:pt x="35719" y="95250"/>
                </a:cubicBezTo>
                <a:cubicBezTo>
                  <a:pt x="35719" y="105107"/>
                  <a:pt x="27716" y="113109"/>
                  <a:pt x="17859" y="113109"/>
                </a:cubicBezTo>
                <a:cubicBezTo>
                  <a:pt x="8003" y="113109"/>
                  <a:pt x="0" y="105107"/>
                  <a:pt x="0" y="95250"/>
                </a:cubicBezTo>
                <a:cubicBezTo>
                  <a:pt x="0" y="85393"/>
                  <a:pt x="8003" y="77391"/>
                  <a:pt x="17859" y="77391"/>
                </a:cubicBezTo>
                <a:close/>
                <a:moveTo>
                  <a:pt x="154781" y="95250"/>
                </a:moveTo>
                <a:cubicBezTo>
                  <a:pt x="154781" y="85393"/>
                  <a:pt x="162784" y="77391"/>
                  <a:pt x="172641" y="77391"/>
                </a:cubicBezTo>
                <a:cubicBezTo>
                  <a:pt x="182497" y="77391"/>
                  <a:pt x="190500" y="85393"/>
                  <a:pt x="190500" y="95250"/>
                </a:cubicBezTo>
                <a:cubicBezTo>
                  <a:pt x="190500" y="105107"/>
                  <a:pt x="182497" y="113109"/>
                  <a:pt x="172641" y="113109"/>
                </a:cubicBezTo>
                <a:cubicBezTo>
                  <a:pt x="162784" y="113109"/>
                  <a:pt x="154781" y="105107"/>
                  <a:pt x="154781" y="95250"/>
                </a:cubicBezTo>
                <a:close/>
                <a:moveTo>
                  <a:pt x="27905" y="137331"/>
                </a:moveTo>
                <a:cubicBezTo>
                  <a:pt x="34877" y="130359"/>
                  <a:pt x="46197" y="130359"/>
                  <a:pt x="53169" y="137331"/>
                </a:cubicBezTo>
                <a:cubicBezTo>
                  <a:pt x="60141" y="144303"/>
                  <a:pt x="60141" y="155623"/>
                  <a:pt x="53169" y="162595"/>
                </a:cubicBezTo>
                <a:cubicBezTo>
                  <a:pt x="46197" y="169566"/>
                  <a:pt x="34877" y="169566"/>
                  <a:pt x="27905" y="162595"/>
                </a:cubicBezTo>
                <a:cubicBezTo>
                  <a:pt x="20934" y="155623"/>
                  <a:pt x="20934" y="144303"/>
                  <a:pt x="27905" y="137331"/>
                </a:cubicBezTo>
                <a:close/>
                <a:moveTo>
                  <a:pt x="27905" y="27905"/>
                </a:moveTo>
                <a:cubicBezTo>
                  <a:pt x="34877" y="20934"/>
                  <a:pt x="46197" y="20934"/>
                  <a:pt x="53169" y="27905"/>
                </a:cubicBezTo>
                <a:cubicBezTo>
                  <a:pt x="60141" y="34877"/>
                  <a:pt x="60141" y="46197"/>
                  <a:pt x="53169" y="53169"/>
                </a:cubicBezTo>
                <a:cubicBezTo>
                  <a:pt x="46197" y="60141"/>
                  <a:pt x="34877" y="60141"/>
                  <a:pt x="27905" y="53169"/>
                </a:cubicBezTo>
                <a:cubicBezTo>
                  <a:pt x="20934" y="46197"/>
                  <a:pt x="20934" y="34877"/>
                  <a:pt x="27905" y="27905"/>
                </a:cubicBezTo>
                <a:close/>
                <a:moveTo>
                  <a:pt x="162595" y="137331"/>
                </a:moveTo>
                <a:cubicBezTo>
                  <a:pt x="169571" y="144307"/>
                  <a:pt x="169571" y="155618"/>
                  <a:pt x="162595" y="162595"/>
                </a:cubicBezTo>
                <a:cubicBezTo>
                  <a:pt x="155618" y="169571"/>
                  <a:pt x="144307" y="169571"/>
                  <a:pt x="137331" y="162595"/>
                </a:cubicBezTo>
                <a:cubicBezTo>
                  <a:pt x="130355" y="155618"/>
                  <a:pt x="130355" y="144307"/>
                  <a:pt x="137331" y="137331"/>
                </a:cubicBezTo>
                <a:cubicBezTo>
                  <a:pt x="144307" y="130355"/>
                  <a:pt x="155618" y="130355"/>
                  <a:pt x="162595" y="137331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43675" y="3524954"/>
            <a:ext cx="450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Figma Prototype 2: Startup animations, Day and night modes added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3413" y="394405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7391" y="17859"/>
                </a:moveTo>
                <a:cubicBezTo>
                  <a:pt x="77391" y="8003"/>
                  <a:pt x="85393" y="0"/>
                  <a:pt x="95250" y="0"/>
                </a:cubicBezTo>
                <a:cubicBezTo>
                  <a:pt x="105107" y="0"/>
                  <a:pt x="113109" y="8003"/>
                  <a:pt x="113109" y="17859"/>
                </a:cubicBezTo>
                <a:cubicBezTo>
                  <a:pt x="113109" y="27716"/>
                  <a:pt x="105107" y="35719"/>
                  <a:pt x="95250" y="35719"/>
                </a:cubicBezTo>
                <a:cubicBezTo>
                  <a:pt x="85393" y="35719"/>
                  <a:pt x="77391" y="27716"/>
                  <a:pt x="77391" y="17859"/>
                </a:cubicBezTo>
                <a:close/>
                <a:moveTo>
                  <a:pt x="77391" y="172641"/>
                </a:moveTo>
                <a:cubicBezTo>
                  <a:pt x="77391" y="162784"/>
                  <a:pt x="85393" y="154781"/>
                  <a:pt x="95250" y="154781"/>
                </a:cubicBezTo>
                <a:cubicBezTo>
                  <a:pt x="105107" y="154781"/>
                  <a:pt x="113109" y="162784"/>
                  <a:pt x="113109" y="172641"/>
                </a:cubicBezTo>
                <a:cubicBezTo>
                  <a:pt x="113109" y="182497"/>
                  <a:pt x="105107" y="190500"/>
                  <a:pt x="95250" y="190500"/>
                </a:cubicBezTo>
                <a:cubicBezTo>
                  <a:pt x="85393" y="190500"/>
                  <a:pt x="77391" y="182497"/>
                  <a:pt x="77391" y="172641"/>
                </a:cubicBezTo>
                <a:close/>
                <a:moveTo>
                  <a:pt x="17859" y="77391"/>
                </a:moveTo>
                <a:cubicBezTo>
                  <a:pt x="27716" y="77391"/>
                  <a:pt x="35719" y="85393"/>
                  <a:pt x="35719" y="95250"/>
                </a:cubicBezTo>
                <a:cubicBezTo>
                  <a:pt x="35719" y="105107"/>
                  <a:pt x="27716" y="113109"/>
                  <a:pt x="17859" y="113109"/>
                </a:cubicBezTo>
                <a:cubicBezTo>
                  <a:pt x="8003" y="113109"/>
                  <a:pt x="0" y="105107"/>
                  <a:pt x="0" y="95250"/>
                </a:cubicBezTo>
                <a:cubicBezTo>
                  <a:pt x="0" y="85393"/>
                  <a:pt x="8003" y="77391"/>
                  <a:pt x="17859" y="77391"/>
                </a:cubicBezTo>
                <a:close/>
                <a:moveTo>
                  <a:pt x="154781" y="95250"/>
                </a:moveTo>
                <a:cubicBezTo>
                  <a:pt x="154781" y="85393"/>
                  <a:pt x="162784" y="77391"/>
                  <a:pt x="172641" y="77391"/>
                </a:cubicBezTo>
                <a:cubicBezTo>
                  <a:pt x="182497" y="77391"/>
                  <a:pt x="190500" y="85393"/>
                  <a:pt x="190500" y="95250"/>
                </a:cubicBezTo>
                <a:cubicBezTo>
                  <a:pt x="190500" y="105107"/>
                  <a:pt x="182497" y="113109"/>
                  <a:pt x="172641" y="113109"/>
                </a:cubicBezTo>
                <a:cubicBezTo>
                  <a:pt x="162784" y="113109"/>
                  <a:pt x="154781" y="105107"/>
                  <a:pt x="154781" y="95250"/>
                </a:cubicBezTo>
                <a:close/>
                <a:moveTo>
                  <a:pt x="27905" y="137331"/>
                </a:moveTo>
                <a:cubicBezTo>
                  <a:pt x="34877" y="130359"/>
                  <a:pt x="46197" y="130359"/>
                  <a:pt x="53169" y="137331"/>
                </a:cubicBezTo>
                <a:cubicBezTo>
                  <a:pt x="60141" y="144303"/>
                  <a:pt x="60141" y="155623"/>
                  <a:pt x="53169" y="162595"/>
                </a:cubicBezTo>
                <a:cubicBezTo>
                  <a:pt x="46197" y="169566"/>
                  <a:pt x="34877" y="169566"/>
                  <a:pt x="27905" y="162595"/>
                </a:cubicBezTo>
                <a:cubicBezTo>
                  <a:pt x="20934" y="155623"/>
                  <a:pt x="20934" y="144303"/>
                  <a:pt x="27905" y="137331"/>
                </a:cubicBezTo>
                <a:close/>
                <a:moveTo>
                  <a:pt x="27905" y="27905"/>
                </a:moveTo>
                <a:cubicBezTo>
                  <a:pt x="34877" y="20934"/>
                  <a:pt x="46197" y="20934"/>
                  <a:pt x="53169" y="27905"/>
                </a:cubicBezTo>
                <a:cubicBezTo>
                  <a:pt x="60141" y="34877"/>
                  <a:pt x="60141" y="46197"/>
                  <a:pt x="53169" y="53169"/>
                </a:cubicBezTo>
                <a:cubicBezTo>
                  <a:pt x="46197" y="60141"/>
                  <a:pt x="34877" y="60141"/>
                  <a:pt x="27905" y="53169"/>
                </a:cubicBezTo>
                <a:cubicBezTo>
                  <a:pt x="20934" y="46197"/>
                  <a:pt x="20934" y="34877"/>
                  <a:pt x="27905" y="27905"/>
                </a:cubicBezTo>
                <a:close/>
                <a:moveTo>
                  <a:pt x="162595" y="137331"/>
                </a:moveTo>
                <a:cubicBezTo>
                  <a:pt x="169571" y="144307"/>
                  <a:pt x="169571" y="155618"/>
                  <a:pt x="162595" y="162595"/>
                </a:cubicBezTo>
                <a:cubicBezTo>
                  <a:pt x="155618" y="169571"/>
                  <a:pt x="144307" y="169571"/>
                  <a:pt x="137331" y="162595"/>
                </a:cubicBezTo>
                <a:cubicBezTo>
                  <a:pt x="130355" y="155618"/>
                  <a:pt x="130355" y="144307"/>
                  <a:pt x="137331" y="137331"/>
                </a:cubicBezTo>
                <a:cubicBezTo>
                  <a:pt x="144307" y="130355"/>
                  <a:pt x="155618" y="130355"/>
                  <a:pt x="162595" y="137331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2025" y="3905954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variant system built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5063" y="394405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7391" y="17859"/>
                </a:moveTo>
                <a:cubicBezTo>
                  <a:pt x="77391" y="8003"/>
                  <a:pt x="85393" y="0"/>
                  <a:pt x="95250" y="0"/>
                </a:cubicBezTo>
                <a:cubicBezTo>
                  <a:pt x="105107" y="0"/>
                  <a:pt x="113109" y="8003"/>
                  <a:pt x="113109" y="17859"/>
                </a:cubicBezTo>
                <a:cubicBezTo>
                  <a:pt x="113109" y="27716"/>
                  <a:pt x="105107" y="35719"/>
                  <a:pt x="95250" y="35719"/>
                </a:cubicBezTo>
                <a:cubicBezTo>
                  <a:pt x="85393" y="35719"/>
                  <a:pt x="77391" y="27716"/>
                  <a:pt x="77391" y="17859"/>
                </a:cubicBezTo>
                <a:close/>
                <a:moveTo>
                  <a:pt x="77391" y="172641"/>
                </a:moveTo>
                <a:cubicBezTo>
                  <a:pt x="77391" y="162784"/>
                  <a:pt x="85393" y="154781"/>
                  <a:pt x="95250" y="154781"/>
                </a:cubicBezTo>
                <a:cubicBezTo>
                  <a:pt x="105107" y="154781"/>
                  <a:pt x="113109" y="162784"/>
                  <a:pt x="113109" y="172641"/>
                </a:cubicBezTo>
                <a:cubicBezTo>
                  <a:pt x="113109" y="182497"/>
                  <a:pt x="105107" y="190500"/>
                  <a:pt x="95250" y="190500"/>
                </a:cubicBezTo>
                <a:cubicBezTo>
                  <a:pt x="85393" y="190500"/>
                  <a:pt x="77391" y="182497"/>
                  <a:pt x="77391" y="172641"/>
                </a:cubicBezTo>
                <a:close/>
                <a:moveTo>
                  <a:pt x="17859" y="77391"/>
                </a:moveTo>
                <a:cubicBezTo>
                  <a:pt x="27716" y="77391"/>
                  <a:pt x="35719" y="85393"/>
                  <a:pt x="35719" y="95250"/>
                </a:cubicBezTo>
                <a:cubicBezTo>
                  <a:pt x="35719" y="105107"/>
                  <a:pt x="27716" y="113109"/>
                  <a:pt x="17859" y="113109"/>
                </a:cubicBezTo>
                <a:cubicBezTo>
                  <a:pt x="8003" y="113109"/>
                  <a:pt x="0" y="105107"/>
                  <a:pt x="0" y="95250"/>
                </a:cubicBezTo>
                <a:cubicBezTo>
                  <a:pt x="0" y="85393"/>
                  <a:pt x="8003" y="77391"/>
                  <a:pt x="17859" y="77391"/>
                </a:cubicBezTo>
                <a:close/>
                <a:moveTo>
                  <a:pt x="154781" y="95250"/>
                </a:moveTo>
                <a:cubicBezTo>
                  <a:pt x="154781" y="85393"/>
                  <a:pt x="162784" y="77391"/>
                  <a:pt x="172641" y="77391"/>
                </a:cubicBezTo>
                <a:cubicBezTo>
                  <a:pt x="182497" y="77391"/>
                  <a:pt x="190500" y="85393"/>
                  <a:pt x="190500" y="95250"/>
                </a:cubicBezTo>
                <a:cubicBezTo>
                  <a:pt x="190500" y="105107"/>
                  <a:pt x="182497" y="113109"/>
                  <a:pt x="172641" y="113109"/>
                </a:cubicBezTo>
                <a:cubicBezTo>
                  <a:pt x="162784" y="113109"/>
                  <a:pt x="154781" y="105107"/>
                  <a:pt x="154781" y="95250"/>
                </a:cubicBezTo>
                <a:close/>
                <a:moveTo>
                  <a:pt x="27905" y="137331"/>
                </a:moveTo>
                <a:cubicBezTo>
                  <a:pt x="34877" y="130359"/>
                  <a:pt x="46197" y="130359"/>
                  <a:pt x="53169" y="137331"/>
                </a:cubicBezTo>
                <a:cubicBezTo>
                  <a:pt x="60141" y="144303"/>
                  <a:pt x="60141" y="155623"/>
                  <a:pt x="53169" y="162595"/>
                </a:cubicBezTo>
                <a:cubicBezTo>
                  <a:pt x="46197" y="169566"/>
                  <a:pt x="34877" y="169566"/>
                  <a:pt x="27905" y="162595"/>
                </a:cubicBezTo>
                <a:cubicBezTo>
                  <a:pt x="20934" y="155623"/>
                  <a:pt x="20934" y="144303"/>
                  <a:pt x="27905" y="137331"/>
                </a:cubicBezTo>
                <a:close/>
                <a:moveTo>
                  <a:pt x="27905" y="27905"/>
                </a:moveTo>
                <a:cubicBezTo>
                  <a:pt x="34877" y="20934"/>
                  <a:pt x="46197" y="20934"/>
                  <a:pt x="53169" y="27905"/>
                </a:cubicBezTo>
                <a:cubicBezTo>
                  <a:pt x="60141" y="34877"/>
                  <a:pt x="60141" y="46197"/>
                  <a:pt x="53169" y="53169"/>
                </a:cubicBezTo>
                <a:cubicBezTo>
                  <a:pt x="46197" y="60141"/>
                  <a:pt x="34877" y="60141"/>
                  <a:pt x="27905" y="53169"/>
                </a:cubicBezTo>
                <a:cubicBezTo>
                  <a:pt x="20934" y="46197"/>
                  <a:pt x="20934" y="34877"/>
                  <a:pt x="27905" y="27905"/>
                </a:cubicBezTo>
                <a:close/>
                <a:moveTo>
                  <a:pt x="162595" y="137331"/>
                </a:moveTo>
                <a:cubicBezTo>
                  <a:pt x="169571" y="144307"/>
                  <a:pt x="169571" y="155618"/>
                  <a:pt x="162595" y="162595"/>
                </a:cubicBezTo>
                <a:cubicBezTo>
                  <a:pt x="155618" y="169571"/>
                  <a:pt x="144307" y="169571"/>
                  <a:pt x="137331" y="162595"/>
                </a:cubicBezTo>
                <a:cubicBezTo>
                  <a:pt x="130355" y="155618"/>
                  <a:pt x="130355" y="144307"/>
                  <a:pt x="137331" y="137331"/>
                </a:cubicBezTo>
                <a:cubicBezTo>
                  <a:pt x="144307" y="130355"/>
                  <a:pt x="155618" y="130355"/>
                  <a:pt x="162595" y="137331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43675" y="3905954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SVG assets exported for GL Studio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050" y="4931125"/>
            <a:ext cx="11410950" cy="1257300"/>
          </a:xfrm>
          <a:custGeom>
            <a:avLst/>
            <a:gdLst/>
            <a:ahLst/>
            <a:cxnLst/>
            <a:rect l="l" t="t" r="r" b="b"/>
            <a:pathLst>
              <a:path w="11410950" h="1257300">
                <a:moveTo>
                  <a:pt x="38100" y="0"/>
                </a:moveTo>
                <a:lnTo>
                  <a:pt x="11334745" y="0"/>
                </a:lnTo>
                <a:cubicBezTo>
                  <a:pt x="11376832" y="0"/>
                  <a:pt x="11410950" y="34118"/>
                  <a:pt x="11410950" y="76205"/>
                </a:cubicBezTo>
                <a:lnTo>
                  <a:pt x="11410950" y="1181095"/>
                </a:lnTo>
                <a:cubicBezTo>
                  <a:pt x="11410950" y="1223182"/>
                  <a:pt x="11376832" y="1257300"/>
                  <a:pt x="1133474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00050" y="4950175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9600" y="5140675"/>
            <a:ext cx="962025" cy="266700"/>
          </a:xfrm>
          <a:custGeom>
            <a:avLst/>
            <a:gdLst/>
            <a:ahLst/>
            <a:cxnLst/>
            <a:rect l="l" t="t" r="r" b="b"/>
            <a:pathLst>
              <a:path w="962025" h="266700">
                <a:moveTo>
                  <a:pt x="133350" y="0"/>
                </a:moveTo>
                <a:lnTo>
                  <a:pt x="828675" y="0"/>
                </a:lnTo>
                <a:cubicBezTo>
                  <a:pt x="902273" y="0"/>
                  <a:pt x="962025" y="59752"/>
                  <a:pt x="962025" y="133350"/>
                </a:cubicBezTo>
                <a:lnTo>
                  <a:pt x="962025" y="133350"/>
                </a:lnTo>
                <a:cubicBezTo>
                  <a:pt x="962025" y="206948"/>
                  <a:pt x="902273" y="266700"/>
                  <a:pt x="8286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9600" y="5140675"/>
            <a:ext cx="10287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REMAINING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83097" y="5140675"/>
            <a:ext cx="465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 GL Studio Implementation (Feb 21 – Mar 4)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00075" y="56359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5727" y="5559775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implementation: gauges, state machine, startup animation, CAN simulation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35363" y="56359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66642" y="5559775"/>
            <a:ext cx="3409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60fps optimization, glance testing under adverse conditions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66038" y="56359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307139" y="5559775"/>
            <a:ext cx="3390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polish, demo setup, rehearsal for presentation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50" y="419100"/>
            <a:ext cx="3743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10. Risks &amp; Limitations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58379"/>
            <a:ext cx="5600700" cy="1504950"/>
          </a:xfrm>
          <a:custGeom>
            <a:avLst/>
            <a:gdLst/>
            <a:ahLst/>
            <a:cxnLst/>
            <a:rect l="l" t="t" r="r" b="b"/>
            <a:pathLst>
              <a:path w="5600700" h="150495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1428754"/>
                </a:lnTo>
                <a:cubicBezTo>
                  <a:pt x="5600700" y="1470836"/>
                  <a:pt x="5566586" y="1504950"/>
                  <a:pt x="5524504" y="1504950"/>
                </a:cubicBezTo>
                <a:lnTo>
                  <a:pt x="76196" y="1504950"/>
                </a:lnTo>
                <a:cubicBezTo>
                  <a:pt x="34114" y="1504950"/>
                  <a:pt x="0" y="1470836"/>
                  <a:pt x="0" y="142875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1000" y="1458379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1500" y="166792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6275" y="178222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57150" y="28575"/>
                </a:moveTo>
                <a:cubicBezTo>
                  <a:pt x="57150" y="12799"/>
                  <a:pt x="69949" y="0"/>
                  <a:pt x="85725" y="0"/>
                </a:cubicBezTo>
                <a:cubicBezTo>
                  <a:pt x="101501" y="0"/>
                  <a:pt x="114300" y="12799"/>
                  <a:pt x="114300" y="28575"/>
                </a:cubicBezTo>
                <a:lnTo>
                  <a:pt x="114300" y="29647"/>
                </a:lnTo>
                <a:cubicBezTo>
                  <a:pt x="114300" y="34320"/>
                  <a:pt x="110520" y="38100"/>
                  <a:pt x="105847" y="38100"/>
                </a:cubicBezTo>
                <a:lnTo>
                  <a:pt x="65633" y="38100"/>
                </a:lnTo>
                <a:cubicBezTo>
                  <a:pt x="60960" y="38100"/>
                  <a:pt x="57180" y="34320"/>
                  <a:pt x="57180" y="29647"/>
                </a:cubicBezTo>
                <a:lnTo>
                  <a:pt x="57180" y="28575"/>
                </a:lnTo>
                <a:close/>
                <a:moveTo>
                  <a:pt x="160020" y="32385"/>
                </a:moveTo>
                <a:cubicBezTo>
                  <a:pt x="163175" y="36582"/>
                  <a:pt x="162312" y="42565"/>
                  <a:pt x="158115" y="45720"/>
                </a:cubicBezTo>
                <a:lnTo>
                  <a:pt x="129004" y="67538"/>
                </a:lnTo>
                <a:cubicBezTo>
                  <a:pt x="130582" y="70187"/>
                  <a:pt x="131772" y="73104"/>
                  <a:pt x="132517" y="76200"/>
                </a:cubicBezTo>
                <a:lnTo>
                  <a:pt x="161925" y="76200"/>
                </a:lnTo>
                <a:cubicBezTo>
                  <a:pt x="167194" y="76200"/>
                  <a:pt x="171450" y="80456"/>
                  <a:pt x="171450" y="85725"/>
                </a:cubicBezTo>
                <a:cubicBezTo>
                  <a:pt x="171450" y="90994"/>
                  <a:pt x="167194" y="95250"/>
                  <a:pt x="161925" y="95250"/>
                </a:cubicBezTo>
                <a:lnTo>
                  <a:pt x="133350" y="95250"/>
                </a:lnTo>
                <a:lnTo>
                  <a:pt x="133350" y="104775"/>
                </a:lnTo>
                <a:cubicBezTo>
                  <a:pt x="133350" y="105549"/>
                  <a:pt x="133320" y="106353"/>
                  <a:pt x="133290" y="107126"/>
                </a:cubicBezTo>
                <a:lnTo>
                  <a:pt x="158115" y="125730"/>
                </a:lnTo>
                <a:cubicBezTo>
                  <a:pt x="162312" y="128885"/>
                  <a:pt x="163175" y="134868"/>
                  <a:pt x="160020" y="139065"/>
                </a:cubicBezTo>
                <a:cubicBezTo>
                  <a:pt x="156865" y="143262"/>
                  <a:pt x="150882" y="144125"/>
                  <a:pt x="146685" y="140970"/>
                </a:cubicBezTo>
                <a:lnTo>
                  <a:pt x="127903" y="126891"/>
                </a:lnTo>
                <a:cubicBezTo>
                  <a:pt x="120997" y="140047"/>
                  <a:pt x="108109" y="149572"/>
                  <a:pt x="92869" y="151864"/>
                </a:cubicBezTo>
                <a:lnTo>
                  <a:pt x="92869" y="83344"/>
                </a:lnTo>
                <a:cubicBezTo>
                  <a:pt x="92869" y="79385"/>
                  <a:pt x="89684" y="76200"/>
                  <a:pt x="85725" y="76200"/>
                </a:cubicBezTo>
                <a:cubicBezTo>
                  <a:pt x="81766" y="76200"/>
                  <a:pt x="78581" y="79385"/>
                  <a:pt x="78581" y="83344"/>
                </a:cubicBezTo>
                <a:lnTo>
                  <a:pt x="78581" y="151864"/>
                </a:lnTo>
                <a:cubicBezTo>
                  <a:pt x="63341" y="149572"/>
                  <a:pt x="50453" y="140047"/>
                  <a:pt x="43547" y="126891"/>
                </a:cubicBezTo>
                <a:lnTo>
                  <a:pt x="24765" y="140970"/>
                </a:lnTo>
                <a:cubicBezTo>
                  <a:pt x="20568" y="144125"/>
                  <a:pt x="14585" y="143262"/>
                  <a:pt x="11430" y="139065"/>
                </a:cubicBezTo>
                <a:cubicBezTo>
                  <a:pt x="8275" y="134868"/>
                  <a:pt x="9138" y="128885"/>
                  <a:pt x="13335" y="125730"/>
                </a:cubicBezTo>
                <a:lnTo>
                  <a:pt x="38160" y="107126"/>
                </a:lnTo>
                <a:cubicBezTo>
                  <a:pt x="38130" y="106353"/>
                  <a:pt x="38100" y="105579"/>
                  <a:pt x="38100" y="104775"/>
                </a:cubicBezTo>
                <a:lnTo>
                  <a:pt x="38100" y="95250"/>
                </a:lnTo>
                <a:lnTo>
                  <a:pt x="9525" y="95250"/>
                </a:lnTo>
                <a:cubicBezTo>
                  <a:pt x="4256" y="95250"/>
                  <a:pt x="0" y="90994"/>
                  <a:pt x="0" y="85725"/>
                </a:cubicBezTo>
                <a:cubicBezTo>
                  <a:pt x="0" y="80456"/>
                  <a:pt x="4256" y="76200"/>
                  <a:pt x="9525" y="76200"/>
                </a:cubicBezTo>
                <a:lnTo>
                  <a:pt x="38933" y="76200"/>
                </a:lnTo>
                <a:cubicBezTo>
                  <a:pt x="39678" y="73104"/>
                  <a:pt x="40868" y="70187"/>
                  <a:pt x="42446" y="67538"/>
                </a:cubicBezTo>
                <a:lnTo>
                  <a:pt x="13335" y="45720"/>
                </a:lnTo>
                <a:cubicBezTo>
                  <a:pt x="9138" y="42565"/>
                  <a:pt x="8275" y="36582"/>
                  <a:pt x="11430" y="32385"/>
                </a:cubicBezTo>
                <a:cubicBezTo>
                  <a:pt x="14585" y="28188"/>
                  <a:pt x="20568" y="27325"/>
                  <a:pt x="24765" y="30480"/>
                </a:cubicBezTo>
                <a:lnTo>
                  <a:pt x="57150" y="54769"/>
                </a:lnTo>
                <a:cubicBezTo>
                  <a:pt x="60811" y="53251"/>
                  <a:pt x="64830" y="52388"/>
                  <a:pt x="69056" y="52388"/>
                </a:cubicBezTo>
                <a:lnTo>
                  <a:pt x="102394" y="52388"/>
                </a:lnTo>
                <a:cubicBezTo>
                  <a:pt x="106620" y="52388"/>
                  <a:pt x="110639" y="53221"/>
                  <a:pt x="114300" y="54769"/>
                </a:cubicBezTo>
                <a:lnTo>
                  <a:pt x="146685" y="30480"/>
                </a:lnTo>
                <a:cubicBezTo>
                  <a:pt x="150882" y="27325"/>
                  <a:pt x="156865" y="28188"/>
                  <a:pt x="160020" y="3238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66800" y="1725079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Risks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0550" y="223942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38200" y="2201329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60fps on ARM hardware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0550" y="258232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8200" y="2544229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Figma to GL Studio translation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6975" y="1471784"/>
            <a:ext cx="5600700" cy="3872795"/>
          </a:xfrm>
          <a:custGeom>
            <a:avLst/>
            <a:gdLst/>
            <a:ahLst/>
            <a:cxnLst/>
            <a:rect l="l" t="t" r="r" b="b"/>
            <a:pathLst>
              <a:path w="5600700" h="333375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257540"/>
                </a:lnTo>
                <a:cubicBezTo>
                  <a:pt x="5600700" y="3299630"/>
                  <a:pt x="5566580" y="3333750"/>
                  <a:pt x="5524490" y="3333750"/>
                </a:cubicBezTo>
                <a:lnTo>
                  <a:pt x="76210" y="3333750"/>
                </a:lnTo>
                <a:cubicBezTo>
                  <a:pt x="34120" y="3333750"/>
                  <a:pt x="0" y="3299630"/>
                  <a:pt x="0" y="325754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76975" y="1471785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67475" y="168133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81775" y="179563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62775" y="1738485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UX &amp; Safety Concerns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67475" y="2214735"/>
            <a:ext cx="5219700" cy="723900"/>
          </a:xfrm>
          <a:custGeom>
            <a:avLst/>
            <a:gdLst/>
            <a:ahLst/>
            <a:cxnLst/>
            <a:rect l="l" t="t" r="r" b="b"/>
            <a:pathLst>
              <a:path w="5219700" h="723900">
                <a:moveTo>
                  <a:pt x="76198" y="0"/>
                </a:moveTo>
                <a:lnTo>
                  <a:pt x="5143502" y="0"/>
                </a:lnTo>
                <a:cubicBezTo>
                  <a:pt x="5185557" y="0"/>
                  <a:pt x="5219700" y="34143"/>
                  <a:pt x="5219700" y="76198"/>
                </a:cubicBezTo>
                <a:lnTo>
                  <a:pt x="5219700" y="647702"/>
                </a:lnTo>
                <a:cubicBezTo>
                  <a:pt x="5219700" y="689757"/>
                  <a:pt x="5185557" y="723900"/>
                  <a:pt x="51435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1775" y="2329035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Startup animation as distraction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1775" y="2595735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plays on ignition only, not mode switches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67475" y="3052935"/>
            <a:ext cx="5219700" cy="723900"/>
          </a:xfrm>
          <a:custGeom>
            <a:avLst/>
            <a:gdLst/>
            <a:ahLst/>
            <a:cxnLst/>
            <a:rect l="l" t="t" r="r" b="b"/>
            <a:pathLst>
              <a:path w="5219700" h="723900">
                <a:moveTo>
                  <a:pt x="76198" y="0"/>
                </a:moveTo>
                <a:lnTo>
                  <a:pt x="5143502" y="0"/>
                </a:lnTo>
                <a:cubicBezTo>
                  <a:pt x="5185557" y="0"/>
                  <a:pt x="5219700" y="34143"/>
                  <a:pt x="5219700" y="76198"/>
                </a:cubicBezTo>
                <a:lnTo>
                  <a:pt x="5219700" y="647702"/>
                </a:lnTo>
                <a:cubicBezTo>
                  <a:pt x="5219700" y="689757"/>
                  <a:pt x="5185557" y="723900"/>
                  <a:pt x="51435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1775" y="3167235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 switching disorientation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1775" y="3433935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Tier 1 elements never change position across modes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67475" y="3891135"/>
            <a:ext cx="5219700" cy="723900"/>
          </a:xfrm>
          <a:custGeom>
            <a:avLst/>
            <a:gdLst/>
            <a:ahLst/>
            <a:cxnLst/>
            <a:rect l="l" t="t" r="r" b="b"/>
            <a:pathLst>
              <a:path w="5219700" h="723900">
                <a:moveTo>
                  <a:pt x="76198" y="0"/>
                </a:moveTo>
                <a:lnTo>
                  <a:pt x="5143502" y="0"/>
                </a:lnTo>
                <a:cubicBezTo>
                  <a:pt x="5185557" y="0"/>
                  <a:pt x="5219700" y="34143"/>
                  <a:pt x="5219700" y="76198"/>
                </a:cubicBezTo>
                <a:lnTo>
                  <a:pt x="5219700" y="647702"/>
                </a:lnTo>
                <a:cubicBezTo>
                  <a:pt x="5219700" y="689757"/>
                  <a:pt x="5185557" y="723900"/>
                  <a:pt x="51435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1775" y="4005435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Teen-appeal features vs. safety hierarchy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81775" y="4272135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r>
              <a:rPr lang="en-US" sz="1200" dirty="0">
                <a:solidFill>
                  <a:srgbClr val="21252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ambient effects are always Tier 3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1000" y="3529186"/>
            <a:ext cx="5600700" cy="1815394"/>
          </a:xfrm>
          <a:custGeom>
            <a:avLst/>
            <a:gdLst/>
            <a:ahLst/>
            <a:cxnLst/>
            <a:rect l="l" t="t" r="r" b="b"/>
            <a:pathLst>
              <a:path w="5600700" h="539115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5314973"/>
                </a:lnTo>
                <a:cubicBezTo>
                  <a:pt x="5600700" y="5357044"/>
                  <a:pt x="5566594" y="5391150"/>
                  <a:pt x="5524523" y="5391150"/>
                </a:cubicBezTo>
                <a:lnTo>
                  <a:pt x="76177" y="5391150"/>
                </a:lnTo>
                <a:cubicBezTo>
                  <a:pt x="34106" y="5391150"/>
                  <a:pt x="0" y="5357044"/>
                  <a:pt x="0" y="531497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81000" y="3529185"/>
            <a:ext cx="5600700" cy="38100"/>
          </a:xfrm>
          <a:custGeom>
            <a:avLst/>
            <a:gdLst/>
            <a:ahLst/>
            <a:cxnLst/>
            <a:rect l="l" t="t" r="r" b="b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1500" y="373873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04850" y="385303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92690" y="9525"/>
                </a:moveTo>
                <a:lnTo>
                  <a:pt x="95250" y="9525"/>
                </a:lnTo>
                <a:cubicBezTo>
                  <a:pt x="105757" y="9525"/>
                  <a:pt x="114300" y="18068"/>
                  <a:pt x="114300" y="285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21610" y="9525"/>
                </a:lnTo>
                <a:cubicBezTo>
                  <a:pt x="24884" y="3840"/>
                  <a:pt x="31046" y="0"/>
                  <a:pt x="38100" y="0"/>
                </a:cubicBezTo>
                <a:lnTo>
                  <a:pt x="76200" y="0"/>
                </a:lnTo>
                <a:cubicBezTo>
                  <a:pt x="83254" y="0"/>
                  <a:pt x="89416" y="3840"/>
                  <a:pt x="92690" y="9525"/>
                </a:cubicBezTo>
                <a:close/>
                <a:moveTo>
                  <a:pt x="73819" y="33338"/>
                </a:moveTo>
                <a:cubicBezTo>
                  <a:pt x="77778" y="33338"/>
                  <a:pt x="80962" y="30153"/>
                  <a:pt x="80962" y="26194"/>
                </a:cubicBezTo>
                <a:cubicBezTo>
                  <a:pt x="80962" y="22235"/>
                  <a:pt x="77778" y="19050"/>
                  <a:pt x="73819" y="19050"/>
                </a:cubicBezTo>
                <a:lnTo>
                  <a:pt x="40481" y="19050"/>
                </a:lnTo>
                <a:cubicBezTo>
                  <a:pt x="36522" y="19050"/>
                  <a:pt x="33338" y="22235"/>
                  <a:pt x="33338" y="26194"/>
                </a:cubicBezTo>
                <a:cubicBezTo>
                  <a:pt x="33338" y="30153"/>
                  <a:pt x="36522" y="33338"/>
                  <a:pt x="40481" y="33338"/>
                </a:cubicBezTo>
                <a:lnTo>
                  <a:pt x="73819" y="33338"/>
                </a:lnTo>
                <a:close/>
                <a:moveTo>
                  <a:pt x="38100" y="76200"/>
                </a:move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ubicBezTo>
                  <a:pt x="33832" y="85725"/>
                  <a:pt x="38100" y="81457"/>
                  <a:pt x="38100" y="76200"/>
                </a:cubicBezTo>
                <a:close/>
                <a:moveTo>
                  <a:pt x="47625" y="76200"/>
                </a:moveTo>
                <a:cubicBezTo>
                  <a:pt x="47625" y="80159"/>
                  <a:pt x="50810" y="83344"/>
                  <a:pt x="54769" y="83344"/>
                </a:cubicBezTo>
                <a:lnTo>
                  <a:pt x="88106" y="83344"/>
                </a:lnTo>
                <a:cubicBezTo>
                  <a:pt x="92065" y="83344"/>
                  <a:pt x="95250" y="80159"/>
                  <a:pt x="95250" y="76200"/>
                </a:cubicBezTo>
                <a:cubicBezTo>
                  <a:pt x="95250" y="72241"/>
                  <a:pt x="92065" y="69056"/>
                  <a:pt x="88106" y="69056"/>
                </a:cubicBezTo>
                <a:lnTo>
                  <a:pt x="54769" y="69056"/>
                </a:lnTo>
                <a:cubicBezTo>
                  <a:pt x="50810" y="69056"/>
                  <a:pt x="47625" y="72241"/>
                  <a:pt x="47625" y="76200"/>
                </a:cubicBezTo>
                <a:close/>
                <a:moveTo>
                  <a:pt x="47625" y="114300"/>
                </a:moveTo>
                <a:cubicBezTo>
                  <a:pt x="47625" y="118259"/>
                  <a:pt x="50810" y="121444"/>
                  <a:pt x="54769" y="121444"/>
                </a:cubicBezTo>
                <a:lnTo>
                  <a:pt x="88106" y="121444"/>
                </a:lnTo>
                <a:cubicBezTo>
                  <a:pt x="92065" y="121444"/>
                  <a:pt x="95250" y="118259"/>
                  <a:pt x="95250" y="114300"/>
                </a:cubicBezTo>
                <a:cubicBezTo>
                  <a:pt x="95250" y="110341"/>
                  <a:pt x="92065" y="107156"/>
                  <a:pt x="88106" y="107156"/>
                </a:cubicBezTo>
                <a:lnTo>
                  <a:pt x="54769" y="107156"/>
                </a:lnTo>
                <a:cubicBezTo>
                  <a:pt x="50810" y="107156"/>
                  <a:pt x="47625" y="110341"/>
                  <a:pt x="47625" y="114300"/>
                </a:cubicBezTo>
                <a:close/>
                <a:moveTo>
                  <a:pt x="28575" y="123825"/>
                </a:moveTo>
                <a:cubicBezTo>
                  <a:pt x="33832" y="123825"/>
                  <a:pt x="38100" y="119557"/>
                  <a:pt x="38100" y="114300"/>
                </a:cubicBezTo>
                <a:cubicBezTo>
                  <a:pt x="38100" y="109043"/>
                  <a:pt x="33832" y="104775"/>
                  <a:pt x="28575" y="104775"/>
                </a:cubicBezTo>
                <a:cubicBezTo>
                  <a:pt x="23318" y="104775"/>
                  <a:pt x="19050" y="109043"/>
                  <a:pt x="19050" y="114300"/>
                </a:cubicBezTo>
                <a:cubicBezTo>
                  <a:pt x="19050" y="119557"/>
                  <a:pt x="23318" y="123825"/>
                  <a:pt x="28575" y="1238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66800" y="3795885"/>
            <a:ext cx="3076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Assumptions &amp; Scope Limitations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90550" y="4272135"/>
            <a:ext cx="5200650" cy="533400"/>
          </a:xfrm>
          <a:custGeom>
            <a:avLst/>
            <a:gdLst/>
            <a:ahLst/>
            <a:cxnLst/>
            <a:rect l="l" t="t" r="r" b="b"/>
            <a:pathLst>
              <a:path w="5200650" h="533400">
                <a:moveTo>
                  <a:pt x="38100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457198"/>
                </a:lnTo>
                <a:cubicBezTo>
                  <a:pt x="5200650" y="499283"/>
                  <a:pt x="5166533" y="533400"/>
                  <a:pt x="5124448" y="533400"/>
                </a:cubicBez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90550" y="4272135"/>
            <a:ext cx="38100" cy="533400"/>
          </a:xfrm>
          <a:custGeom>
            <a:avLst/>
            <a:gdLst/>
            <a:ahLst/>
            <a:cxnLst/>
            <a:rect l="l" t="t" r="r" b="b"/>
            <a:pathLst>
              <a:path w="38100" h="533400">
                <a:moveTo>
                  <a:pt x="38100" y="0"/>
                </a:moveTo>
                <a:lnTo>
                  <a:pt x="38100" y="0"/>
                </a:lnTo>
                <a:lnTo>
                  <a:pt x="38100" y="533400"/>
                </a:lnTo>
                <a:lnTo>
                  <a:pt x="38100" y="533400"/>
                </a:lnTo>
                <a:cubicBezTo>
                  <a:pt x="17072" y="533400"/>
                  <a:pt x="0" y="516328"/>
                  <a:pt x="0" y="495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85813" y="446263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14425" y="4424535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Glance testing is informal, not clinical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57150" cy="457200"/>
          </a:xfrm>
          <a:custGeom>
            <a:avLst/>
            <a:gdLst/>
            <a:ahLst/>
            <a:cxnLst/>
            <a:rect l="l" t="t" r="r" b="b"/>
            <a:pathLst>
              <a:path w="57150" h="457200">
                <a:moveTo>
                  <a:pt x="0" y="0"/>
                </a:moveTo>
                <a:lnTo>
                  <a:pt x="57150" y="0"/>
                </a:lnTo>
                <a:lnTo>
                  <a:pt x="571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2450" y="41910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11. Summary &amp; Ask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46382"/>
            <a:ext cx="5619750" cy="1533525"/>
          </a:xfrm>
          <a:custGeom>
            <a:avLst/>
            <a:gdLst/>
            <a:ahLst/>
            <a:cxnLst/>
            <a:rect l="l" t="t" r="r" b="b"/>
            <a:pathLst>
              <a:path w="5619750" h="1533525">
                <a:moveTo>
                  <a:pt x="76201" y="0"/>
                </a:moveTo>
                <a:lnTo>
                  <a:pt x="5543549" y="0"/>
                </a:lnTo>
                <a:cubicBezTo>
                  <a:pt x="5585606" y="0"/>
                  <a:pt x="5619750" y="34144"/>
                  <a:pt x="5619750" y="76201"/>
                </a:cubicBezTo>
                <a:lnTo>
                  <a:pt x="5619750" y="1457324"/>
                </a:lnTo>
                <a:cubicBezTo>
                  <a:pt x="5619750" y="1499381"/>
                  <a:pt x="5585606" y="1533525"/>
                  <a:pt x="5543549" y="1533525"/>
                </a:cubicBezTo>
                <a:lnTo>
                  <a:pt x="76201" y="1533525"/>
                </a:lnTo>
                <a:cubicBezTo>
                  <a:pt x="34144" y="1533525"/>
                  <a:pt x="0" y="1499381"/>
                  <a:pt x="0" y="145732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D32F2F"/>
              </a:gs>
              <a:gs pos="100000">
                <a:srgbClr val="FF6B6B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52450" y="1694032"/>
            <a:ext cx="19907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" y="2046457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infotainment system that makes it worthy of a career milestone, impressive enough to earn a teenager's interest, sophisticated enough to satisfy an automotive industry expert, and safe enough to use at full speed.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3459683"/>
            <a:ext cx="5619750" cy="2171700"/>
          </a:xfrm>
          <a:custGeom>
            <a:avLst/>
            <a:gdLst/>
            <a:ahLst/>
            <a:cxnLst/>
            <a:rect l="l" t="t" r="r" b="b"/>
            <a:pathLst>
              <a:path w="5619750" h="2171700">
                <a:moveTo>
                  <a:pt x="76205" y="0"/>
                </a:moveTo>
                <a:lnTo>
                  <a:pt x="5543545" y="0"/>
                </a:lnTo>
                <a:cubicBezTo>
                  <a:pt x="5585632" y="0"/>
                  <a:pt x="5619750" y="34118"/>
                  <a:pt x="5619750" y="76205"/>
                </a:cubicBezTo>
                <a:lnTo>
                  <a:pt x="5619750" y="2095495"/>
                </a:lnTo>
                <a:cubicBezTo>
                  <a:pt x="5619750" y="2137582"/>
                  <a:pt x="5585632" y="2171700"/>
                  <a:pt x="5543545" y="2171700"/>
                </a:cubicBezTo>
                <a:lnTo>
                  <a:pt x="76205" y="2171700"/>
                </a:lnTo>
                <a:cubicBezTo>
                  <a:pt x="34118" y="2171700"/>
                  <a:pt x="0" y="2137582"/>
                  <a:pt x="0" y="20954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0075" y="366923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0019" y="157163"/>
                </a:moveTo>
                <a:cubicBezTo>
                  <a:pt x="193417" y="157163"/>
                  <a:pt x="228600" y="121980"/>
                  <a:pt x="228600" y="78581"/>
                </a:cubicBezTo>
                <a:cubicBezTo>
                  <a:pt x="228600" y="35183"/>
                  <a:pt x="193417" y="0"/>
                  <a:pt x="150019" y="0"/>
                </a:cubicBezTo>
                <a:cubicBezTo>
                  <a:pt x="106620" y="0"/>
                  <a:pt x="71438" y="35183"/>
                  <a:pt x="71438" y="78581"/>
                </a:cubicBezTo>
                <a:cubicBezTo>
                  <a:pt x="71438" y="86931"/>
                  <a:pt x="72732" y="95012"/>
                  <a:pt x="75143" y="102557"/>
                </a:cubicBezTo>
                <a:lnTo>
                  <a:pt x="3125" y="174575"/>
                </a:lnTo>
                <a:cubicBezTo>
                  <a:pt x="1116" y="176585"/>
                  <a:pt x="0" y="179308"/>
                  <a:pt x="0" y="182166"/>
                </a:cubicBezTo>
                <a:lnTo>
                  <a:pt x="0" y="217884"/>
                </a:lnTo>
                <a:cubicBezTo>
                  <a:pt x="0" y="223823"/>
                  <a:pt x="4777" y="228600"/>
                  <a:pt x="10716" y="228600"/>
                </a:cubicBezTo>
                <a:lnTo>
                  <a:pt x="46434" y="228600"/>
                </a:lnTo>
                <a:cubicBezTo>
                  <a:pt x="52373" y="228600"/>
                  <a:pt x="57150" y="223823"/>
                  <a:pt x="57150" y="217884"/>
                </a:cubicBezTo>
                <a:lnTo>
                  <a:pt x="57150" y="200025"/>
                </a:lnTo>
                <a:lnTo>
                  <a:pt x="75009" y="200025"/>
                </a:lnTo>
                <a:cubicBezTo>
                  <a:pt x="80948" y="200025"/>
                  <a:pt x="85725" y="195248"/>
                  <a:pt x="85725" y="189309"/>
                </a:cubicBezTo>
                <a:lnTo>
                  <a:pt x="85725" y="171450"/>
                </a:lnTo>
                <a:lnTo>
                  <a:pt x="103584" y="171450"/>
                </a:lnTo>
                <a:cubicBezTo>
                  <a:pt x="106442" y="171450"/>
                  <a:pt x="109165" y="170334"/>
                  <a:pt x="111175" y="168325"/>
                </a:cubicBezTo>
                <a:lnTo>
                  <a:pt x="126043" y="153457"/>
                </a:lnTo>
                <a:cubicBezTo>
                  <a:pt x="133588" y="155868"/>
                  <a:pt x="141669" y="157163"/>
                  <a:pt x="150019" y="157163"/>
                </a:cubicBezTo>
                <a:close/>
                <a:moveTo>
                  <a:pt x="167878" y="42863"/>
                </a:moveTo>
                <a:cubicBezTo>
                  <a:pt x="177735" y="42863"/>
                  <a:pt x="185738" y="50865"/>
                  <a:pt x="185738" y="60722"/>
                </a:cubicBezTo>
                <a:cubicBezTo>
                  <a:pt x="185738" y="70579"/>
                  <a:pt x="177735" y="78581"/>
                  <a:pt x="167878" y="78581"/>
                </a:cubicBezTo>
                <a:cubicBezTo>
                  <a:pt x="158021" y="78581"/>
                  <a:pt x="150019" y="70579"/>
                  <a:pt x="150019" y="60722"/>
                </a:cubicBezTo>
                <a:cubicBezTo>
                  <a:pt x="150019" y="50865"/>
                  <a:pt x="158021" y="42863"/>
                  <a:pt x="167878" y="42863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71550" y="3650183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410738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0832" y="4164533"/>
            <a:ext cx="11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0600" y="4069283"/>
            <a:ext cx="3743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pixel is justified against the 1.5-second glance rule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456458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8032" y="4621733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0600" y="4526483"/>
            <a:ext cx="4895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 audience design: refined premium character for the driver, visual excitement for passengers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" y="513608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6246" y="5193233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0600" y="5097983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Production-ready pipeline: Figma → SVG → GL Studio → DragonFire Pro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6018" y="1446382"/>
            <a:ext cx="5600700" cy="4185001"/>
          </a:xfrm>
          <a:custGeom>
            <a:avLst/>
            <a:gdLst/>
            <a:ahLst/>
            <a:cxnLst/>
            <a:rect l="l" t="t" r="r" b="b"/>
            <a:pathLst>
              <a:path w="5600700" h="5448300">
                <a:moveTo>
                  <a:pt x="38100" y="0"/>
                </a:moveTo>
                <a:lnTo>
                  <a:pt x="5524478" y="0"/>
                </a:lnTo>
                <a:cubicBezTo>
                  <a:pt x="5566574" y="0"/>
                  <a:pt x="5600700" y="34126"/>
                  <a:pt x="5600700" y="76222"/>
                </a:cubicBezTo>
                <a:lnTo>
                  <a:pt x="5600700" y="5372078"/>
                </a:lnTo>
                <a:cubicBezTo>
                  <a:pt x="5600700" y="5414174"/>
                  <a:pt x="5566574" y="5448300"/>
                  <a:pt x="5524478" y="5448300"/>
                </a:cubicBezTo>
                <a:lnTo>
                  <a:pt x="38100" y="5448300"/>
                </a:lnTo>
                <a:cubicBezTo>
                  <a:pt x="17072" y="5448300"/>
                  <a:pt x="0" y="5431228"/>
                  <a:pt x="0" y="541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210299" y="1446382"/>
            <a:ext cx="45719" cy="4185001"/>
          </a:xfrm>
          <a:custGeom>
            <a:avLst/>
            <a:gdLst/>
            <a:ahLst/>
            <a:cxnLst/>
            <a:rect l="l" t="t" r="r" b="b"/>
            <a:pathLst>
              <a:path w="38100" h="5448300">
                <a:moveTo>
                  <a:pt x="38100" y="0"/>
                </a:moveTo>
                <a:lnTo>
                  <a:pt x="38100" y="0"/>
                </a:lnTo>
                <a:lnTo>
                  <a:pt x="38100" y="5448300"/>
                </a:lnTo>
                <a:lnTo>
                  <a:pt x="38100" y="5448300"/>
                </a:lnTo>
                <a:cubicBezTo>
                  <a:pt x="17072" y="5448300"/>
                  <a:pt x="0" y="5431228"/>
                  <a:pt x="0" y="5410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48425" y="16559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7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5" y="122873"/>
                  <a:pt x="125016" y="126132"/>
                </a:cubicBezTo>
                <a:lnTo>
                  <a:pt x="125016" y="127828"/>
                </a:lnTo>
                <a:cubicBezTo>
                  <a:pt x="125016" y="133767"/>
                  <a:pt x="120238" y="138544"/>
                  <a:pt x="114300" y="138544"/>
                </a:cubicBezTo>
                <a:cubicBezTo>
                  <a:pt x="108362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1" y="105326"/>
                  <a:pt x="122917" y="103808"/>
                  <a:pt x="125150" y="101664"/>
                </a:cubicBezTo>
                <a:cubicBezTo>
                  <a:pt x="127069" y="99789"/>
                  <a:pt x="128588" y="97200"/>
                  <a:pt x="128588" y="92913"/>
                </a:cubicBezTo>
                <a:cubicBezTo>
                  <a:pt x="128588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8" y="156421"/>
                  <a:pt x="128588" y="164306"/>
                </a:cubicBezTo>
                <a:cubicBezTo>
                  <a:pt x="128588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19900" y="1636882"/>
            <a:ext cx="3419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1252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Feedback We're Seeking from Judges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38900" y="2055982"/>
            <a:ext cx="5181600" cy="762000"/>
          </a:xfrm>
          <a:custGeom>
            <a:avLst/>
            <a:gdLst/>
            <a:ahLst/>
            <a:cxnLst/>
            <a:rect l="l" t="t" r="r" b="b"/>
            <a:pathLst>
              <a:path w="5181600" h="762000">
                <a:moveTo>
                  <a:pt x="381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685800"/>
                </a:lnTo>
                <a:cubicBezTo>
                  <a:pt x="5181600" y="727856"/>
                  <a:pt x="5147456" y="762000"/>
                  <a:pt x="51054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38900" y="2055982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610350" y="220838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39682" y="2265532"/>
            <a:ext cx="11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29450" y="2208382"/>
            <a:ext cx="4514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our dual-audience framing (driver + passengers) feel like a genuine differentiator?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65568" y="3393719"/>
            <a:ext cx="5181600" cy="762000"/>
          </a:xfrm>
          <a:custGeom>
            <a:avLst/>
            <a:gdLst/>
            <a:ahLst/>
            <a:cxnLst/>
            <a:rect l="l" t="t" r="r" b="b"/>
            <a:pathLst>
              <a:path w="5181600" h="762000">
                <a:moveTo>
                  <a:pt x="381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685800"/>
                </a:lnTo>
                <a:cubicBezTo>
                  <a:pt x="5181600" y="727856"/>
                  <a:pt x="5147456" y="762000"/>
                  <a:pt x="51054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38900" y="3382431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610350" y="353483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26882" y="3591981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29450" y="3484028"/>
            <a:ext cx="4514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the cinematic startup sequence an asset or a distraction risk — where is the line?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48425" y="4652426"/>
            <a:ext cx="5181600" cy="609600"/>
          </a:xfrm>
          <a:custGeom>
            <a:avLst/>
            <a:gdLst/>
            <a:ahLst/>
            <a:cxnLst/>
            <a:rect l="l" t="t" r="r" b="b"/>
            <a:pathLst>
              <a:path w="5181600" h="609600">
                <a:moveTo>
                  <a:pt x="381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533400"/>
                </a:lnTo>
                <a:cubicBezTo>
                  <a:pt x="5181600" y="575456"/>
                  <a:pt x="5147456" y="609600"/>
                  <a:pt x="510540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438900" y="4652426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10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610350" y="480482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125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725096" y="4861976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29450" y="4804826"/>
            <a:ext cx="426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would make the most impact for the Final demonstration?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3201" y="1157288"/>
            <a:ext cx="4305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D32F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Thanks!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0" y="2071688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32F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057501" y="2357438"/>
            <a:ext cx="40767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InF1nite | Ottawa Infotainment Inc.</a:t>
            </a:r>
            <a:endParaRPr lang="en-US" sz="1600" dirty="0"/>
          </a:p>
        </p:txBody>
      </p:sp>
      <p:pic>
        <p:nvPicPr>
          <p:cNvPr id="6" name="Content Placeholder 4" descr="A person in a suit with his arms out in the air&#10;&#10;AI-generated content may be incorrect.">
            <a:extLst>
              <a:ext uri="{FF2B5EF4-FFF2-40B4-BE49-F238E27FC236}">
                <a16:creationId xmlns:a16="http://schemas.microsoft.com/office/drawing/2014/main" id="{1108E7C7-B1F5-2A99-5A2B-0141CD311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986" y="2722748"/>
            <a:ext cx="4786487" cy="359886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1507</Words>
  <Application>Microsoft Macintosh PowerPoint</Application>
  <PresentationFormat>Widescreen</PresentationFormat>
  <Paragraphs>227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Liter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Ottawa Infotainment UI/UX Innovation Challenge</dc:title>
  <dc:subject>Ottawa Infotainment UI/UX Innovation Challenge</dc:subject>
  <dc:creator>Kimi</dc:creator>
  <cp:lastModifiedBy>SHAURYA </cp:lastModifiedBy>
  <cp:revision>4</cp:revision>
  <dcterms:created xsi:type="dcterms:W3CDTF">2026-02-16T21:59:17Z</dcterms:created>
  <dcterms:modified xsi:type="dcterms:W3CDTF">2026-03-06T00:57:34Z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{"Label":"Ottawa Infotainment UI/UX Innovation Challenge","ContentProducer":"001191110108MACG2KBH8F10000","ProduceID":"19c6875f-1af2-8426-8000-000035d3eb1a","ReservedCode1":"","ContentPropagator":"001191110108MACG2KBH8F20000","PropagateID":"19c6875f-1af2-8426-8000-000035d3eb1a","ReservedCode2":""}</vt:lpwstr>
  </property>
</Properties>
</file>