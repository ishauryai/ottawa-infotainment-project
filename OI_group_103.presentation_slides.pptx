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71" r:id="rId9"/>
    <p:sldId id="262" r:id="rId10"/>
    <p:sldId id="270" r:id="rId11"/>
    <p:sldId id="263" r:id="rId12"/>
    <p:sldId id="264" r:id="rId13"/>
    <p:sldId id="265" r:id="rId14"/>
    <p:sldId id="266" r:id="rId15"/>
    <p:sldId id="267" r:id="rId16"/>
    <p:sldId id="268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9767"/>
    <p:restoredTop sz="94639"/>
  </p:normalViewPr>
  <p:slideViewPr>
    <p:cSldViewPr snapToGrid="0" snapToObjects="1">
      <p:cViewPr varScale="1">
        <p:scale>
          <a:sx n="113" d="100"/>
          <a:sy n="113" d="100"/>
        </p:scale>
        <p:origin x="200" y="10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E79AAC-D971-644A-A02C-78E76EC45FB1}" type="datetimeFigureOut">
              <a:rPr lang="en-US" smtClean="0"/>
              <a:t>2/15/26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D76795-365B-094B-A503-C5320C103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019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D76795-365B-094B-A503-C5320C10364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311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D76795-365B-094B-A503-C5320C10364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4435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D76795-365B-094B-A503-C5320C10364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4513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D76795-365B-094B-A503-C5320C10364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209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D76795-365B-094B-A503-C5320C10364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253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80559"/>
            <a:ext cx="7772400" cy="1470025"/>
          </a:xfrm>
        </p:spPr>
        <p:txBody>
          <a:bodyPr/>
          <a:lstStyle/>
          <a:p>
            <a:r>
              <a:rPr dirty="0"/>
              <a:t>Ottawa Infotainment UI/UX Innovation Challenge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772400" cy="1752600"/>
          </a:xfrm>
        </p:spPr>
        <p:txBody>
          <a:bodyPr>
            <a:noAutofit/>
          </a:bodyPr>
          <a:lstStyle/>
          <a:p>
            <a:r>
              <a:rPr sz="1400" b="1" dirty="0"/>
              <a:t>Performance-Driven Dashboard Interface</a:t>
            </a:r>
          </a:p>
          <a:p>
            <a:endParaRPr sz="1400" dirty="0"/>
          </a:p>
          <a:p>
            <a:r>
              <a:rPr sz="1400" dirty="0"/>
              <a:t>Team </a:t>
            </a:r>
            <a:r>
              <a:rPr lang="en-US" sz="1400" dirty="0"/>
              <a:t>InF1nite</a:t>
            </a:r>
            <a:r>
              <a:rPr sz="1400" dirty="0"/>
              <a:t> | Ottawa Infotainment Inc.</a:t>
            </a:r>
          </a:p>
          <a:p>
            <a:r>
              <a:rPr sz="1400" dirty="0"/>
              <a:t>[</a:t>
            </a:r>
            <a:r>
              <a:rPr lang="en-US" sz="1400" dirty="0" err="1"/>
              <a:t>Shaurya</a:t>
            </a:r>
            <a:r>
              <a:rPr lang="en-US" sz="1400" dirty="0"/>
              <a:t>, </a:t>
            </a:r>
            <a:r>
              <a:rPr lang="en-US" sz="1400" dirty="0" err="1"/>
              <a:t>Shrinicketh</a:t>
            </a:r>
            <a:r>
              <a:rPr lang="en-US" sz="1400" dirty="0"/>
              <a:t>, Reshma, Timothy, </a:t>
            </a:r>
            <a:r>
              <a:rPr lang="en-US" sz="1400" dirty="0" err="1"/>
              <a:t>Harinath</a:t>
            </a:r>
            <a:r>
              <a:rPr lang="en-US" sz="1400" dirty="0"/>
              <a:t>, and Krishna</a:t>
            </a:r>
            <a:r>
              <a:rPr sz="1400" dirty="0"/>
              <a:t>] — UI/UX Design &amp; HMI Engineering</a:t>
            </a:r>
          </a:p>
          <a:p>
            <a:r>
              <a:rPr sz="1400" dirty="0"/>
              <a:t>Challenge Track: Instrument Cluster Design</a:t>
            </a:r>
          </a:p>
          <a:p>
            <a:endParaRPr sz="1400" dirty="0"/>
          </a:p>
          <a:p>
            <a:r>
              <a:rPr lang="en-US" sz="1400" dirty="0"/>
              <a:t>Feb</a:t>
            </a:r>
            <a:r>
              <a:rPr sz="1400" dirty="0"/>
              <a:t> </a:t>
            </a:r>
            <a:r>
              <a:rPr lang="en-US" sz="1400" dirty="0"/>
              <a:t>18</a:t>
            </a:r>
            <a:r>
              <a:rPr sz="1400" dirty="0"/>
              <a:t>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1.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4575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600" b="1" dirty="0"/>
              <a:t>The User</a:t>
            </a:r>
            <a:endParaRPr sz="1600" dirty="0"/>
          </a:p>
          <a:p>
            <a:pPr marL="0" indent="0">
              <a:buNone/>
            </a:pPr>
            <a:r>
              <a:rPr sz="1600" dirty="0"/>
              <a:t>A High</a:t>
            </a:r>
            <a:r>
              <a:rPr lang="en-US" sz="1600" dirty="0"/>
              <a:t> </a:t>
            </a:r>
            <a:r>
              <a:rPr sz="1600" dirty="0"/>
              <a:t>Net</a:t>
            </a:r>
            <a:r>
              <a:rPr lang="en-US" sz="1600" dirty="0"/>
              <a:t> </a:t>
            </a:r>
            <a:r>
              <a:rPr sz="1600" dirty="0"/>
              <a:t>Worth Individual (HNWI) who owns an automotive company. He is purchasing this sports car as a career milestone. He also wants to impress his teenage kids, making the car’s technology feel aspirational and exciting to a younger, tech-savvy generation.</a:t>
            </a:r>
          </a:p>
          <a:p>
            <a:pPr marL="0" indent="0">
              <a:buNone/>
            </a:pPr>
            <a:endParaRPr sz="1600" dirty="0"/>
          </a:p>
          <a:p>
            <a:pPr marL="0" indent="0">
              <a:buNone/>
            </a:pPr>
            <a:r>
              <a:rPr sz="1600" b="1" dirty="0"/>
              <a:t>The Problem</a:t>
            </a:r>
            <a:endParaRPr sz="1600" dirty="0"/>
          </a:p>
          <a:p>
            <a:pPr marL="0" indent="0">
              <a:buNone/>
            </a:pPr>
            <a:r>
              <a:rPr sz="1600" dirty="0"/>
              <a:t>This user has an exceptionally high bar. As someone who runs an automotive business, he understands vehicles deeply</a:t>
            </a:r>
            <a:r>
              <a:rPr lang="en-US" sz="1600" dirty="0"/>
              <a:t>,</a:t>
            </a:r>
            <a:r>
              <a:rPr sz="1600" dirty="0"/>
              <a:t> generic dashboards won’t impress him. His teenagers, raised on smartphones and gaming, will judge the interface instantly. The current instrument cluster is forgettable</a:t>
            </a:r>
            <a:r>
              <a:rPr lang="en-US" sz="1600" dirty="0"/>
              <a:t> i.e.</a:t>
            </a:r>
            <a:r>
              <a:rPr sz="1600" dirty="0"/>
              <a:t> it lacks emotional impact</a:t>
            </a:r>
            <a:r>
              <a:rPr lang="en-US" sz="1600" dirty="0"/>
              <a:t> and</a:t>
            </a:r>
            <a:r>
              <a:rPr sz="1600" dirty="0"/>
              <a:t> fails to communicate performance character</a:t>
            </a:r>
            <a:endParaRPr lang="en-US" sz="1600" dirty="0"/>
          </a:p>
          <a:p>
            <a:pPr marL="0" indent="0">
              <a:buNone/>
            </a:pPr>
            <a:endParaRPr sz="1600" dirty="0"/>
          </a:p>
          <a:p>
            <a:pPr marL="0" indent="0">
              <a:buNone/>
            </a:pPr>
            <a:r>
              <a:rPr sz="1600" b="1" dirty="0"/>
              <a:t>Why It Matters</a:t>
            </a:r>
            <a:endParaRPr sz="1600" dirty="0"/>
          </a:p>
          <a:p>
            <a:pPr marL="0" indent="0">
              <a:buNone/>
            </a:pPr>
            <a:r>
              <a:rPr sz="1600" dirty="0"/>
              <a:t>• The dashboard is the first thing driver and passengers react to on entry</a:t>
            </a:r>
          </a:p>
          <a:p>
            <a:pPr marL="0" indent="0">
              <a:buNone/>
            </a:pPr>
            <a:r>
              <a:rPr sz="1600" dirty="0"/>
              <a:t>• A milestone purchase demands a UI worthy of the occasio</a:t>
            </a:r>
            <a:r>
              <a:rPr lang="en-US" sz="1600" dirty="0"/>
              <a:t>n</a:t>
            </a:r>
            <a:endParaRPr sz="1600" dirty="0"/>
          </a:p>
          <a:p>
            <a:pPr marL="0" indent="0">
              <a:buNone/>
            </a:pPr>
            <a:r>
              <a:rPr sz="1600" dirty="0"/>
              <a:t>• Dual audience (expert professional + tech-savvy teens) demands sophistication and excitement</a:t>
            </a:r>
          </a:p>
          <a:p>
            <a:pPr marL="0" indent="0">
              <a:buNone/>
            </a:pPr>
            <a:r>
              <a:rPr sz="1600" dirty="0"/>
              <a:t>• At 195 mph, poor information design </a:t>
            </a:r>
            <a:r>
              <a:rPr lang="en-US" sz="1600" dirty="0"/>
              <a:t>is </a:t>
            </a:r>
            <a:r>
              <a:rPr sz="1600" dirty="0"/>
              <a:t>dangerous</a:t>
            </a:r>
            <a:r>
              <a:rPr lang="en-US" sz="1600" dirty="0"/>
              <a:t> as a 2 sec glance means 572 ft travelled blind</a:t>
            </a:r>
            <a:endParaRPr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2. User &amp;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1600" b="1" dirty="0"/>
              <a:t>Primary User Persona</a:t>
            </a:r>
            <a:endParaRPr sz="1600" dirty="0"/>
          </a:p>
          <a:p>
            <a:pPr marL="0" indent="0">
              <a:buNone/>
            </a:pPr>
            <a:r>
              <a:rPr sz="1600" dirty="0"/>
              <a:t>• Male, </a:t>
            </a:r>
            <a:r>
              <a:rPr lang="en-US" sz="1600" dirty="0"/>
              <a:t>65 years old</a:t>
            </a:r>
            <a:r>
              <a:rPr sz="1600" dirty="0"/>
              <a:t>, HNWI, owns and operates an automotive company</a:t>
            </a:r>
          </a:p>
          <a:p>
            <a:pPr marL="0" indent="0">
              <a:buNone/>
            </a:pPr>
            <a:r>
              <a:rPr sz="1600" dirty="0"/>
              <a:t>• Deep knowledge of cars</a:t>
            </a:r>
            <a:r>
              <a:rPr lang="en-US" sz="1600" dirty="0"/>
              <a:t> as</a:t>
            </a:r>
            <a:r>
              <a:rPr sz="1600" dirty="0"/>
              <a:t> he will notice every design decision</a:t>
            </a:r>
          </a:p>
          <a:p>
            <a:pPr marL="0" indent="0">
              <a:buNone/>
            </a:pPr>
            <a:r>
              <a:rPr sz="1600" dirty="0"/>
              <a:t>• Purchasing this as a personal career milestone</a:t>
            </a:r>
            <a:r>
              <a:rPr lang="en-US" sz="1600" dirty="0"/>
              <a:t> so the</a:t>
            </a:r>
            <a:r>
              <a:rPr sz="1600" dirty="0"/>
              <a:t> emotional significance is</a:t>
            </a:r>
            <a:r>
              <a:rPr lang="en-US" sz="1600" dirty="0"/>
              <a:t> very</a:t>
            </a:r>
            <a:r>
              <a:rPr sz="1600" dirty="0"/>
              <a:t> high</a:t>
            </a:r>
          </a:p>
          <a:p>
            <a:pPr marL="0" indent="0">
              <a:buNone/>
            </a:pPr>
            <a:r>
              <a:rPr sz="1600" dirty="0"/>
              <a:t>• Wants to feel proud showing this car to his family, especially his teenage children</a:t>
            </a:r>
          </a:p>
          <a:p>
            <a:pPr marL="0" indent="0">
              <a:buNone/>
            </a:pPr>
            <a:endParaRPr sz="1600" dirty="0"/>
          </a:p>
          <a:p>
            <a:pPr marL="0" indent="0">
              <a:buNone/>
            </a:pPr>
            <a:r>
              <a:rPr sz="1600" b="1" dirty="0"/>
              <a:t>Secondary Audience (Influential)</a:t>
            </a:r>
            <a:endParaRPr sz="1600" dirty="0"/>
          </a:p>
          <a:p>
            <a:pPr marL="0" indent="0">
              <a:buNone/>
            </a:pPr>
            <a:r>
              <a:rPr sz="1600" dirty="0"/>
              <a:t>• Teenage kids,  highly tech-literate, expect smooth smartphone and gaming UX</a:t>
            </a:r>
          </a:p>
          <a:p>
            <a:pPr marL="0" indent="0">
              <a:buNone/>
            </a:pPr>
            <a:r>
              <a:rPr sz="1600" dirty="0"/>
              <a:t>• They reaction matters deeply to the father</a:t>
            </a:r>
          </a:p>
          <a:p>
            <a:pPr marL="0" indent="0">
              <a:buNone/>
            </a:pPr>
            <a:endParaRPr sz="1600" dirty="0"/>
          </a:p>
          <a:p>
            <a:pPr marL="0" indent="0">
              <a:buNone/>
            </a:pPr>
            <a:r>
              <a:rPr sz="1600" b="1" dirty="0"/>
              <a:t>Key Constraints</a:t>
            </a:r>
            <a:endParaRPr sz="1600" dirty="0"/>
          </a:p>
          <a:p>
            <a:pPr marL="0" indent="0">
              <a:buNone/>
            </a:pPr>
            <a:r>
              <a:rPr sz="1600" dirty="0"/>
              <a:t>• Safety: 1.5-second glance threshold is non-negotiable</a:t>
            </a:r>
          </a:p>
          <a:p>
            <a:pPr marL="0" indent="0">
              <a:buNone/>
            </a:pPr>
            <a:r>
              <a:rPr sz="1600" dirty="0"/>
              <a:t>• Sophistication: must feel as premium as the price tag</a:t>
            </a:r>
            <a:r>
              <a:rPr lang="en-US" sz="1600" dirty="0"/>
              <a:t> with good</a:t>
            </a:r>
            <a:r>
              <a:rPr sz="1600" dirty="0"/>
              <a:t> animations</a:t>
            </a:r>
          </a:p>
          <a:p>
            <a:pPr marL="0" indent="0">
              <a:buNone/>
            </a:pPr>
            <a:r>
              <a:rPr sz="1600" dirty="0"/>
              <a:t>• Dual appeal: exciting for teens, refined and purposeful for an industry expert</a:t>
            </a:r>
          </a:p>
          <a:p>
            <a:pPr marL="0" indent="0">
              <a:buNone/>
            </a:pPr>
            <a:r>
              <a:rPr sz="1600" dirty="0"/>
              <a:t>• Hardware: </a:t>
            </a:r>
            <a:r>
              <a:rPr lang="en-US" sz="1600" dirty="0"/>
              <a:t>Dual screen</a:t>
            </a:r>
            <a:r>
              <a:rPr sz="1600" dirty="0"/>
              <a:t> display, 1920×720</a:t>
            </a:r>
            <a:r>
              <a:rPr lang="en-US" sz="1600" dirty="0"/>
              <a:t>, 60 fps</a:t>
            </a:r>
            <a:endParaRPr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3. Existing Solutions &amp; Gaps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1600" b="1" dirty="0"/>
              <a:t>Current Benchmarks</a:t>
            </a:r>
            <a:endParaRPr sz="1600" dirty="0"/>
          </a:p>
          <a:p>
            <a:pPr marL="0" indent="0">
              <a:buNone/>
            </a:pPr>
            <a:r>
              <a:rPr sz="1600" dirty="0"/>
              <a:t>• Porsche / McLaren — refined and technical</a:t>
            </a:r>
          </a:p>
          <a:p>
            <a:pPr marL="0" indent="0">
              <a:buNone/>
            </a:pPr>
            <a:r>
              <a:rPr sz="1600" dirty="0"/>
              <a:t>• Ferrari digital cluster — prestigious but complex</a:t>
            </a:r>
          </a:p>
          <a:p>
            <a:pPr marL="0" indent="0">
              <a:buNone/>
            </a:pPr>
            <a:r>
              <a:rPr sz="1600" dirty="0"/>
              <a:t>• Corvette / Mustang digital — bold and American but aesthetically rough</a:t>
            </a:r>
          </a:p>
          <a:p>
            <a:pPr marL="0" indent="0">
              <a:buNone/>
            </a:pPr>
            <a:r>
              <a:rPr sz="1600" dirty="0"/>
              <a:t>• Tesla / Rivian — clean and modern but not performance-oriented</a:t>
            </a:r>
            <a:r>
              <a:rPr lang="en-US" sz="1600" dirty="0"/>
              <a:t>,</a:t>
            </a:r>
            <a:r>
              <a:rPr sz="1600" dirty="0"/>
              <a:t> no sports car character</a:t>
            </a:r>
          </a:p>
          <a:p>
            <a:pPr marL="0" indent="0">
              <a:buNone/>
            </a:pPr>
            <a:endParaRPr sz="1600" dirty="0"/>
          </a:p>
          <a:p>
            <a:pPr marL="0" indent="0">
              <a:buNone/>
            </a:pPr>
            <a:r>
              <a:rPr sz="1600" b="1" dirty="0"/>
              <a:t>What Works Well</a:t>
            </a:r>
            <a:endParaRPr sz="1600" dirty="0"/>
          </a:p>
          <a:p>
            <a:pPr marL="0" indent="0">
              <a:buNone/>
            </a:pPr>
            <a:r>
              <a:rPr sz="1600" dirty="0"/>
              <a:t>• European premium brands: consistent, polished, brand-coherent visual language</a:t>
            </a:r>
          </a:p>
          <a:p>
            <a:pPr marL="0" indent="0">
              <a:buNone/>
            </a:pPr>
            <a:r>
              <a:rPr sz="1600" dirty="0"/>
              <a:t>• Tesla/Rivian: immediately impressive startup animation, familiar to younger users</a:t>
            </a:r>
          </a:p>
          <a:p>
            <a:pPr marL="0" indent="0">
              <a:buNone/>
            </a:pPr>
            <a:r>
              <a:rPr sz="1600" dirty="0"/>
              <a:t>• </a:t>
            </a:r>
            <a:r>
              <a:rPr lang="en-US" sz="1600" dirty="0"/>
              <a:t>Sports</a:t>
            </a:r>
            <a:r>
              <a:rPr sz="1600" dirty="0"/>
              <a:t>-focused systems: performance data density that experts appreciate</a:t>
            </a:r>
          </a:p>
          <a:p>
            <a:pPr marL="0" indent="0">
              <a:buNone/>
            </a:pPr>
            <a:endParaRPr sz="1600" dirty="0"/>
          </a:p>
          <a:p>
            <a:pPr marL="0" indent="0">
              <a:buNone/>
            </a:pPr>
            <a:r>
              <a:rPr sz="1600" b="1" dirty="0"/>
              <a:t>Critical Gaps — Our Opportunity</a:t>
            </a:r>
            <a:endParaRPr sz="1600" dirty="0"/>
          </a:p>
          <a:p>
            <a:pPr marL="0" indent="0">
              <a:buNone/>
            </a:pPr>
            <a:r>
              <a:rPr sz="1600" dirty="0"/>
              <a:t>• No system targets the dual audience: </a:t>
            </a:r>
            <a:r>
              <a:rPr lang="en-US" sz="1600" dirty="0"/>
              <a:t>Data centric design for drivers </a:t>
            </a:r>
            <a:r>
              <a:rPr sz="1600" dirty="0"/>
              <a:t>+</a:t>
            </a:r>
            <a:r>
              <a:rPr lang="en-US" sz="1600" dirty="0"/>
              <a:t> appeasing to the passengers</a:t>
            </a:r>
            <a:endParaRPr sz="1600" dirty="0"/>
          </a:p>
          <a:p>
            <a:pPr marL="0" indent="0">
              <a:buNone/>
            </a:pPr>
            <a:r>
              <a:rPr sz="1600" dirty="0"/>
              <a:t>• Startup and ambient animations are absent or forgettable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4. Proposed Solution – Concept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sz="1600" b="1" dirty="0"/>
              <a:t>Our Solution</a:t>
            </a:r>
            <a:endParaRPr sz="1600" dirty="0"/>
          </a:p>
          <a:p>
            <a:pPr marL="0" indent="0">
              <a:buNone/>
            </a:pPr>
            <a:r>
              <a:rPr sz="1600" dirty="0"/>
              <a:t>A performance-driven digital instrument cluster that feels like a career milestone every time the car starts </a:t>
            </a:r>
            <a:r>
              <a:rPr lang="en-US" sz="1600" dirty="0"/>
              <a:t>while</a:t>
            </a:r>
            <a:r>
              <a:rPr sz="1600" dirty="0"/>
              <a:t> striking enough to earn a teenager’s respect, sophisticated enough to satisfy an automotive industry expert and safe enough to use at </a:t>
            </a:r>
            <a:r>
              <a:rPr lang="en-US" sz="1600" dirty="0"/>
              <a:t>higher speeds</a:t>
            </a:r>
            <a:r>
              <a:rPr sz="1600" dirty="0"/>
              <a:t>.</a:t>
            </a:r>
          </a:p>
          <a:p>
            <a:pPr marL="0" indent="0">
              <a:buNone/>
            </a:pPr>
            <a:endParaRPr sz="1600" dirty="0"/>
          </a:p>
          <a:p>
            <a:pPr marL="0" indent="0">
              <a:buNone/>
            </a:pPr>
            <a:r>
              <a:rPr sz="1600" b="1" dirty="0"/>
              <a:t>Key Differentiators</a:t>
            </a:r>
            <a:endParaRPr sz="1600" dirty="0"/>
          </a:p>
          <a:p>
            <a:pPr marL="0" indent="0">
              <a:buNone/>
            </a:pPr>
            <a:r>
              <a:rPr sz="1600" dirty="0"/>
              <a:t>• Cinematic startup sequence </a:t>
            </a:r>
            <a:endParaRPr lang="en-US" sz="1600" dirty="0"/>
          </a:p>
          <a:p>
            <a:pPr marL="0" indent="0">
              <a:buNone/>
            </a:pPr>
            <a:r>
              <a:rPr sz="1600" dirty="0"/>
              <a:t>• Three-tier visual hierarchy</a:t>
            </a:r>
          </a:p>
          <a:p>
            <a:pPr marL="0" indent="0">
              <a:buNone/>
            </a:pPr>
            <a:r>
              <a:rPr sz="1600" dirty="0"/>
              <a:t>• Three adaptive modes — </a:t>
            </a:r>
            <a:r>
              <a:rPr lang="en-US" sz="1600" dirty="0"/>
              <a:t>Normal/Street</a:t>
            </a:r>
            <a:r>
              <a:rPr sz="1600" dirty="0"/>
              <a:t> (refined, premium), Sport</a:t>
            </a:r>
            <a:r>
              <a:rPr lang="en-US" sz="1600" dirty="0"/>
              <a:t>s</a:t>
            </a:r>
            <a:r>
              <a:rPr sz="1600" dirty="0"/>
              <a:t> (</a:t>
            </a:r>
            <a:r>
              <a:rPr lang="en-US" sz="1600" dirty="0"/>
              <a:t>necessary </a:t>
            </a:r>
            <a:r>
              <a:rPr sz="1600" dirty="0"/>
              <a:t>data-first)</a:t>
            </a:r>
            <a:r>
              <a:rPr lang="en-US" sz="1600" dirty="0"/>
              <a:t> and Night mode</a:t>
            </a:r>
            <a:endParaRPr sz="1600" dirty="0"/>
          </a:p>
          <a:p>
            <a:pPr marL="0" indent="0">
              <a:buNone/>
            </a:pPr>
            <a:r>
              <a:rPr sz="1600" dirty="0"/>
              <a:t>• Design language: bold, precise, confident Detroit character</a:t>
            </a:r>
          </a:p>
          <a:p>
            <a:pPr marL="0" indent="0">
              <a:buNone/>
            </a:pPr>
            <a:r>
              <a:rPr sz="1600" dirty="0"/>
              <a:t>• Ambient display states that make passengers feel they’re in something genuinely special</a:t>
            </a:r>
          </a:p>
          <a:p>
            <a:pPr marL="0" indent="0">
              <a:buNone/>
            </a:pPr>
            <a:endParaRPr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7AAE6-58D6-FB0A-AA30-8B8F4C190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457200" y="158044"/>
            <a:ext cx="8229600" cy="116594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pic>
        <p:nvPicPr>
          <p:cNvPr id="9" name="Content Placeholder 8" descr="A diagram of a diagram&#10;&#10;AI-generated content may be incorrect.">
            <a:extLst>
              <a:ext uri="{FF2B5EF4-FFF2-40B4-BE49-F238E27FC236}">
                <a16:creationId xmlns:a16="http://schemas.microsoft.com/office/drawing/2014/main" id="{EC25083B-C4D0-EF26-0F63-C08ABFDCD9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299" y="274638"/>
            <a:ext cx="9144299" cy="5735241"/>
          </a:xfrm>
        </p:spPr>
      </p:pic>
    </p:spTree>
    <p:extLst>
      <p:ext uri="{BB962C8B-B14F-4D97-AF65-F5344CB8AC3E}">
        <p14:creationId xmlns:p14="http://schemas.microsoft.com/office/powerpoint/2010/main" val="3866864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User Flow &amp; Interaction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1600" b="1" dirty="0"/>
              <a:t>Startup Flow</a:t>
            </a:r>
            <a:endParaRPr sz="1600" dirty="0"/>
          </a:p>
          <a:p>
            <a:pPr marL="0" indent="0">
              <a:buNone/>
            </a:pPr>
            <a:r>
              <a:rPr sz="1600" dirty="0"/>
              <a:t>Driver enters → key press → cinematic startup sweep → Street mode fades in → Dashboard settles into clean premium resting state</a:t>
            </a:r>
          </a:p>
          <a:p>
            <a:pPr marL="0" indent="0">
              <a:buNone/>
            </a:pPr>
            <a:endParaRPr sz="1600" dirty="0"/>
          </a:p>
          <a:p>
            <a:pPr marL="0" indent="0">
              <a:buNone/>
            </a:pPr>
            <a:r>
              <a:rPr sz="1600" b="1" dirty="0"/>
              <a:t>Mode Switch Flow</a:t>
            </a:r>
            <a:endParaRPr sz="1600" dirty="0"/>
          </a:p>
          <a:p>
            <a:pPr marL="0" indent="0">
              <a:buNone/>
            </a:pPr>
            <a:r>
              <a:rPr sz="1600" dirty="0"/>
              <a:t>Single steering wheel button press → Smart Animate transition (300ms) →</a:t>
            </a:r>
          </a:p>
          <a:p>
            <a:pPr marL="0" indent="0">
              <a:buNone/>
            </a:pPr>
            <a:r>
              <a:rPr sz="1600" dirty="0"/>
              <a:t>• Sport: RPM dominates, G-force meter appears, color accent intensifies</a:t>
            </a:r>
          </a:p>
          <a:p>
            <a:pPr marL="0" indent="0">
              <a:buNone/>
            </a:pPr>
            <a:r>
              <a:rPr sz="1600" dirty="0"/>
              <a:t>• </a:t>
            </a:r>
            <a:r>
              <a:rPr lang="en-US" sz="1600" dirty="0"/>
              <a:t>Normal</a:t>
            </a:r>
            <a:r>
              <a:rPr sz="1600" dirty="0"/>
              <a:t>: </a:t>
            </a:r>
            <a:r>
              <a:rPr lang="en-CA" sz="1600" dirty="0"/>
              <a:t>balanced layout — Speed prominent, navigation and fuel accessible, refined ambient glow</a:t>
            </a:r>
            <a:endParaRPr sz="1600" dirty="0"/>
          </a:p>
          <a:p>
            <a:pPr marL="0" indent="0">
              <a:buNone/>
            </a:pPr>
            <a:endParaRPr sz="1600" dirty="0"/>
          </a:p>
          <a:p>
            <a:pPr marL="0" indent="0">
              <a:buNone/>
            </a:pPr>
            <a:r>
              <a:rPr sz="1600" b="1" dirty="0"/>
              <a:t>Warning Alert Flow</a:t>
            </a:r>
            <a:endParaRPr sz="1600" dirty="0"/>
          </a:p>
          <a:p>
            <a:pPr marL="0" indent="0">
              <a:buNone/>
            </a:pPr>
            <a:r>
              <a:rPr sz="1600" dirty="0"/>
              <a:t>• Critical (brake failure, engine fire): Full-screen red takeover + audible alarm — no dismiss</a:t>
            </a:r>
          </a:p>
          <a:p>
            <a:pPr marL="0" indent="0">
              <a:buNone/>
            </a:pPr>
            <a:r>
              <a:rPr sz="1600" dirty="0"/>
              <a:t>• Urgent (low oil, door ajar): Persistent amber icon + text until resolved</a:t>
            </a:r>
          </a:p>
          <a:p>
            <a:pPr marL="0" indent="0">
              <a:buNone/>
            </a:pPr>
            <a:r>
              <a:rPr sz="1600" dirty="0"/>
              <a:t>• Advisory (service due): Shows once, collapses to small icon only</a:t>
            </a:r>
          </a:p>
          <a:p>
            <a:pPr marL="0" indent="0">
              <a:buNone/>
            </a:pPr>
            <a:endParaRPr sz="1600" dirty="0"/>
          </a:p>
          <a:p>
            <a:pPr marL="0" indent="0">
              <a:buNone/>
            </a:pPr>
            <a:r>
              <a:rPr sz="1600" b="1" dirty="0"/>
              <a:t>Spatial Consistency Rule</a:t>
            </a:r>
            <a:endParaRPr sz="1600" dirty="0"/>
          </a:p>
          <a:p>
            <a:pPr marL="0" indent="0">
              <a:buNone/>
            </a:pPr>
            <a:r>
              <a:rPr sz="1600" dirty="0"/>
              <a:t>Speed, RPM, and Gear never move across any mode</a:t>
            </a:r>
            <a:r>
              <a:rPr lang="en-US" sz="1600" dirty="0"/>
              <a:t>, </a:t>
            </a:r>
            <a:r>
              <a:rPr sz="1600" dirty="0"/>
              <a:t>muscle memory that holds at 150 mph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007A2-DDED-4BE7-62CB-7652B2062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5" name="Content Placeholder 4" descr="A diagram of a warning system&#10;&#10;AI-generated content may be incorrect.">
            <a:extLst>
              <a:ext uri="{FF2B5EF4-FFF2-40B4-BE49-F238E27FC236}">
                <a16:creationId xmlns:a16="http://schemas.microsoft.com/office/drawing/2014/main" id="{A2A2E9BE-3B69-849B-DC4D-1B9A68ABCC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8468" y="171156"/>
            <a:ext cx="8867063" cy="6515688"/>
          </a:xfrm>
        </p:spPr>
      </p:pic>
    </p:spTree>
    <p:extLst>
      <p:ext uri="{BB962C8B-B14F-4D97-AF65-F5344CB8AC3E}">
        <p14:creationId xmlns:p14="http://schemas.microsoft.com/office/powerpoint/2010/main" val="3804553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Prototype / Visual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600" b="1" dirty="0"/>
              <a:t>Figma Prototype 1 (Feb 2–6) — Completed</a:t>
            </a:r>
            <a:endParaRPr sz="1600" dirty="0"/>
          </a:p>
          <a:p>
            <a:pPr marL="0" indent="0">
              <a:buNone/>
            </a:pPr>
            <a:r>
              <a:rPr sz="1600" dirty="0"/>
              <a:t>• Street mode: Speed center (large hybrid digital/analog), RPM arc left, Fuel/Temp/Nav flanking</a:t>
            </a:r>
          </a:p>
          <a:p>
            <a:pPr marL="0" indent="0">
              <a:buNone/>
            </a:pPr>
            <a:r>
              <a:rPr sz="1600" dirty="0"/>
              <a:t>• Dark background, white primary text, red accent for redline and warnings</a:t>
            </a:r>
          </a:p>
          <a:p>
            <a:pPr marL="0" indent="0">
              <a:buNone/>
            </a:pPr>
            <a:r>
              <a:rPr sz="1600" dirty="0"/>
              <a:t>• Typography:</a:t>
            </a:r>
            <a:r>
              <a:rPr lang="en-US" sz="1600" dirty="0"/>
              <a:t> Bold and clearly distinct</a:t>
            </a:r>
            <a:endParaRPr sz="1600" dirty="0"/>
          </a:p>
          <a:p>
            <a:pPr marL="0" indent="0">
              <a:buNone/>
            </a:pPr>
            <a:r>
              <a:rPr sz="1600" dirty="0"/>
              <a:t>• Cinematic startup</a:t>
            </a:r>
          </a:p>
          <a:p>
            <a:pPr marL="0" indent="0">
              <a:buNone/>
            </a:pPr>
            <a:endParaRPr sz="1600" dirty="0"/>
          </a:p>
          <a:p>
            <a:pPr marL="0" indent="0">
              <a:buNone/>
            </a:pPr>
            <a:r>
              <a:rPr sz="1600" b="1" dirty="0"/>
              <a:t>Figma Prototype 2 (Feb 9–15) — In Progress</a:t>
            </a:r>
            <a:endParaRPr sz="1600" dirty="0"/>
          </a:p>
          <a:p>
            <a:pPr marL="0" indent="0">
              <a:buNone/>
            </a:pPr>
            <a:r>
              <a:rPr sz="1600" dirty="0"/>
              <a:t>• Full component library: Warning (Inactive/Active/Critical), Gear (P/R/N/D/1–7), Mode Badge (Street/Sport), Fuel (Full/Half/Low/Critical)</a:t>
            </a:r>
          </a:p>
          <a:p>
            <a:pPr marL="0" indent="0">
              <a:buNone/>
            </a:pPr>
            <a:r>
              <a:rPr sz="1600" dirty="0"/>
              <a:t>• Smart Animate transitions across all three modes</a:t>
            </a:r>
          </a:p>
          <a:p>
            <a:pPr marL="0" indent="0">
              <a:buNone/>
            </a:pPr>
            <a:r>
              <a:rPr sz="1600" dirty="0"/>
              <a:t>• Auto Layout status bar — warning icons reflow as alerts appear/clear</a:t>
            </a:r>
          </a:p>
          <a:p>
            <a:pPr marL="0" indent="0">
              <a:buNone/>
            </a:pPr>
            <a:r>
              <a:rPr sz="1600" dirty="0"/>
              <a:t>• Ambient glow animations designed for passenger-facing first impression</a:t>
            </a:r>
          </a:p>
          <a:p>
            <a:pPr marL="0" indent="0">
              <a:buNone/>
            </a:pPr>
            <a:endParaRPr sz="1600" dirty="0"/>
          </a:p>
          <a:p>
            <a:pPr marL="0" indent="0">
              <a:buNone/>
            </a:pPr>
            <a:r>
              <a:rPr sz="1600" b="1" dirty="0"/>
              <a:t>Three-Tier Visual Hierarchy</a:t>
            </a:r>
            <a:endParaRPr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B9926-2B56-8091-7DFF-2ED936608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5" name="Content Placeholder 4" descr="A screenshot of a car dashboard&#10;&#10;AI-generated content may be incorrect.">
            <a:extLst>
              <a:ext uri="{FF2B5EF4-FFF2-40B4-BE49-F238E27FC236}">
                <a16:creationId xmlns:a16="http://schemas.microsoft.com/office/drawing/2014/main" id="{51EE0447-2DDE-F109-E482-84ACA5F242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58423" y="209285"/>
            <a:ext cx="8328376" cy="3133516"/>
          </a:xfrm>
        </p:spPr>
      </p:pic>
      <p:pic>
        <p:nvPicPr>
          <p:cNvPr id="7" name="Picture 6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6567702A-E23C-0B87-9813-FC0092A3EE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22" y="3552364"/>
            <a:ext cx="8328377" cy="3159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66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Technology &amp;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600" b="1" dirty="0"/>
              <a:t>Design &amp; Prototyping Stack</a:t>
            </a:r>
            <a:endParaRPr sz="1600" dirty="0"/>
          </a:p>
          <a:p>
            <a:pPr marL="0" indent="0">
              <a:buNone/>
            </a:pPr>
            <a:r>
              <a:rPr sz="1600" dirty="0"/>
              <a:t>• Figma — Component library, Smart Animate, Auto Layout, full variant system</a:t>
            </a:r>
          </a:p>
          <a:p>
            <a:pPr marL="0" indent="0">
              <a:buNone/>
            </a:pPr>
            <a:endParaRPr sz="1600" dirty="0"/>
          </a:p>
          <a:p>
            <a:pPr marL="0" indent="0">
              <a:buNone/>
            </a:pPr>
            <a:r>
              <a:rPr sz="1600" b="1" dirty="0"/>
              <a:t>Implementation Stack</a:t>
            </a:r>
            <a:endParaRPr sz="1600" dirty="0"/>
          </a:p>
          <a:p>
            <a:pPr marL="0" indent="0">
              <a:buNone/>
            </a:pPr>
            <a:r>
              <a:rPr sz="1600" dirty="0"/>
              <a:t>• GL Studio 7.x+ — automotive HMI implementation platform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sz="1600" b="1" dirty="0"/>
              <a:t>State Machine Architecture</a:t>
            </a:r>
            <a:endParaRPr sz="1600" dirty="0"/>
          </a:p>
          <a:p>
            <a:pPr marL="0" indent="0">
              <a:buNone/>
            </a:pPr>
            <a:r>
              <a:rPr sz="1600" dirty="0"/>
              <a:t>• Mode states: </a:t>
            </a:r>
            <a:r>
              <a:rPr lang="en-US" sz="1600" dirty="0"/>
              <a:t>Normal/</a:t>
            </a:r>
            <a:r>
              <a:rPr sz="1600" dirty="0"/>
              <a:t>Street ↔ Sport (single steering wheel button, no menus)</a:t>
            </a:r>
          </a:p>
          <a:p>
            <a:pPr marL="0" indent="0">
              <a:buNone/>
            </a:pPr>
            <a:r>
              <a:rPr sz="1600" dirty="0"/>
              <a:t>• Alert states: Normal → Advisory → Urgent → Critical (escalating override)</a:t>
            </a:r>
          </a:p>
          <a:p>
            <a:pPr marL="0" indent="0">
              <a:buNone/>
            </a:pPr>
            <a:r>
              <a:rPr sz="1600" dirty="0"/>
              <a:t>• Startup state: Cinematic sequence → Street default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Validation &amp; Evaluation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1600" b="1" dirty="0"/>
              <a:t>The Glance Test (Primary Safety Validation)</a:t>
            </a:r>
            <a:endParaRPr sz="1600" dirty="0"/>
          </a:p>
          <a:p>
            <a:pPr marL="0" indent="0">
              <a:buNone/>
            </a:pPr>
            <a:r>
              <a:rPr sz="1600" dirty="0"/>
              <a:t>Show dashboard for 1 second, hide it, ask: “What speed? What gear? Any warnings?” </a:t>
            </a:r>
            <a:endParaRPr lang="en-US" sz="1600" dirty="0"/>
          </a:p>
          <a:p>
            <a:pPr marL="0" indent="0">
              <a:buNone/>
            </a:pPr>
            <a:r>
              <a:rPr sz="1600" dirty="0"/>
              <a:t>Any failure triggers a redesign.</a:t>
            </a:r>
            <a:endParaRPr lang="en-US" sz="1600" dirty="0"/>
          </a:p>
          <a:p>
            <a:pPr marL="0" indent="0">
              <a:buNone/>
            </a:pPr>
            <a:endParaRPr sz="1600" dirty="0"/>
          </a:p>
          <a:p>
            <a:pPr marL="0" indent="0">
              <a:buNone/>
            </a:pPr>
            <a:r>
              <a:rPr sz="1600" b="1" dirty="0"/>
              <a:t>Key Usability &amp; Safety Metrics</a:t>
            </a:r>
            <a:endParaRPr sz="1600" dirty="0"/>
          </a:p>
          <a:p>
            <a:pPr marL="0" indent="0">
              <a:buNone/>
            </a:pPr>
            <a:r>
              <a:rPr sz="1600" dirty="0"/>
              <a:t>• Primary info (Speed, RPM, Gear): readable in under 0.5 seconds</a:t>
            </a:r>
          </a:p>
          <a:p>
            <a:pPr marL="0" indent="0">
              <a:buNone/>
            </a:pPr>
            <a:r>
              <a:rPr sz="1600" dirty="0"/>
              <a:t>• Secondary info (Fuel, Temp, Nav): comprehensible within 1.0 second</a:t>
            </a:r>
          </a:p>
          <a:p>
            <a:pPr marL="0" indent="0">
              <a:buNone/>
            </a:pPr>
            <a:r>
              <a:rPr sz="1600" dirty="0"/>
              <a:t>• All interactions: complete within 1.5 seconds (NHTSA threshold)</a:t>
            </a:r>
          </a:p>
          <a:p>
            <a:pPr marL="0" indent="0">
              <a:buNone/>
            </a:pPr>
            <a:r>
              <a:rPr sz="1600" dirty="0"/>
              <a:t>• GL Studio rendering: 60fps minimum   </a:t>
            </a:r>
            <a:endParaRPr lang="en-US" sz="1600" dirty="0"/>
          </a:p>
          <a:p>
            <a:pPr marL="0" indent="0">
              <a:buNone/>
            </a:pPr>
            <a:r>
              <a:rPr sz="1600" dirty="0"/>
              <a:t>• Critical warning comprehension: under 0.5 sec   </a:t>
            </a:r>
            <a:endParaRPr lang="en-US" sz="1600" dirty="0"/>
          </a:p>
          <a:p>
            <a:pPr marL="0" indent="0">
              <a:buNone/>
            </a:pPr>
            <a:r>
              <a:rPr sz="1600" dirty="0"/>
              <a:t>•   Mode switch: under 400ms</a:t>
            </a:r>
          </a:p>
          <a:p>
            <a:pPr marL="0" indent="0">
              <a:buNone/>
            </a:pPr>
            <a:endParaRPr sz="1600" dirty="0"/>
          </a:p>
          <a:p>
            <a:pPr marL="0" indent="0">
              <a:buNone/>
            </a:pPr>
            <a:r>
              <a:rPr sz="1600" b="1" dirty="0"/>
              <a:t>Dual Audience Validation</a:t>
            </a:r>
            <a:endParaRPr sz="1600" dirty="0"/>
          </a:p>
          <a:p>
            <a:pPr marL="0" indent="0">
              <a:buNone/>
            </a:pPr>
            <a:r>
              <a:rPr sz="1600" dirty="0"/>
              <a:t>• HNWI expert test: Does it feel worthy of an automotive professional? Sophisticated, not gimmicky?</a:t>
            </a:r>
          </a:p>
          <a:p>
            <a:pPr marL="0" indent="0">
              <a:buNone/>
            </a:pPr>
            <a:r>
              <a:rPr sz="1600" dirty="0"/>
              <a:t>• Teen impression test: First reaction to startup and Sport/</a:t>
            </a:r>
            <a:r>
              <a:rPr lang="en-US" sz="1600" dirty="0"/>
              <a:t>Street</a:t>
            </a:r>
            <a:r>
              <a:rPr sz="1600" dirty="0"/>
              <a:t> modes 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Progress &amp;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600" b="1" dirty="0"/>
              <a:t>COMPLETED — Phase 1: Figma Prototype 1 (Feb 2–6)</a:t>
            </a:r>
            <a:endParaRPr sz="1600" dirty="0"/>
          </a:p>
          <a:p>
            <a:pPr marL="0" indent="0">
              <a:buNone/>
            </a:pPr>
            <a:r>
              <a:rPr sz="1600" dirty="0"/>
              <a:t>• Street </a:t>
            </a:r>
            <a:r>
              <a:rPr lang="en-US" sz="1600" dirty="0"/>
              <a:t>and Sports </a:t>
            </a:r>
            <a:r>
              <a:rPr sz="1600" dirty="0"/>
              <a:t>mode dashboard</a:t>
            </a:r>
          </a:p>
          <a:p>
            <a:pPr marL="0" indent="0">
              <a:buNone/>
            </a:pPr>
            <a:r>
              <a:rPr sz="1600" dirty="0"/>
              <a:t>• Component library foundation, project documentation (PRD, Design Brief, Tech Specs)</a:t>
            </a:r>
          </a:p>
          <a:p>
            <a:pPr marL="0" indent="0">
              <a:buNone/>
            </a:pPr>
            <a:endParaRPr sz="1600" dirty="0"/>
          </a:p>
          <a:p>
            <a:pPr marL="0" indent="0">
              <a:buNone/>
            </a:pPr>
            <a:r>
              <a:rPr sz="1600" b="1" dirty="0"/>
              <a:t>IN PROGRESS — Phase 2: GL Studio + Prototype 2 (Feb 9–</a:t>
            </a:r>
            <a:r>
              <a:rPr lang="en-US" sz="1600" b="1" dirty="0"/>
              <a:t>20</a:t>
            </a:r>
            <a:r>
              <a:rPr sz="1600" b="1" dirty="0"/>
              <a:t>)</a:t>
            </a:r>
            <a:endParaRPr sz="1600" dirty="0"/>
          </a:p>
          <a:p>
            <a:pPr marL="0" indent="0">
              <a:buNone/>
            </a:pPr>
            <a:r>
              <a:rPr sz="1600" dirty="0"/>
              <a:t>• GL Studio installation, tutorials, component architecture exploration</a:t>
            </a:r>
          </a:p>
          <a:p>
            <a:pPr marL="0" indent="0">
              <a:buNone/>
            </a:pPr>
            <a:r>
              <a:rPr sz="1600" dirty="0"/>
              <a:t>• Figma Prototype 2: </a:t>
            </a:r>
            <a:r>
              <a:rPr lang="en-US" sz="1600" dirty="0"/>
              <a:t>Startup animations</a:t>
            </a:r>
            <a:r>
              <a:rPr sz="1600" dirty="0"/>
              <a:t>, </a:t>
            </a:r>
            <a:r>
              <a:rPr lang="en-US" sz="1600" dirty="0"/>
              <a:t>Day and night modes </a:t>
            </a:r>
            <a:r>
              <a:rPr sz="1600" dirty="0"/>
              <a:t>added</a:t>
            </a:r>
          </a:p>
          <a:p>
            <a:pPr marL="0" indent="0">
              <a:buNone/>
            </a:pPr>
            <a:r>
              <a:rPr sz="1600" dirty="0"/>
              <a:t>• Full variant system </a:t>
            </a:r>
            <a:r>
              <a:rPr sz="1600" dirty="0" err="1"/>
              <a:t>buil</a:t>
            </a:r>
            <a:r>
              <a:rPr lang="en-CA" sz="1600" dirty="0"/>
              <a:t>t</a:t>
            </a:r>
            <a:endParaRPr lang="en-US" sz="1600" dirty="0"/>
          </a:p>
          <a:p>
            <a:pPr marL="0" indent="0">
              <a:buNone/>
            </a:pPr>
            <a:r>
              <a:rPr sz="1600" dirty="0"/>
              <a:t>•  SVG assets exported for GL Studio</a:t>
            </a:r>
          </a:p>
          <a:p>
            <a:pPr marL="0" indent="0">
              <a:buNone/>
            </a:pPr>
            <a:endParaRPr sz="1600" dirty="0"/>
          </a:p>
          <a:p>
            <a:pPr marL="0" indent="0">
              <a:buNone/>
            </a:pPr>
            <a:r>
              <a:rPr sz="1600" b="1" dirty="0"/>
              <a:t>REMAINING — Phase 3: GL Studio Implementation (Feb </a:t>
            </a:r>
            <a:r>
              <a:rPr lang="en-US" sz="1600" b="1" dirty="0"/>
              <a:t>21</a:t>
            </a:r>
            <a:r>
              <a:rPr sz="1600" b="1" dirty="0"/>
              <a:t> – Mar 4)</a:t>
            </a:r>
            <a:endParaRPr lang="en-CA" sz="1600" dirty="0"/>
          </a:p>
          <a:p>
            <a:pPr marL="0" indent="0">
              <a:buNone/>
            </a:pPr>
            <a:r>
              <a:rPr lang="en-CA" sz="1600" dirty="0"/>
              <a:t>• Core implementation: gauges, state machine, startup animation, CAN simulation</a:t>
            </a:r>
          </a:p>
          <a:p>
            <a:pPr marL="0" indent="0">
              <a:buNone/>
            </a:pPr>
            <a:r>
              <a:rPr lang="en-CA" sz="1600" dirty="0"/>
              <a:t>• </a:t>
            </a:r>
            <a:r>
              <a:rPr sz="1600" dirty="0"/>
              <a:t>60fps optimization, glance testing under adverse conditions</a:t>
            </a:r>
          </a:p>
          <a:p>
            <a:pPr marL="0" indent="0">
              <a:buNone/>
            </a:pPr>
            <a:r>
              <a:rPr lang="en-CA" sz="1600" dirty="0"/>
              <a:t>• </a:t>
            </a:r>
            <a:r>
              <a:rPr sz="1600" dirty="0"/>
              <a:t>Final polish, demo setup, rehearsal</a:t>
            </a:r>
            <a:r>
              <a:rPr lang="en-US" sz="1600" dirty="0"/>
              <a:t> for presentation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Risks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1600" b="1" dirty="0"/>
              <a:t>Technical Risks</a:t>
            </a:r>
            <a:endParaRPr sz="1600" dirty="0"/>
          </a:p>
          <a:p>
            <a:pPr marL="0" indent="0">
              <a:buNone/>
            </a:pPr>
            <a:r>
              <a:rPr sz="1600" dirty="0"/>
              <a:t>• 60fps on ARM hardware</a:t>
            </a:r>
          </a:p>
          <a:p>
            <a:pPr marL="0" indent="0">
              <a:buNone/>
            </a:pPr>
            <a:r>
              <a:rPr sz="1600" dirty="0"/>
              <a:t>• Figma</a:t>
            </a:r>
            <a:r>
              <a:rPr lang="en-US" sz="1600" dirty="0"/>
              <a:t> </a:t>
            </a:r>
            <a:r>
              <a:rPr sz="1600" dirty="0"/>
              <a:t>to</a:t>
            </a:r>
            <a:r>
              <a:rPr lang="en-US" sz="1600" dirty="0"/>
              <a:t> </a:t>
            </a:r>
            <a:r>
              <a:rPr sz="1600" dirty="0"/>
              <a:t>GL Studio translation</a:t>
            </a:r>
            <a:endParaRPr lang="en-US" sz="1600" dirty="0"/>
          </a:p>
          <a:p>
            <a:pPr marL="0" indent="0">
              <a:buNone/>
            </a:pPr>
            <a:endParaRPr sz="1600" dirty="0"/>
          </a:p>
          <a:p>
            <a:pPr marL="0" indent="0">
              <a:buNone/>
            </a:pPr>
            <a:r>
              <a:rPr sz="1600" b="1" dirty="0"/>
              <a:t>UX &amp; Safety Concerns</a:t>
            </a:r>
            <a:endParaRPr sz="1600" dirty="0"/>
          </a:p>
          <a:p>
            <a:pPr marL="0" indent="0">
              <a:buNone/>
            </a:pPr>
            <a:r>
              <a:rPr sz="1600" dirty="0"/>
              <a:t>• Startup animation as distraction</a:t>
            </a:r>
            <a:endParaRPr lang="en-US" sz="1600" dirty="0"/>
          </a:p>
          <a:p>
            <a:pPr marL="0" indent="0">
              <a:buNone/>
            </a:pPr>
            <a:r>
              <a:rPr lang="en-CA" sz="1600" dirty="0"/>
              <a:t>	</a:t>
            </a:r>
            <a:r>
              <a:rPr lang="en-CA" sz="1600" b="1" dirty="0"/>
              <a:t>Solution</a:t>
            </a:r>
            <a:r>
              <a:rPr sz="1600" b="1" dirty="0"/>
              <a:t>:</a:t>
            </a:r>
            <a:r>
              <a:rPr sz="1600" dirty="0"/>
              <a:t> plays on ignition only, not mode switches</a:t>
            </a:r>
          </a:p>
          <a:p>
            <a:pPr marL="0" indent="0">
              <a:buNone/>
            </a:pPr>
            <a:r>
              <a:rPr sz="1600" dirty="0"/>
              <a:t>• Mode switching disorientation</a:t>
            </a:r>
            <a:r>
              <a:rPr lang="en-US" sz="1600" dirty="0"/>
              <a:t> </a:t>
            </a:r>
          </a:p>
          <a:p>
            <a:pPr marL="0" indent="0">
              <a:buNone/>
            </a:pPr>
            <a:r>
              <a:rPr lang="en-US" sz="1600" dirty="0"/>
              <a:t>	</a:t>
            </a:r>
            <a:r>
              <a:rPr lang="en-CA" sz="1600" dirty="0"/>
              <a:t> </a:t>
            </a:r>
            <a:r>
              <a:rPr lang="en-CA" sz="1600" b="1" dirty="0"/>
              <a:t>Solution:</a:t>
            </a:r>
            <a:r>
              <a:rPr lang="en-CA" sz="1600" dirty="0"/>
              <a:t> </a:t>
            </a:r>
            <a:r>
              <a:rPr sz="1600" dirty="0"/>
              <a:t>Tier 1 elements never change position across modes</a:t>
            </a:r>
          </a:p>
          <a:p>
            <a:pPr marL="0" indent="0">
              <a:buNone/>
            </a:pPr>
            <a:r>
              <a:rPr sz="1600" dirty="0"/>
              <a:t>• Teen-appeal features vs. safety hierarchy</a:t>
            </a:r>
            <a:endParaRPr lang="en-US" sz="1600" dirty="0"/>
          </a:p>
          <a:p>
            <a:pPr marL="0" indent="0">
              <a:buNone/>
            </a:pPr>
            <a:r>
              <a:rPr lang="en-CA" sz="1600" dirty="0"/>
              <a:t>	</a:t>
            </a:r>
            <a:r>
              <a:rPr lang="en-CA" sz="1600" b="1" dirty="0"/>
              <a:t>Solution:</a:t>
            </a:r>
            <a:r>
              <a:rPr lang="en-CA" sz="1600" dirty="0"/>
              <a:t> </a:t>
            </a:r>
            <a:r>
              <a:rPr sz="1600" dirty="0"/>
              <a:t>ambient effects are always Tier 3</a:t>
            </a:r>
          </a:p>
          <a:p>
            <a:pPr marL="0" indent="0">
              <a:buNone/>
            </a:pPr>
            <a:endParaRPr sz="1600" dirty="0"/>
          </a:p>
          <a:p>
            <a:pPr marL="0" indent="0">
              <a:buNone/>
            </a:pPr>
            <a:r>
              <a:rPr sz="1600" b="1" dirty="0"/>
              <a:t>Assumptions &amp; Scope Limitations</a:t>
            </a:r>
            <a:endParaRPr sz="1600" dirty="0"/>
          </a:p>
          <a:p>
            <a:pPr marL="0" indent="0">
              <a:buNone/>
            </a:pPr>
            <a:r>
              <a:rPr sz="1600" dirty="0"/>
              <a:t>• Glance testing is informal, not clinical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11. Summary &amp;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1600" b="1" dirty="0"/>
              <a:t>Value Proposition</a:t>
            </a:r>
            <a:endParaRPr sz="1600" dirty="0"/>
          </a:p>
          <a:p>
            <a:pPr marL="0" indent="0">
              <a:buNone/>
            </a:pPr>
            <a:r>
              <a:rPr sz="1600" dirty="0"/>
              <a:t>A</a:t>
            </a:r>
            <a:r>
              <a:rPr lang="en-US" sz="1600" dirty="0"/>
              <a:t>n infotainment system that </a:t>
            </a:r>
            <a:r>
              <a:rPr sz="1600" dirty="0"/>
              <a:t>makes </a:t>
            </a:r>
            <a:r>
              <a:rPr lang="en-US" sz="1600" dirty="0"/>
              <a:t>it worthy of a </a:t>
            </a:r>
            <a:r>
              <a:rPr sz="1600" dirty="0"/>
              <a:t>career milestone</a:t>
            </a:r>
            <a:r>
              <a:rPr lang="en-US" sz="1600" dirty="0"/>
              <a:t>, </a:t>
            </a:r>
            <a:r>
              <a:rPr sz="1600" dirty="0"/>
              <a:t>impressive enough to earn a teenager’s</a:t>
            </a:r>
            <a:r>
              <a:rPr lang="en-US" sz="1600" dirty="0"/>
              <a:t> interest</a:t>
            </a:r>
            <a:r>
              <a:rPr sz="1600" dirty="0"/>
              <a:t>, sophisticated enough to satisfy an automotive industry expert, and safe enough to use at full speed.</a:t>
            </a:r>
          </a:p>
          <a:p>
            <a:pPr marL="0" indent="0">
              <a:buNone/>
            </a:pPr>
            <a:endParaRPr sz="1600" dirty="0"/>
          </a:p>
          <a:p>
            <a:pPr marL="0" indent="0">
              <a:buNone/>
            </a:pPr>
            <a:r>
              <a:rPr sz="1600" b="1" dirty="0"/>
              <a:t>Key Takeaways</a:t>
            </a:r>
            <a:endParaRPr sz="1600" dirty="0"/>
          </a:p>
          <a:p>
            <a:pPr marL="0" indent="0">
              <a:buNone/>
            </a:pPr>
            <a:r>
              <a:rPr sz="1600" dirty="0"/>
              <a:t>• Every pixel is justified against the 1.5-second glance rul</a:t>
            </a:r>
            <a:r>
              <a:rPr lang="en-US" sz="1600" dirty="0"/>
              <a:t>e</a:t>
            </a:r>
            <a:endParaRPr sz="1600" dirty="0"/>
          </a:p>
          <a:p>
            <a:pPr marL="0" indent="0">
              <a:buNone/>
            </a:pPr>
            <a:r>
              <a:rPr sz="1600" dirty="0"/>
              <a:t>• Dual audience design: refined premium character for the driver, visual excitement for passengers</a:t>
            </a:r>
          </a:p>
          <a:p>
            <a:pPr marL="0" indent="0">
              <a:buNone/>
            </a:pPr>
            <a:r>
              <a:rPr sz="1600" dirty="0"/>
              <a:t>• Production-ready pipeline: Figma → SVG → GL Studio → </a:t>
            </a:r>
            <a:r>
              <a:rPr lang="en-US" sz="1600" dirty="0" err="1"/>
              <a:t>DragonFire</a:t>
            </a:r>
            <a:r>
              <a:rPr lang="en-US" sz="1600" dirty="0"/>
              <a:t> Pro</a:t>
            </a:r>
            <a:endParaRPr sz="1600" dirty="0"/>
          </a:p>
          <a:p>
            <a:pPr marL="0" indent="0">
              <a:buNone/>
            </a:pPr>
            <a:endParaRPr sz="1600" dirty="0"/>
          </a:p>
          <a:p>
            <a:pPr marL="0" indent="0">
              <a:buNone/>
            </a:pPr>
            <a:r>
              <a:rPr sz="1600" b="1" dirty="0"/>
              <a:t>Feedback We’re Seeking from Judges</a:t>
            </a:r>
            <a:endParaRPr sz="1600" dirty="0"/>
          </a:p>
          <a:p>
            <a:pPr marL="0" indent="0">
              <a:buNone/>
            </a:pPr>
            <a:r>
              <a:rPr sz="1600" dirty="0"/>
              <a:t>• Does our dual-audience framing (driver + passengers) feel like a genuine differentiator?</a:t>
            </a:r>
          </a:p>
          <a:p>
            <a:pPr marL="0" indent="0">
              <a:buNone/>
            </a:pPr>
            <a:r>
              <a:rPr sz="1600" dirty="0"/>
              <a:t>• Is the cinematic startup sequence an asset or a distraction risk — where is the line?</a:t>
            </a:r>
          </a:p>
          <a:p>
            <a:pPr marL="0" indent="0">
              <a:buNone/>
            </a:pPr>
            <a:r>
              <a:rPr sz="1600" dirty="0"/>
              <a:t>• What would make the most impact for the </a:t>
            </a:r>
            <a:r>
              <a:rPr lang="en-US" sz="1600" dirty="0"/>
              <a:t>Final </a:t>
            </a:r>
            <a:r>
              <a:rPr sz="1600" dirty="0"/>
              <a:t>demonstration?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D9698-8B8A-36FC-1351-F72ECE143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12. Thanks!</a:t>
            </a:r>
          </a:p>
        </p:txBody>
      </p:sp>
      <p:pic>
        <p:nvPicPr>
          <p:cNvPr id="5" name="Content Placeholder 4" descr="A person in a suit with his arms out in the air&#10;&#10;AI-generated content may be incorrect.">
            <a:extLst>
              <a:ext uri="{FF2B5EF4-FFF2-40B4-BE49-F238E27FC236}">
                <a16:creationId xmlns:a16="http://schemas.microsoft.com/office/drawing/2014/main" id="{038EAEBD-3A9C-DE96-20D4-2169BC64C9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3524" y="1417638"/>
            <a:ext cx="6531898" cy="4911202"/>
          </a:xfrm>
        </p:spPr>
      </p:pic>
    </p:spTree>
    <p:extLst>
      <p:ext uri="{BB962C8B-B14F-4D97-AF65-F5344CB8AC3E}">
        <p14:creationId xmlns:p14="http://schemas.microsoft.com/office/powerpoint/2010/main" val="5845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1500</Words>
  <Application>Microsoft Macintosh PowerPoint</Application>
  <PresentationFormat>On-screen Show (4:3)</PresentationFormat>
  <Paragraphs>171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Ottawa Infotainment UI/UX Innovation Challenge</vt:lpstr>
      <vt:lpstr>1. Problem Statement</vt:lpstr>
      <vt:lpstr>2. User &amp; Context</vt:lpstr>
      <vt:lpstr>3. Existing Solutions &amp; Gaps</vt:lpstr>
      <vt:lpstr>4. Proposed Solution – Concept Overview</vt:lpstr>
      <vt:lpstr> </vt:lpstr>
      <vt:lpstr>5. User Flow &amp; Interaction</vt:lpstr>
      <vt:lpstr> </vt:lpstr>
      <vt:lpstr>6. Prototype / Visual Design</vt:lpstr>
      <vt:lpstr> </vt:lpstr>
      <vt:lpstr>7. Technology &amp; Implementation</vt:lpstr>
      <vt:lpstr>8. Validation &amp; Evaluation Plan</vt:lpstr>
      <vt:lpstr>9. Progress &amp; Roadmap</vt:lpstr>
      <vt:lpstr>10. Risks &amp; Limitations</vt:lpstr>
      <vt:lpstr>11. Summary &amp; Ask</vt:lpstr>
      <vt:lpstr>12. 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Dr. Akhshik</dc:creator>
  <cp:keywords/>
  <dc:description>generated using python-pptx</dc:description>
  <cp:lastModifiedBy>SHAURYA </cp:lastModifiedBy>
  <cp:revision>8</cp:revision>
  <dcterms:created xsi:type="dcterms:W3CDTF">2013-01-27T09:14:16Z</dcterms:created>
  <dcterms:modified xsi:type="dcterms:W3CDTF">2026-02-16T04:29:03Z</dcterms:modified>
  <cp:category/>
</cp:coreProperties>
</file>