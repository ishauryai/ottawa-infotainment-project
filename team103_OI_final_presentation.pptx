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2" r:id="rId12"/>
    <p:sldId id="267" r:id="rId13"/>
    <p:sldId id="268" r:id="rId14"/>
    <p:sldId id="283" r:id="rId15"/>
    <p:sldId id="269" r:id="rId16"/>
    <p:sldId id="270" r:id="rId17"/>
    <p:sldId id="271" r:id="rId18"/>
  </p:sldIdLst>
  <p:sldSz cx="12192000" cy="6858000"/>
  <p:notesSz cx="6858000" cy="12192000"/>
  <p:embeddedFontLst>
    <p:embeddedFont>
      <p:font typeface="Liter" panose="02000503030000020004" pitchFamily="2" charset="0"/>
      <p:regular r:id="rId20"/>
    </p:embeddedFont>
    <p:embeddedFont>
      <p:font typeface="Quattrocento Sans" panose="020B0502050000020003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767"/>
    <p:restoredTop sz="90591"/>
  </p:normalViewPr>
  <p:slideViewPr>
    <p:cSldViewPr snapToGrid="0" snapToObjects="1">
      <p:cViewPr varScale="1">
        <p:scale>
          <a:sx n="145" d="100"/>
          <a:sy n="145" d="100"/>
        </p:scale>
        <p:origin x="1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44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48EB-5ACE-AE86-4AA8-8D6FF1AB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B5138-3668-DBD2-DD01-E47AF8BFB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46AEC-38BE-5456-7DA1-AB37FCD71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04C3-8228-1F58-256E-D461C743F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94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EEA17-5E99-1455-CD94-423DDE7B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94882-B87E-8781-BAC5-D00690745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3F591-A20D-CA92-9A3A-CE91352DC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D8D4D-3F43-D673-9789-DE8C51B38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60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376363"/>
            <a:ext cx="2419350" cy="342900"/>
          </a:xfrm>
          <a:custGeom>
            <a:avLst/>
            <a:gdLst/>
            <a:ahLst/>
            <a:cxnLst/>
            <a:rect l="l" t="t" r="r" b="b"/>
            <a:pathLst>
              <a:path w="2419350" h="342900">
                <a:moveTo>
                  <a:pt x="0" y="0"/>
                </a:moveTo>
                <a:lnTo>
                  <a:pt x="2419350" y="0"/>
                </a:lnTo>
                <a:lnTo>
                  <a:pt x="24193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1376363"/>
            <a:ext cx="24860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INSTRUMENT CLUSTER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17646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Ottawa Infotainment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Innovation Challenge - 2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33812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Performance-Driven Dashboard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381" y="452913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9613" y="4481513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InF1nite</a:t>
            </a: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Ottawa Infotainment Inc.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5748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32F2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1000" y="5805488"/>
            <a:ext cx="825333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[Shaurya, Shrinicketh, Reshma, Timothy, Harinath, and Krishna] — UI/UX Design &amp; HMI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6286500"/>
            <a:ext cx="655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Track: Instrument Cluster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42563" y="6210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 4, 2026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49" y="419100"/>
            <a:ext cx="1033462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</a:rPr>
              <a:t>1. Project Overview (Problem Statement &amp; Context)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581650" cy="2705100"/>
          </a:xfrm>
          <a:custGeom>
            <a:avLst/>
            <a:gdLst/>
            <a:ahLst/>
            <a:cxnLst/>
            <a:rect l="l" t="t" r="r" b="b"/>
            <a:pathLst>
              <a:path w="5581650" h="270510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2628897"/>
                </a:lnTo>
                <a:cubicBezTo>
                  <a:pt x="5581650" y="2670983"/>
                  <a:pt x="5547533" y="2705100"/>
                  <a:pt x="5505447" y="2705100"/>
                </a:cubicBez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2705100"/>
          </a:xfrm>
          <a:custGeom>
            <a:avLst/>
            <a:gdLst/>
            <a:ahLst/>
            <a:cxnLst/>
            <a:rect l="l" t="t" r="r" b="b"/>
            <a:pathLst>
              <a:path w="38100" h="2705100">
                <a:moveTo>
                  <a:pt x="38100" y="0"/>
                </a:moveTo>
                <a:lnTo>
                  <a:pt x="38100" y="0"/>
                </a:lnTo>
                <a:lnTo>
                  <a:pt x="38100" y="2705100"/>
                </a:ln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7700" y="129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1525" y="1409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338263"/>
            <a:ext cx="2409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User Persona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988" y="1905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6775" y="18288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Male, 65 years old, HNWI, owns and operates an automotive company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988" y="2247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6775" y="2171700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knowledge of cars as he will notice every design decision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463" y="2590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6088" y="2514600"/>
            <a:ext cx="498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Purchasing this as a personal career milestone so the emotional significance is very high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7225" y="3162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5018" y="308610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Wants to feel proud showing this car to his family, especially his teenage children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00500"/>
            <a:ext cx="5581650" cy="1790700"/>
          </a:xfrm>
          <a:custGeom>
            <a:avLst/>
            <a:gdLst/>
            <a:ahLst/>
            <a:cxnLst/>
            <a:rect l="l" t="t" r="r" b="b"/>
            <a:pathLst>
              <a:path w="5581650" h="1790700">
                <a:moveTo>
                  <a:pt x="38100" y="0"/>
                </a:moveTo>
                <a:lnTo>
                  <a:pt x="5505456" y="0"/>
                </a:lnTo>
                <a:cubicBezTo>
                  <a:pt x="5547508" y="0"/>
                  <a:pt x="5581650" y="34142"/>
                  <a:pt x="5581650" y="76194"/>
                </a:cubicBezTo>
                <a:lnTo>
                  <a:pt x="5581650" y="1714506"/>
                </a:lnTo>
                <a:cubicBezTo>
                  <a:pt x="5581650" y="1756587"/>
                  <a:pt x="5547537" y="1790700"/>
                  <a:pt x="5505456" y="1790700"/>
                </a:cubicBez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40005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700" y="422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2950" y="4343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4271963"/>
            <a:ext cx="3619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Audience (Influential)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7225" y="4838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0822" y="476250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Teenage kids, highly tech-literate, expect smooth smartphone and gaming UX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1988" y="5410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6775" y="533400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reaction matters deeply to the father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1072444"/>
            <a:ext cx="5581650" cy="4718756"/>
          </a:xfrm>
          <a:custGeom>
            <a:avLst/>
            <a:gdLst/>
            <a:ahLst/>
            <a:cxnLst/>
            <a:rect l="l" t="t" r="r" b="b"/>
            <a:pathLst>
              <a:path w="5581650" h="5410200">
                <a:moveTo>
                  <a:pt x="38100" y="0"/>
                </a:moveTo>
                <a:lnTo>
                  <a:pt x="5505474" y="0"/>
                </a:lnTo>
                <a:cubicBezTo>
                  <a:pt x="5547545" y="0"/>
                  <a:pt x="5581650" y="34105"/>
                  <a:pt x="5581650" y="76176"/>
                </a:cubicBezTo>
                <a:lnTo>
                  <a:pt x="5581650" y="5334024"/>
                </a:lnTo>
                <a:cubicBezTo>
                  <a:pt x="5581650" y="5376095"/>
                  <a:pt x="5547545" y="5410200"/>
                  <a:pt x="5505474" y="5410200"/>
                </a:cubicBez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29349" y="1066800"/>
            <a:ext cx="47625" cy="4718756"/>
          </a:xfrm>
          <a:custGeom>
            <a:avLst/>
            <a:gdLst/>
            <a:ahLst/>
            <a:cxnLst/>
            <a:rect l="l" t="t" r="r" b="b"/>
            <a:pathLst>
              <a:path w="38100" h="5410200">
                <a:moveTo>
                  <a:pt x="38100" y="0"/>
                </a:moveTo>
                <a:lnTo>
                  <a:pt x="38100" y="0"/>
                </a:lnTo>
                <a:lnTo>
                  <a:pt x="38100" y="5410200"/>
                </a:ln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77000" y="129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10350" y="1409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72300" y="1338263"/>
            <a:ext cx="1800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Constraints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7000" y="186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65106" y="1952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96100" y="182880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96100" y="2095500"/>
            <a:ext cx="4325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1.5-second glance threshold is non-negotiable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7700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65106" y="2600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0394" y="8803"/>
                </a:moveTo>
                <a:cubicBezTo>
                  <a:pt x="31566" y="7214"/>
                  <a:pt x="33442" y="6251"/>
                  <a:pt x="35421" y="6251"/>
                </a:cubicBezTo>
                <a:lnTo>
                  <a:pt x="97929" y="6251"/>
                </a:lnTo>
                <a:cubicBezTo>
                  <a:pt x="99908" y="6251"/>
                  <a:pt x="101784" y="7188"/>
                  <a:pt x="102956" y="8803"/>
                </a:cubicBezTo>
                <a:lnTo>
                  <a:pt x="132126" y="48391"/>
                </a:lnTo>
                <a:cubicBezTo>
                  <a:pt x="133897" y="50788"/>
                  <a:pt x="133715" y="54095"/>
                  <a:pt x="131735" y="56309"/>
                </a:cubicBezTo>
                <a:lnTo>
                  <a:pt x="71311" y="122984"/>
                </a:lnTo>
                <a:cubicBezTo>
                  <a:pt x="70139" y="124286"/>
                  <a:pt x="68446" y="125042"/>
                  <a:pt x="66675" y="125042"/>
                </a:cubicBezTo>
                <a:cubicBezTo>
                  <a:pt x="64904" y="125042"/>
                  <a:pt x="63237" y="124286"/>
                  <a:pt x="62039" y="122984"/>
                </a:cubicBezTo>
                <a:lnTo>
                  <a:pt x="1615" y="56309"/>
                </a:lnTo>
                <a:cubicBezTo>
                  <a:pt x="-391" y="54095"/>
                  <a:pt x="-547" y="50788"/>
                  <a:pt x="1224" y="48391"/>
                </a:cubicBezTo>
                <a:lnTo>
                  <a:pt x="30394" y="8803"/>
                </a:lnTo>
                <a:close/>
                <a:moveTo>
                  <a:pt x="40422" y="19169"/>
                </a:moveTo>
                <a:cubicBezTo>
                  <a:pt x="39562" y="19820"/>
                  <a:pt x="39328" y="20992"/>
                  <a:pt x="39875" y="21904"/>
                </a:cubicBezTo>
                <a:lnTo>
                  <a:pt x="54825" y="46829"/>
                </a:lnTo>
                <a:lnTo>
                  <a:pt x="16486" y="50006"/>
                </a:lnTo>
                <a:cubicBezTo>
                  <a:pt x="15419" y="50084"/>
                  <a:pt x="14585" y="50996"/>
                  <a:pt x="14585" y="52090"/>
                </a:cubicBezTo>
                <a:cubicBezTo>
                  <a:pt x="14585" y="53184"/>
                  <a:pt x="15419" y="54069"/>
                  <a:pt x="16486" y="54173"/>
                </a:cubicBezTo>
                <a:lnTo>
                  <a:pt x="66493" y="58341"/>
                </a:lnTo>
                <a:cubicBezTo>
                  <a:pt x="66597" y="58341"/>
                  <a:pt x="66727" y="58341"/>
                  <a:pt x="66831" y="58341"/>
                </a:cubicBezTo>
                <a:lnTo>
                  <a:pt x="116838" y="54173"/>
                </a:lnTo>
                <a:cubicBezTo>
                  <a:pt x="117905" y="54095"/>
                  <a:pt x="118739" y="53184"/>
                  <a:pt x="118739" y="52090"/>
                </a:cubicBezTo>
                <a:cubicBezTo>
                  <a:pt x="118739" y="50996"/>
                  <a:pt x="117905" y="50110"/>
                  <a:pt x="116838" y="50006"/>
                </a:cubicBezTo>
                <a:lnTo>
                  <a:pt x="78499" y="46803"/>
                </a:lnTo>
                <a:lnTo>
                  <a:pt x="93449" y="21904"/>
                </a:lnTo>
                <a:cubicBezTo>
                  <a:pt x="93996" y="20992"/>
                  <a:pt x="93762" y="19794"/>
                  <a:pt x="92902" y="19169"/>
                </a:cubicBezTo>
                <a:cubicBezTo>
                  <a:pt x="92043" y="18544"/>
                  <a:pt x="90845" y="18648"/>
                  <a:pt x="90115" y="19430"/>
                </a:cubicBezTo>
                <a:lnTo>
                  <a:pt x="66675" y="44849"/>
                </a:lnTo>
                <a:lnTo>
                  <a:pt x="43209" y="19430"/>
                </a:lnTo>
                <a:cubicBezTo>
                  <a:pt x="42479" y="18648"/>
                  <a:pt x="41281" y="18544"/>
                  <a:pt x="40422" y="191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96100" y="2476500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Sophistication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96100" y="2743200"/>
            <a:ext cx="47709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feel as premium as the price tag with good animations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477000" y="316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548438" y="32480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96100" y="3124200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</a:t>
            </a: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appeal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6100" y="3390900"/>
            <a:ext cx="49685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exciting for teens, refined and purposeful for an industry expert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86843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Existing Solutions &amp;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85363"/>
            <a:ext cx="5685830" cy="5269634"/>
          </a:xfrm>
          <a:custGeom>
            <a:avLst/>
            <a:gdLst/>
            <a:ahLst/>
            <a:cxnLst/>
            <a:rect l="l" t="t" r="r" b="b"/>
            <a:pathLst>
              <a:path w="3686175" h="5410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334007"/>
                </a:lnTo>
                <a:cubicBezTo>
                  <a:pt x="3686175" y="5376087"/>
                  <a:pt x="3652062" y="5410200"/>
                  <a:pt x="3609982" y="5410200"/>
                </a:cubicBezTo>
                <a:lnTo>
                  <a:pt x="76193" y="5410200"/>
                </a:lnTo>
                <a:cubicBezTo>
                  <a:pt x="34113" y="5410200"/>
                  <a:pt x="0" y="5376087"/>
                  <a:pt x="0" y="5334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15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3144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Benchmarks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8590" y="199248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7041" y="1947736"/>
            <a:ext cx="4158287" cy="163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Ferrari SF90: Precise but emotionally cold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0243" y="378731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7041" y="2399984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Porsche 911: Clean and Minimal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6254" y="253863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7041" y="3148013"/>
            <a:ext cx="4382710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McLaren 720S: Bold but steep learning curve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0470" y="317592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2500" y="3768106"/>
            <a:ext cx="5033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 Model S Plaid: Modern animations that look very stunning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20880" y="1056788"/>
            <a:ext cx="5490120" cy="5298209"/>
          </a:xfrm>
          <a:custGeom>
            <a:avLst/>
            <a:gdLst/>
            <a:ahLst/>
            <a:cxnLst/>
            <a:rect l="l" t="t" r="r" b="b"/>
            <a:pathLst>
              <a:path w="3667125" h="5391150">
                <a:moveTo>
                  <a:pt x="76203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5314947"/>
                </a:lnTo>
                <a:cubicBezTo>
                  <a:pt x="3667125" y="5357005"/>
                  <a:pt x="3632980" y="5391150"/>
                  <a:pt x="3590922" y="5391150"/>
                </a:cubicBezTo>
                <a:lnTo>
                  <a:pt x="76203" y="5391150"/>
                </a:lnTo>
                <a:cubicBezTo>
                  <a:pt x="34145" y="5391150"/>
                  <a:pt x="0" y="5357005"/>
                  <a:pt x="0" y="53149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32F2F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08705" y="1284822"/>
            <a:ext cx="371475" cy="381000"/>
          </a:xfrm>
          <a:custGeom>
            <a:avLst/>
            <a:gdLst/>
            <a:ahLst/>
            <a:cxnLst/>
            <a:rect l="l" t="t" r="r" b="b"/>
            <a:pathLst>
              <a:path w="371475" h="381000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95263"/>
                </a:lnTo>
                <a:cubicBezTo>
                  <a:pt x="371475" y="297774"/>
                  <a:pt x="288249" y="381000"/>
                  <a:pt x="185738" y="381000"/>
                </a:cubicBezTo>
                <a:lnTo>
                  <a:pt x="185738" y="381000"/>
                </a:lnTo>
                <a:cubicBezTo>
                  <a:pt x="83226" y="381000"/>
                  <a:pt x="0" y="297774"/>
                  <a:pt x="0" y="195263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87888" y="13950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56375" y="1208622"/>
            <a:ext cx="28670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</a:rPr>
              <a:t>The Gap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38487" y="262014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68873" y="2457143"/>
            <a:ext cx="4647980" cy="43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</a:rPr>
              <a:t>Performance data clarity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28962" y="324677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68873" y="3070954"/>
            <a:ext cx="464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refinements &amp; Aesthetics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53675" y="5285599"/>
            <a:ext cx="5050900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32F2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77525" y="5399899"/>
            <a:ext cx="4410192" cy="221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opportunity: Fill precisely this intersection</a:t>
            </a:r>
            <a:endParaRPr lang="en-US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B9F3487-D271-161B-7AA9-4172604AF5A9}"/>
              </a:ext>
            </a:extLst>
          </p:cNvPr>
          <p:cNvSpPr/>
          <p:nvPr/>
        </p:nvSpPr>
        <p:spPr>
          <a:xfrm>
            <a:off x="952500" y="4463261"/>
            <a:ext cx="5049360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Rivian R1T/R1S: Great startup animation but adventure focused not performance</a:t>
            </a:r>
            <a:endParaRPr lang="en-US" sz="14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5B383FC-9FFC-8931-7A66-BC86F4222711}"/>
              </a:ext>
            </a:extLst>
          </p:cNvPr>
          <p:cNvSpPr/>
          <p:nvPr/>
        </p:nvSpPr>
        <p:spPr>
          <a:xfrm>
            <a:off x="694738" y="434770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7585B360-F2FC-7804-9367-59EA3658CAA8}"/>
              </a:ext>
            </a:extLst>
          </p:cNvPr>
          <p:cNvSpPr/>
          <p:nvPr/>
        </p:nvSpPr>
        <p:spPr>
          <a:xfrm>
            <a:off x="952500" y="5141697"/>
            <a:ext cx="4382710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Corvette C8: Bold but aesthetically unrefined</a:t>
            </a:r>
            <a:endParaRPr lang="en-US" sz="140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DD162C63-4EB3-0580-BD7A-268AA0E3F016}"/>
              </a:ext>
            </a:extLst>
          </p:cNvPr>
          <p:cNvSpPr/>
          <p:nvPr/>
        </p:nvSpPr>
        <p:spPr>
          <a:xfrm>
            <a:off x="701374" y="517215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5D8BBE89-829F-1D12-F57E-EDE27539890D}"/>
              </a:ext>
            </a:extLst>
          </p:cNvPr>
          <p:cNvSpPr/>
          <p:nvPr/>
        </p:nvSpPr>
        <p:spPr>
          <a:xfrm>
            <a:off x="6905007" y="1925241"/>
            <a:ext cx="4382710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</a:rPr>
              <a:t>No competitor excels at all four dimensions:</a:t>
            </a:r>
            <a:endParaRPr lang="en-US" sz="140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ADD8E7A2-6272-FDB3-E3D7-777BFB50D1B8}"/>
              </a:ext>
            </a:extLst>
          </p:cNvPr>
          <p:cNvSpPr/>
          <p:nvPr/>
        </p:nvSpPr>
        <p:spPr>
          <a:xfrm>
            <a:off x="6653881" y="1970684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669AB6DC-1416-23A9-F03A-9436CC295A1F}"/>
              </a:ext>
            </a:extLst>
          </p:cNvPr>
          <p:cNvSpPr/>
          <p:nvPr/>
        </p:nvSpPr>
        <p:spPr>
          <a:xfrm>
            <a:off x="6831462" y="38638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6FEF05D1-43BE-0C24-0C59-E0457CDA48E4}"/>
              </a:ext>
            </a:extLst>
          </p:cNvPr>
          <p:cNvSpPr/>
          <p:nvPr/>
        </p:nvSpPr>
        <p:spPr>
          <a:xfrm>
            <a:off x="7076221" y="3675210"/>
            <a:ext cx="464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brand startup moment</a:t>
            </a:r>
            <a:endParaRPr lang="en-US" sz="1400" dirty="0"/>
          </a:p>
        </p:txBody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41D1D7A3-7BA9-0EC5-65B8-15D8B34D2FDB}"/>
              </a:ext>
            </a:extLst>
          </p:cNvPr>
          <p:cNvSpPr/>
          <p:nvPr/>
        </p:nvSpPr>
        <p:spPr>
          <a:xfrm>
            <a:off x="6831462" y="449345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FE73AC36-C6A8-2FBC-0825-AEC8C190605F}"/>
              </a:ext>
            </a:extLst>
          </p:cNvPr>
          <p:cNvSpPr/>
          <p:nvPr/>
        </p:nvSpPr>
        <p:spPr>
          <a:xfrm>
            <a:off x="7072398" y="4315685"/>
            <a:ext cx="464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</a:rPr>
              <a:t>Dual Audience Appeal (Driver + Passenger)</a:t>
            </a:r>
            <a:endParaRPr lang="en-US" sz="1400" dirty="0"/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FBB32623-BA19-778B-3FAE-1F7422EEF802}"/>
              </a:ext>
            </a:extLst>
          </p:cNvPr>
          <p:cNvSpPr/>
          <p:nvPr/>
        </p:nvSpPr>
        <p:spPr>
          <a:xfrm>
            <a:off x="6608398" y="1404239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Proposed Solution – Concept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800"/>
            <a:ext cx="11430000" cy="1419225"/>
          </a:xfrm>
          <a:custGeom>
            <a:avLst/>
            <a:gdLst/>
            <a:ahLst/>
            <a:cxnLst/>
            <a:rect l="l" t="t" r="r" b="b"/>
            <a:pathLst>
              <a:path w="11430000" h="1419225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343027"/>
                </a:lnTo>
                <a:cubicBezTo>
                  <a:pt x="11430000" y="1385110"/>
                  <a:pt x="11395885" y="1419225"/>
                  <a:pt x="11353802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1958" y="1276350"/>
            <a:ext cx="1776488" cy="339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04975"/>
            <a:ext cx="110585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performance-driven digital instrument cluster that feels like a career milestone every time the car starts while striking enough to earn a teenager's respect, sophisticated enough to satisfy an automotive industry expert and safe enough to use at higher speeds.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1000" y="2676525"/>
            <a:ext cx="11430000" cy="3990975"/>
          </a:xfrm>
          <a:custGeom>
            <a:avLst/>
            <a:gdLst/>
            <a:ahLst/>
            <a:cxnLst/>
            <a:rect l="l" t="t" r="r" b="b"/>
            <a:pathLst>
              <a:path w="11430000" h="3990975">
                <a:moveTo>
                  <a:pt x="76188" y="0"/>
                </a:moveTo>
                <a:lnTo>
                  <a:pt x="11353812" y="0"/>
                </a:lnTo>
                <a:cubicBezTo>
                  <a:pt x="11395861" y="0"/>
                  <a:pt x="11430000" y="34139"/>
                  <a:pt x="11430000" y="76188"/>
                </a:cubicBezTo>
                <a:lnTo>
                  <a:pt x="11430000" y="3914787"/>
                </a:lnTo>
                <a:cubicBezTo>
                  <a:pt x="11430000" y="3956865"/>
                  <a:pt x="11395890" y="3990975"/>
                  <a:pt x="11353812" y="3990975"/>
                </a:cubicBezTo>
                <a:lnTo>
                  <a:pt x="76188" y="3990975"/>
                </a:lnTo>
                <a:cubicBezTo>
                  <a:pt x="34139" y="3990975"/>
                  <a:pt x="0" y="3956836"/>
                  <a:pt x="0" y="39147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8175" y="29384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9650" y="2905125"/>
            <a:ext cx="21240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3390900"/>
            <a:ext cx="5391150" cy="838200"/>
          </a:xfrm>
          <a:custGeom>
            <a:avLst/>
            <a:gdLst/>
            <a:ahLst/>
            <a:cxnLst/>
            <a:rect l="l" t="t" r="r" b="b"/>
            <a:pathLst>
              <a:path w="5391150" h="838200">
                <a:moveTo>
                  <a:pt x="38100" y="0"/>
                </a:moveTo>
                <a:lnTo>
                  <a:pt x="5314949" y="0"/>
                </a:lnTo>
                <a:cubicBezTo>
                  <a:pt x="5357034" y="0"/>
                  <a:pt x="5391150" y="34116"/>
                  <a:pt x="5391150" y="76201"/>
                </a:cubicBezTo>
                <a:lnTo>
                  <a:pt x="5391150" y="761999"/>
                </a:lnTo>
                <a:cubicBezTo>
                  <a:pt x="5391150" y="804084"/>
                  <a:pt x="5357034" y="838200"/>
                  <a:pt x="53149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8650" y="3390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010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4257" y="36195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249791"/>
            <a:ext cx="4031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startup sequence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5400" y="3616680"/>
            <a:ext cx="4019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emotional impact from the first moment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1250" y="3390900"/>
            <a:ext cx="5391150" cy="838200"/>
          </a:xfrm>
          <a:custGeom>
            <a:avLst/>
            <a:gdLst/>
            <a:ahLst/>
            <a:cxnLst/>
            <a:rect l="l" t="t" r="r" b="b"/>
            <a:pathLst>
              <a:path w="5391150" h="838200">
                <a:moveTo>
                  <a:pt x="38100" y="0"/>
                </a:moveTo>
                <a:lnTo>
                  <a:pt x="5314949" y="0"/>
                </a:lnTo>
                <a:cubicBezTo>
                  <a:pt x="5357034" y="0"/>
                  <a:pt x="5391150" y="34116"/>
                  <a:pt x="5391150" y="76201"/>
                </a:cubicBezTo>
                <a:lnTo>
                  <a:pt x="5391150" y="761999"/>
                </a:lnTo>
                <a:cubicBezTo>
                  <a:pt x="5391150" y="804084"/>
                  <a:pt x="5357034" y="838200"/>
                  <a:pt x="53149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1250" y="3390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6270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2272" y="36195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249791"/>
            <a:ext cx="31944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visual hierarchy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7999" y="3588458"/>
            <a:ext cx="31826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information clarity at a glance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8650" y="4381500"/>
            <a:ext cx="5391150" cy="1066800"/>
          </a:xfrm>
          <a:custGeom>
            <a:avLst/>
            <a:gdLst/>
            <a:ahLst/>
            <a:cxnLst/>
            <a:rect l="l" t="t" r="r" b="b"/>
            <a:pathLst>
              <a:path w="5391150" h="1066800">
                <a:moveTo>
                  <a:pt x="38100" y="0"/>
                </a:moveTo>
                <a:lnTo>
                  <a:pt x="5314948" y="0"/>
                </a:lnTo>
                <a:cubicBezTo>
                  <a:pt x="5357033" y="0"/>
                  <a:pt x="5391150" y="34117"/>
                  <a:pt x="5391150" y="76202"/>
                </a:cubicBezTo>
                <a:lnTo>
                  <a:pt x="5391150" y="990598"/>
                </a:lnTo>
                <a:cubicBezTo>
                  <a:pt x="5391150" y="1032683"/>
                  <a:pt x="5357033" y="1066800"/>
                  <a:pt x="53149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8650" y="4381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010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7589" y="46101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" y="4206524"/>
            <a:ext cx="5764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adaptive modes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95400" y="4437946"/>
            <a:ext cx="57523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Normal/Street (refined, premium), Sports 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(necessary data-first) and Night mode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91250" y="4375856"/>
            <a:ext cx="5391150" cy="1066800"/>
          </a:xfrm>
          <a:custGeom>
            <a:avLst/>
            <a:gdLst/>
            <a:ahLst/>
            <a:cxnLst/>
            <a:rect l="l" t="t" r="r" b="b"/>
            <a:pathLst>
              <a:path w="5391150" h="1066800">
                <a:moveTo>
                  <a:pt x="38100" y="0"/>
                </a:moveTo>
                <a:lnTo>
                  <a:pt x="5314948" y="0"/>
                </a:lnTo>
                <a:cubicBezTo>
                  <a:pt x="5357033" y="0"/>
                  <a:pt x="5391150" y="34117"/>
                  <a:pt x="5391150" y="76202"/>
                </a:cubicBezTo>
                <a:lnTo>
                  <a:pt x="5391150" y="990598"/>
                </a:lnTo>
                <a:cubicBezTo>
                  <a:pt x="5391150" y="1032683"/>
                  <a:pt x="5357033" y="1066800"/>
                  <a:pt x="53149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1250" y="4381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270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2272" y="46101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7999" y="4353280"/>
            <a:ext cx="344196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language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748392"/>
            <a:ext cx="343017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Bold, precise, confident Detroit character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8650" y="5600700"/>
            <a:ext cx="10953750" cy="838200"/>
          </a:xfrm>
          <a:custGeom>
            <a:avLst/>
            <a:gdLst/>
            <a:ahLst/>
            <a:cxnLst/>
            <a:rect l="l" t="t" r="r" b="b"/>
            <a:pathLst>
              <a:path w="10953750" h="838200">
                <a:moveTo>
                  <a:pt x="38100" y="0"/>
                </a:moveTo>
                <a:lnTo>
                  <a:pt x="10877549" y="0"/>
                </a:lnTo>
                <a:cubicBezTo>
                  <a:pt x="10919634" y="0"/>
                  <a:pt x="10953750" y="34116"/>
                  <a:pt x="10953750" y="76201"/>
                </a:cubicBezTo>
                <a:lnTo>
                  <a:pt x="10953750" y="761999"/>
                </a:lnTo>
                <a:cubicBezTo>
                  <a:pt x="10953750" y="804084"/>
                  <a:pt x="10919634" y="838200"/>
                  <a:pt x="108775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8650" y="56007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0100" y="575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7440" y="58293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95400" y="5425724"/>
            <a:ext cx="498612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display states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95400" y="5730524"/>
            <a:ext cx="49743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passengers feel they're in something genuinely special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71020043-3947-F0D0-2E30-ED7EE3EDE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57"/>
          <a:stretch/>
        </p:blipFill>
        <p:spPr>
          <a:xfrm>
            <a:off x="410869" y="959370"/>
            <a:ext cx="10846744" cy="58603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6789B11-8957-E41D-32F9-0FE36201AAC2}"/>
              </a:ext>
            </a:extLst>
          </p:cNvPr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BF573ED-B029-68F6-79FD-D819C1CB5218}"/>
              </a:ext>
            </a:extLst>
          </p:cNvPr>
          <p:cNvSpPr/>
          <p:nvPr/>
        </p:nvSpPr>
        <p:spPr>
          <a:xfrm>
            <a:off x="552450" y="4191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</a:rPr>
              <a:t>Three-tier Visual Hierarchy Diagram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944FB8F2-7476-E0D1-234D-228FF63E4902}"/>
              </a:ext>
            </a:extLst>
          </p:cNvPr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08981C6F-DDDC-A95E-AF7B-5C4ACE3A57AB}"/>
              </a:ext>
            </a:extLst>
          </p:cNvPr>
          <p:cNvSpPr/>
          <p:nvPr/>
        </p:nvSpPr>
        <p:spPr>
          <a:xfrm>
            <a:off x="552450" y="419100"/>
            <a:ext cx="923893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UI Methodology &amp; Design Philosophy</a:t>
            </a:r>
            <a:endParaRPr lang="en-US" sz="1600" dirty="0"/>
          </a:p>
        </p:txBody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0A073A0B-4FD8-F23F-0E7D-978AE5059790}"/>
              </a:ext>
            </a:extLst>
          </p:cNvPr>
          <p:cNvSpPr/>
          <p:nvPr/>
        </p:nvSpPr>
        <p:spPr>
          <a:xfrm>
            <a:off x="378178" y="1103822"/>
            <a:ext cx="11435644" cy="955322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84142FA8-B1B9-35BE-02FE-5CB8270A0426}"/>
              </a:ext>
            </a:extLst>
          </p:cNvPr>
          <p:cNvSpPr/>
          <p:nvPr/>
        </p:nvSpPr>
        <p:spPr>
          <a:xfrm>
            <a:off x="1025877" y="1332420"/>
            <a:ext cx="9662110" cy="45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i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“Safety enables emotion; emotion amplifies brand.”</a:t>
            </a:r>
            <a:endParaRPr lang="en-US" sz="2500" i="1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FB4BAF1-9995-B5BB-3AAE-8D962D92DBDB}"/>
              </a:ext>
            </a:extLst>
          </p:cNvPr>
          <p:cNvGrpSpPr/>
          <p:nvPr/>
        </p:nvGrpSpPr>
        <p:grpSpPr>
          <a:xfrm>
            <a:off x="409575" y="4500404"/>
            <a:ext cx="5619750" cy="1887946"/>
            <a:chOff x="381000" y="2366885"/>
            <a:chExt cx="5619750" cy="1887946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F1AAA2D-2BBB-9C6E-323F-3C414F6266C2}"/>
                </a:ext>
              </a:extLst>
            </p:cNvPr>
            <p:cNvSpPr/>
            <p:nvPr/>
          </p:nvSpPr>
          <p:spPr>
            <a:xfrm>
              <a:off x="381000" y="2366885"/>
              <a:ext cx="5619750" cy="1887946"/>
            </a:xfrm>
            <a:custGeom>
              <a:avLst/>
              <a:gdLst/>
              <a:ahLst/>
              <a:cxnLst/>
              <a:rect l="l" t="t" r="r" b="b"/>
              <a:pathLst>
                <a:path w="5619750" h="1390650">
                  <a:moveTo>
                    <a:pt x="38100" y="0"/>
                  </a:moveTo>
                  <a:lnTo>
                    <a:pt x="5581650" y="0"/>
                  </a:lnTo>
                  <a:cubicBezTo>
                    <a:pt x="5602678" y="0"/>
                    <a:pt x="5619750" y="17072"/>
                    <a:pt x="5619750" y="38100"/>
                  </a:cubicBezTo>
                  <a:lnTo>
                    <a:pt x="5619750" y="1314456"/>
                  </a:lnTo>
                  <a:cubicBezTo>
                    <a:pt x="5619750" y="1356509"/>
                    <a:pt x="5585609" y="1390650"/>
                    <a:pt x="5543556" y="1390650"/>
                  </a:cubicBezTo>
                  <a:lnTo>
                    <a:pt x="76194" y="1390650"/>
                  </a:lnTo>
                  <a:cubicBezTo>
                    <a:pt x="34141" y="1390650"/>
                    <a:pt x="0" y="1356509"/>
                    <a:pt x="0" y="1314456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589ED51-B4AD-C05B-82AC-C384A9543187}"/>
                </a:ext>
              </a:extLst>
            </p:cNvPr>
            <p:cNvSpPr/>
            <p:nvPr/>
          </p:nvSpPr>
          <p:spPr>
            <a:xfrm>
              <a:off x="381000" y="2366885"/>
              <a:ext cx="5619750" cy="38100"/>
            </a:xfrm>
            <a:custGeom>
              <a:avLst/>
              <a:gdLst/>
              <a:ahLst/>
              <a:cxnLst/>
              <a:rect l="l" t="t" r="r" b="b"/>
              <a:pathLst>
                <a:path w="5619750" h="38100">
                  <a:moveTo>
                    <a:pt x="38100" y="0"/>
                  </a:moveTo>
                  <a:lnTo>
                    <a:pt x="5581650" y="0"/>
                  </a:lnTo>
                  <a:cubicBezTo>
                    <a:pt x="5602678" y="0"/>
                    <a:pt x="5619750" y="17072"/>
                    <a:pt x="5619750" y="38100"/>
                  </a:cubicBezTo>
                  <a:lnTo>
                    <a:pt x="5619750" y="38100"/>
                  </a:lnTo>
                  <a:lnTo>
                    <a:pt x="0" y="38100"/>
                  </a:ln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32F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9F559C61-55ED-EB44-C85B-683B752D8610}"/>
                </a:ext>
              </a:extLst>
            </p:cNvPr>
            <p:cNvSpPr/>
            <p:nvPr/>
          </p:nvSpPr>
          <p:spPr>
            <a:xfrm>
              <a:off x="571500" y="2592078"/>
              <a:ext cx="3359983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212529"/>
                  </a:solidFill>
                  <a:latin typeface="Liter" pitchFamily="34" charset="0"/>
                </a:rPr>
                <a:t>Why This Design Approach:</a:t>
              </a:r>
              <a:endParaRPr lang="en-US" sz="1600" dirty="0"/>
            </a:p>
          </p:txBody>
        </p:sp>
        <p:sp>
          <p:nvSpPr>
            <p:cNvPr id="42" name="Shape 14">
              <a:extLst>
                <a:ext uri="{FF2B5EF4-FFF2-40B4-BE49-F238E27FC236}">
                  <a16:creationId xmlns:a16="http://schemas.microsoft.com/office/drawing/2014/main" id="{13499F70-7012-1929-C37F-EED03F4F966A}"/>
                </a:ext>
              </a:extLst>
            </p:cNvPr>
            <p:cNvSpPr/>
            <p:nvPr/>
          </p:nvSpPr>
          <p:spPr>
            <a:xfrm>
              <a:off x="603277" y="301677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BA48A4DA-A218-A4B6-8C95-81D51F962900}"/>
                </a:ext>
              </a:extLst>
            </p:cNvPr>
            <p:cNvSpPr/>
            <p:nvPr/>
          </p:nvSpPr>
          <p:spPr>
            <a:xfrm>
              <a:off x="790575" y="2941931"/>
              <a:ext cx="472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Rejects the false dichotomy of safety OR emotion</a:t>
              </a:r>
              <a:endParaRPr lang="en-US" sz="1400" dirty="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3DF1E749-8367-5C27-96EB-5B668B7A4DF1}"/>
                </a:ext>
              </a:extLst>
            </p:cNvPr>
            <p:cNvSpPr/>
            <p:nvPr/>
          </p:nvSpPr>
          <p:spPr>
            <a:xfrm>
              <a:off x="588989" y="344149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7">
              <a:extLst>
                <a:ext uri="{FF2B5EF4-FFF2-40B4-BE49-F238E27FC236}">
                  <a16:creationId xmlns:a16="http://schemas.microsoft.com/office/drawing/2014/main" id="{F9D12BD4-D756-F113-F06A-40612D0AA63C}"/>
                </a:ext>
              </a:extLst>
            </p:cNvPr>
            <p:cNvSpPr/>
            <p:nvPr/>
          </p:nvSpPr>
          <p:spPr>
            <a:xfrm>
              <a:off x="776661" y="3276900"/>
              <a:ext cx="5124450" cy="369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Both are necessary, safety enables the emotional layer to exist</a:t>
              </a:r>
              <a:endParaRPr lang="en-US" sz="14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E96FEE6D-B037-5E81-8D6D-E439BA3654B0}"/>
                </a:ext>
              </a:extLst>
            </p:cNvPr>
            <p:cNvSpPr/>
            <p:nvPr/>
          </p:nvSpPr>
          <p:spPr>
            <a:xfrm>
              <a:off x="588288" y="382623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FDA05C21-DE11-C94F-36B2-0E0566527FF5}"/>
                </a:ext>
              </a:extLst>
            </p:cNvPr>
            <p:cNvSpPr/>
            <p:nvPr/>
          </p:nvSpPr>
          <p:spPr>
            <a:xfrm>
              <a:off x="776661" y="3732075"/>
              <a:ext cx="5124450" cy="259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No competitor achieves both, so this is our competitive advantage</a:t>
              </a:r>
              <a:endParaRPr lang="en-US" sz="1400" dirty="0"/>
            </a:p>
          </p:txBody>
        </p:sp>
        <p:sp>
          <p:nvSpPr>
            <p:cNvPr id="50" name="Shape 0">
              <a:extLst>
                <a:ext uri="{FF2B5EF4-FFF2-40B4-BE49-F238E27FC236}">
                  <a16:creationId xmlns:a16="http://schemas.microsoft.com/office/drawing/2014/main" id="{F8D62040-7E23-5308-6421-F8A8C821FE5D}"/>
                </a:ext>
              </a:extLst>
            </p:cNvPr>
            <p:cNvSpPr/>
            <p:nvPr/>
          </p:nvSpPr>
          <p:spPr>
            <a:xfrm>
              <a:off x="473440" y="2587045"/>
              <a:ext cx="45719" cy="209549"/>
            </a:xfrm>
            <a:custGeom>
              <a:avLst/>
              <a:gdLst/>
              <a:ahLst/>
              <a:cxnLst/>
              <a:rect l="l" t="t" r="r" b="b"/>
              <a:pathLst>
                <a:path w="57150" h="457200">
                  <a:moveTo>
                    <a:pt x="0" y="0"/>
                  </a:moveTo>
                  <a:lnTo>
                    <a:pt x="57150" y="0"/>
                  </a:lnTo>
                  <a:lnTo>
                    <a:pt x="571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2F2F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44292B4-4052-FC1E-A898-C863B7BD48AA}"/>
              </a:ext>
            </a:extLst>
          </p:cNvPr>
          <p:cNvGrpSpPr/>
          <p:nvPr/>
        </p:nvGrpSpPr>
        <p:grpSpPr>
          <a:xfrm>
            <a:off x="409575" y="2349024"/>
            <a:ext cx="5619750" cy="1887946"/>
            <a:chOff x="383500" y="4527965"/>
            <a:chExt cx="5619750" cy="1887946"/>
          </a:xfrm>
        </p:grpSpPr>
        <p:sp>
          <p:nvSpPr>
            <p:cNvPr id="52" name="Shape 2">
              <a:extLst>
                <a:ext uri="{FF2B5EF4-FFF2-40B4-BE49-F238E27FC236}">
                  <a16:creationId xmlns:a16="http://schemas.microsoft.com/office/drawing/2014/main" id="{421E83E6-4EBE-FE7F-8396-457639511A3A}"/>
                </a:ext>
              </a:extLst>
            </p:cNvPr>
            <p:cNvSpPr/>
            <p:nvPr/>
          </p:nvSpPr>
          <p:spPr>
            <a:xfrm>
              <a:off x="383500" y="4527965"/>
              <a:ext cx="5619750" cy="1887946"/>
            </a:xfrm>
            <a:custGeom>
              <a:avLst/>
              <a:gdLst/>
              <a:ahLst/>
              <a:cxnLst/>
              <a:rect l="l" t="t" r="r" b="b"/>
              <a:pathLst>
                <a:path w="5619750" h="1390650">
                  <a:moveTo>
                    <a:pt x="38100" y="0"/>
                  </a:moveTo>
                  <a:lnTo>
                    <a:pt x="5581650" y="0"/>
                  </a:lnTo>
                  <a:cubicBezTo>
                    <a:pt x="5602678" y="0"/>
                    <a:pt x="5619750" y="17072"/>
                    <a:pt x="5619750" y="38100"/>
                  </a:cubicBezTo>
                  <a:lnTo>
                    <a:pt x="5619750" y="1314456"/>
                  </a:lnTo>
                  <a:cubicBezTo>
                    <a:pt x="5619750" y="1356509"/>
                    <a:pt x="5585609" y="1390650"/>
                    <a:pt x="5543556" y="1390650"/>
                  </a:cubicBezTo>
                  <a:lnTo>
                    <a:pt x="76194" y="1390650"/>
                  </a:lnTo>
                  <a:cubicBezTo>
                    <a:pt x="34141" y="1390650"/>
                    <a:pt x="0" y="1356509"/>
                    <a:pt x="0" y="1314456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/>
            <a:effectLst>
              <a:outerShdw blurRad="57150" dist="38100" dir="5400000" algn="bl" rotWithShape="0">
                <a:srgbClr val="000000">
                  <a:alpha val="10196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967C1681-7000-D96D-F3C7-0DC7F4E726B4}"/>
                </a:ext>
              </a:extLst>
            </p:cNvPr>
            <p:cNvSpPr/>
            <p:nvPr/>
          </p:nvSpPr>
          <p:spPr>
            <a:xfrm>
              <a:off x="383500" y="4527965"/>
              <a:ext cx="5619750" cy="38100"/>
            </a:xfrm>
            <a:custGeom>
              <a:avLst/>
              <a:gdLst/>
              <a:ahLst/>
              <a:cxnLst/>
              <a:rect l="l" t="t" r="r" b="b"/>
              <a:pathLst>
                <a:path w="5619750" h="38100">
                  <a:moveTo>
                    <a:pt x="38100" y="0"/>
                  </a:moveTo>
                  <a:lnTo>
                    <a:pt x="5581650" y="0"/>
                  </a:lnTo>
                  <a:cubicBezTo>
                    <a:pt x="5602678" y="0"/>
                    <a:pt x="5619750" y="17072"/>
                    <a:pt x="5619750" y="38100"/>
                  </a:cubicBezTo>
                  <a:lnTo>
                    <a:pt x="5619750" y="38100"/>
                  </a:lnTo>
                  <a:lnTo>
                    <a:pt x="0" y="38100"/>
                  </a:ln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D32F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6">
              <a:extLst>
                <a:ext uri="{FF2B5EF4-FFF2-40B4-BE49-F238E27FC236}">
                  <a16:creationId xmlns:a16="http://schemas.microsoft.com/office/drawing/2014/main" id="{D9439E36-06BC-6385-7386-24840E603BD6}"/>
                </a:ext>
              </a:extLst>
            </p:cNvPr>
            <p:cNvSpPr/>
            <p:nvPr/>
          </p:nvSpPr>
          <p:spPr>
            <a:xfrm>
              <a:off x="574000" y="4753158"/>
              <a:ext cx="3359983" cy="209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500" b="1" dirty="0">
                  <a:solidFill>
                    <a:srgbClr val="212529"/>
                  </a:solidFill>
                  <a:latin typeface="Liter" pitchFamily="34" charset="0"/>
                </a:rPr>
                <a:t>Design Decision Framework:</a:t>
              </a:r>
              <a:endParaRPr lang="en-US" sz="1600" dirty="0"/>
            </a:p>
          </p:txBody>
        </p:sp>
        <p:sp>
          <p:nvSpPr>
            <p:cNvPr id="59" name="Shape 14">
              <a:extLst>
                <a:ext uri="{FF2B5EF4-FFF2-40B4-BE49-F238E27FC236}">
                  <a16:creationId xmlns:a16="http://schemas.microsoft.com/office/drawing/2014/main" id="{DC10F71B-AE1C-EBD8-B13E-B091D2374D51}"/>
                </a:ext>
              </a:extLst>
            </p:cNvPr>
            <p:cNvSpPr/>
            <p:nvPr/>
          </p:nvSpPr>
          <p:spPr>
            <a:xfrm>
              <a:off x="590787" y="51778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15">
              <a:extLst>
                <a:ext uri="{FF2B5EF4-FFF2-40B4-BE49-F238E27FC236}">
                  <a16:creationId xmlns:a16="http://schemas.microsoft.com/office/drawing/2014/main" id="{6940D229-E7A1-13E2-D66F-59DF850CD8B0}"/>
                </a:ext>
              </a:extLst>
            </p:cNvPr>
            <p:cNvSpPr/>
            <p:nvPr/>
          </p:nvSpPr>
          <p:spPr>
            <a:xfrm>
              <a:off x="793075" y="5103011"/>
              <a:ext cx="472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Layer 1: Foundation – Safety First Constraints (immovable)</a:t>
              </a:r>
              <a:endParaRPr lang="en-US" sz="1400" dirty="0"/>
            </a:p>
          </p:txBody>
        </p:sp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2AB45D3F-7C5F-4A72-F697-85E0C46E406E}"/>
                </a:ext>
              </a:extLst>
            </p:cNvPr>
            <p:cNvSpPr/>
            <p:nvPr/>
          </p:nvSpPr>
          <p:spPr>
            <a:xfrm>
              <a:off x="591489" y="560257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1B8C4CF1-6902-C280-B64F-F515796AAD44}"/>
                </a:ext>
              </a:extLst>
            </p:cNvPr>
            <p:cNvSpPr/>
            <p:nvPr/>
          </p:nvSpPr>
          <p:spPr>
            <a:xfrm>
              <a:off x="779161" y="5437980"/>
              <a:ext cx="5124450" cy="369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Layer 2: Design – Three tier hierarchy (structural)</a:t>
              </a:r>
              <a:endParaRPr lang="en-US" sz="1400" dirty="0"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85CD5BD0-A4A1-3564-171D-F85ECE501399}"/>
                </a:ext>
              </a:extLst>
            </p:cNvPr>
            <p:cNvSpPr/>
            <p:nvPr/>
          </p:nvSpPr>
          <p:spPr>
            <a:xfrm>
              <a:off x="590788" y="598731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cubicBezTo>
                    <a:pt x="0" y="25608"/>
                    <a:pt x="25608" y="0"/>
                    <a:pt x="57150" y="0"/>
                  </a:cubicBezTo>
                  <a:cubicBezTo>
                    <a:pt x="88692" y="0"/>
                    <a:pt x="114300" y="25608"/>
                    <a:pt x="114300" y="57150"/>
                  </a:cubicBezTo>
                  <a:cubicBezTo>
                    <a:pt x="114300" y="88692"/>
                    <a:pt x="88692" y="114300"/>
                    <a:pt x="57150" y="114300"/>
                  </a:cubicBezTo>
                  <a:cubicBezTo>
                    <a:pt x="25608" y="114300"/>
                    <a:pt x="0" y="88692"/>
                    <a:pt x="0" y="57150"/>
                  </a:cubicBezTo>
                  <a:close/>
                </a:path>
              </a:pathLst>
            </a:custGeom>
            <a:solidFill>
              <a:srgbClr val="FF6B6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15">
              <a:extLst>
                <a:ext uri="{FF2B5EF4-FFF2-40B4-BE49-F238E27FC236}">
                  <a16:creationId xmlns:a16="http://schemas.microsoft.com/office/drawing/2014/main" id="{35FF1997-3AC2-688F-381D-5525B19D3433}"/>
                </a:ext>
              </a:extLst>
            </p:cNvPr>
            <p:cNvSpPr/>
            <p:nvPr/>
          </p:nvSpPr>
          <p:spPr>
            <a:xfrm>
              <a:off x="779161" y="5893155"/>
              <a:ext cx="5124450" cy="2595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400" b="1" dirty="0">
                  <a:solidFill>
                    <a:srgbClr val="212529"/>
                  </a:solidFill>
                  <a:latin typeface="Quattrocento Sans" pitchFamily="34" charset="0"/>
                </a:rPr>
                <a:t>Layer 3: Emotion – Brand Moments in contextual dead time only</a:t>
              </a:r>
              <a:endParaRPr lang="en-US" sz="1400" dirty="0"/>
            </a:p>
          </p:txBody>
        </p:sp>
        <p:sp>
          <p:nvSpPr>
            <p:cNvPr id="76" name="Shape 0">
              <a:extLst>
                <a:ext uri="{FF2B5EF4-FFF2-40B4-BE49-F238E27FC236}">
                  <a16:creationId xmlns:a16="http://schemas.microsoft.com/office/drawing/2014/main" id="{29FD1AA0-DFEA-518D-147E-C7998A696BB5}"/>
                </a:ext>
              </a:extLst>
            </p:cNvPr>
            <p:cNvSpPr/>
            <p:nvPr/>
          </p:nvSpPr>
          <p:spPr>
            <a:xfrm>
              <a:off x="475940" y="4748125"/>
              <a:ext cx="45719" cy="209549"/>
            </a:xfrm>
            <a:custGeom>
              <a:avLst/>
              <a:gdLst/>
              <a:ahLst/>
              <a:cxnLst/>
              <a:rect l="l" t="t" r="r" b="b"/>
              <a:pathLst>
                <a:path w="57150" h="457200">
                  <a:moveTo>
                    <a:pt x="0" y="0"/>
                  </a:moveTo>
                  <a:lnTo>
                    <a:pt x="57150" y="0"/>
                  </a:lnTo>
                  <a:lnTo>
                    <a:pt x="571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2F2F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97387484-E543-586E-D575-0D0417EB5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28" y="2369821"/>
            <a:ext cx="5678694" cy="40460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vehicle&#10;&#10;AI-generated content may be incorrect.">
            <a:extLst>
              <a:ext uri="{FF2B5EF4-FFF2-40B4-BE49-F238E27FC236}">
                <a16:creationId xmlns:a16="http://schemas.microsoft.com/office/drawing/2014/main" id="{440CEAD4-B5D4-4FA3-BA90-B55C70B12B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70" b="7717"/>
          <a:stretch/>
        </p:blipFill>
        <p:spPr>
          <a:xfrm>
            <a:off x="1274993" y="838200"/>
            <a:ext cx="9642013" cy="6006353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D3E1CE52-5E6A-0943-C88F-205D0D1F4418}"/>
              </a:ext>
            </a:extLst>
          </p:cNvPr>
          <p:cNvSpPr/>
          <p:nvPr/>
        </p:nvSpPr>
        <p:spPr>
          <a:xfrm>
            <a:off x="381000" y="35102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CF16812-D1E5-5354-23E7-7E054CF33CA7}"/>
              </a:ext>
            </a:extLst>
          </p:cNvPr>
          <p:cNvSpPr/>
          <p:nvPr/>
        </p:nvSpPr>
        <p:spPr>
          <a:xfrm>
            <a:off x="552450" y="4191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</a:rPr>
              <a:t>5. User Flow &amp; Interaction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>
            <a:extLst>
              <a:ext uri="{FF2B5EF4-FFF2-40B4-BE49-F238E27FC236}">
                <a16:creationId xmlns:a16="http://schemas.microsoft.com/office/drawing/2014/main" id="{326F46F2-B997-9DCF-287B-3CF2DBA048F7}"/>
              </a:ext>
            </a:extLst>
          </p:cNvPr>
          <p:cNvSpPr/>
          <p:nvPr/>
        </p:nvSpPr>
        <p:spPr>
          <a:xfrm>
            <a:off x="381000" y="35102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1">
            <a:extLst>
              <a:ext uri="{FF2B5EF4-FFF2-40B4-BE49-F238E27FC236}">
                <a16:creationId xmlns:a16="http://schemas.microsoft.com/office/drawing/2014/main" id="{2373FCF2-9794-EA36-A92C-988F48161E2C}"/>
              </a:ext>
            </a:extLst>
          </p:cNvPr>
          <p:cNvSpPr/>
          <p:nvPr/>
        </p:nvSpPr>
        <p:spPr>
          <a:xfrm>
            <a:off x="552450" y="419100"/>
            <a:ext cx="86843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Post-Midterm Progress – What We Built</a:t>
            </a:r>
            <a:endParaRPr lang="en-US" sz="16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E00D4A2C-ABD2-617D-7111-4D2D9D297320}"/>
              </a:ext>
            </a:extLst>
          </p:cNvPr>
          <p:cNvSpPr/>
          <p:nvPr/>
        </p:nvSpPr>
        <p:spPr>
          <a:xfrm>
            <a:off x="471301" y="1085648"/>
            <a:ext cx="11157991" cy="5120280"/>
          </a:xfrm>
          <a:custGeom>
            <a:avLst/>
            <a:gdLst/>
            <a:ahLst/>
            <a:cxnLst/>
            <a:rect l="l" t="t" r="r" b="b"/>
            <a:pathLst>
              <a:path w="3686175" h="5410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334007"/>
                </a:lnTo>
                <a:cubicBezTo>
                  <a:pt x="3686175" y="5376087"/>
                  <a:pt x="3652062" y="5410200"/>
                  <a:pt x="3609982" y="5410200"/>
                </a:cubicBezTo>
                <a:lnTo>
                  <a:pt x="76193" y="5410200"/>
                </a:lnTo>
                <a:cubicBezTo>
                  <a:pt x="34113" y="5410200"/>
                  <a:pt x="0" y="5376087"/>
                  <a:pt x="0" y="5334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1600" dirty="0"/>
          </a:p>
        </p:txBody>
      </p:sp>
      <p:sp>
        <p:nvSpPr>
          <p:cNvPr id="89" name="Shape 3">
            <a:extLst>
              <a:ext uri="{FF2B5EF4-FFF2-40B4-BE49-F238E27FC236}">
                <a16:creationId xmlns:a16="http://schemas.microsoft.com/office/drawing/2014/main" id="{E175512F-45F9-F7EC-8399-5FFD15446628}"/>
              </a:ext>
            </a:extLst>
          </p:cNvPr>
          <p:cNvSpPr/>
          <p:nvPr/>
        </p:nvSpPr>
        <p:spPr>
          <a:xfrm>
            <a:off x="5715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4">
            <a:extLst>
              <a:ext uri="{FF2B5EF4-FFF2-40B4-BE49-F238E27FC236}">
                <a16:creationId xmlns:a16="http://schemas.microsoft.com/office/drawing/2014/main" id="{896CC9E1-46D8-FACC-8F38-D465727CBA3F}"/>
              </a:ext>
            </a:extLst>
          </p:cNvPr>
          <p:cNvSpPr/>
          <p:nvPr/>
        </p:nvSpPr>
        <p:spPr>
          <a:xfrm>
            <a:off x="6858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64188369-93C6-31FB-6333-14741810FCBD}"/>
              </a:ext>
            </a:extLst>
          </p:cNvPr>
          <p:cNvSpPr/>
          <p:nvPr/>
        </p:nvSpPr>
        <p:spPr>
          <a:xfrm>
            <a:off x="1143000" y="1314450"/>
            <a:ext cx="76262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8 objectives completed since midterm evaluation:</a:t>
            </a:r>
            <a:endParaRPr lang="en-US" sz="1600" dirty="0"/>
          </a:p>
        </p:txBody>
      </p:sp>
      <p:sp>
        <p:nvSpPr>
          <p:cNvPr id="92" name="Shape 6">
            <a:extLst>
              <a:ext uri="{FF2B5EF4-FFF2-40B4-BE49-F238E27FC236}">
                <a16:creationId xmlns:a16="http://schemas.microsoft.com/office/drawing/2014/main" id="{E13C9863-6DDD-A26F-5F30-E29A8365139D}"/>
              </a:ext>
            </a:extLst>
          </p:cNvPr>
          <p:cNvSpPr/>
          <p:nvPr/>
        </p:nvSpPr>
        <p:spPr>
          <a:xfrm>
            <a:off x="718590" y="199248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1606151D-3392-A6D0-B384-F85C31808633}"/>
              </a:ext>
            </a:extLst>
          </p:cNvPr>
          <p:cNvSpPr/>
          <p:nvPr/>
        </p:nvSpPr>
        <p:spPr>
          <a:xfrm>
            <a:off x="977041" y="1947735"/>
            <a:ext cx="9409893" cy="19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Ferrari Competitive Research: Detailed analysis of Ferrari’s and other brand’s clusters</a:t>
            </a:r>
            <a:endParaRPr lang="en-US" sz="1400" b="1" dirty="0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90B83E55-592D-5010-375A-9CE8E4C28007}"/>
              </a:ext>
            </a:extLst>
          </p:cNvPr>
          <p:cNvSpPr/>
          <p:nvPr/>
        </p:nvSpPr>
        <p:spPr>
          <a:xfrm>
            <a:off x="700243" y="365240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DBC85936-8059-B220-BFCA-D2A4B89C7F4E}"/>
              </a:ext>
            </a:extLst>
          </p:cNvPr>
          <p:cNvSpPr/>
          <p:nvPr/>
        </p:nvSpPr>
        <p:spPr>
          <a:xfrm>
            <a:off x="977041" y="2365134"/>
            <a:ext cx="854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2 Feature Cluster Redesign: 30% less clutter, all functions preserved</a:t>
            </a:r>
            <a:endParaRPr lang="en-US" sz="1400" b="1" dirty="0"/>
          </a:p>
        </p:txBody>
      </p:sp>
      <p:sp>
        <p:nvSpPr>
          <p:cNvPr id="96" name="Shape 10">
            <a:extLst>
              <a:ext uri="{FF2B5EF4-FFF2-40B4-BE49-F238E27FC236}">
                <a16:creationId xmlns:a16="http://schemas.microsoft.com/office/drawing/2014/main" id="{03E8D86D-3B1F-6917-4D40-337B0E0500DA}"/>
              </a:ext>
            </a:extLst>
          </p:cNvPr>
          <p:cNvSpPr/>
          <p:nvPr/>
        </p:nvSpPr>
        <p:spPr>
          <a:xfrm>
            <a:off x="716254" y="253863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F285345C-3803-9247-ECD4-95CE2B5D700E}"/>
              </a:ext>
            </a:extLst>
          </p:cNvPr>
          <p:cNvSpPr/>
          <p:nvPr/>
        </p:nvSpPr>
        <p:spPr>
          <a:xfrm>
            <a:off x="977041" y="3015843"/>
            <a:ext cx="8075768" cy="22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Gear Indicator Alignment Fix: Perfect centered positioning verified across all models</a:t>
            </a:r>
            <a:endParaRPr lang="en-US" sz="1400" b="1" dirty="0"/>
          </a:p>
        </p:txBody>
      </p:sp>
      <p:sp>
        <p:nvSpPr>
          <p:cNvPr id="98" name="Shape 12">
            <a:extLst>
              <a:ext uri="{FF2B5EF4-FFF2-40B4-BE49-F238E27FC236}">
                <a16:creationId xmlns:a16="http://schemas.microsoft.com/office/drawing/2014/main" id="{514783D7-E3B4-D4D5-1EB4-29A3D4687B8A}"/>
              </a:ext>
            </a:extLst>
          </p:cNvPr>
          <p:cNvSpPr/>
          <p:nvPr/>
        </p:nvSpPr>
        <p:spPr>
          <a:xfrm>
            <a:off x="710470" y="307099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4F3A367B-8BD6-1BC2-A23C-CA8108007FF1}"/>
              </a:ext>
            </a:extLst>
          </p:cNvPr>
          <p:cNvSpPr/>
          <p:nvPr/>
        </p:nvSpPr>
        <p:spPr>
          <a:xfrm>
            <a:off x="952499" y="3601073"/>
            <a:ext cx="9720497" cy="2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Typography Optimization: Inter font hierarchy applied consistently, all tests passing </a:t>
            </a:r>
            <a:endParaRPr lang="en-US" sz="1400" b="1" dirty="0"/>
          </a:p>
        </p:txBody>
      </p:sp>
      <p:sp>
        <p:nvSpPr>
          <p:cNvPr id="110" name="Text 11">
            <a:extLst>
              <a:ext uri="{FF2B5EF4-FFF2-40B4-BE49-F238E27FC236}">
                <a16:creationId xmlns:a16="http://schemas.microsoft.com/office/drawing/2014/main" id="{5B3E07A7-C2A5-2BA0-7C19-186B7916DBAF}"/>
              </a:ext>
            </a:extLst>
          </p:cNvPr>
          <p:cNvSpPr/>
          <p:nvPr/>
        </p:nvSpPr>
        <p:spPr>
          <a:xfrm>
            <a:off x="952500" y="4093661"/>
            <a:ext cx="7816746" cy="242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Ai-Assisted Design Exploration: 20+ design variations generated and analyzed</a:t>
            </a:r>
            <a:endParaRPr lang="en-US" sz="1400" b="1" dirty="0"/>
          </a:p>
        </p:txBody>
      </p:sp>
      <p:sp>
        <p:nvSpPr>
          <p:cNvPr id="111" name="Shape 12">
            <a:extLst>
              <a:ext uri="{FF2B5EF4-FFF2-40B4-BE49-F238E27FC236}">
                <a16:creationId xmlns:a16="http://schemas.microsoft.com/office/drawing/2014/main" id="{47EB22AB-EDFA-A529-CBF4-06A567FC278C}"/>
              </a:ext>
            </a:extLst>
          </p:cNvPr>
          <p:cNvSpPr/>
          <p:nvPr/>
        </p:nvSpPr>
        <p:spPr>
          <a:xfrm>
            <a:off x="694738" y="415283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2" name="Text 11">
            <a:extLst>
              <a:ext uri="{FF2B5EF4-FFF2-40B4-BE49-F238E27FC236}">
                <a16:creationId xmlns:a16="http://schemas.microsoft.com/office/drawing/2014/main" id="{7F55AD5C-91E3-5E5A-2F68-B0AB41B6091E}"/>
              </a:ext>
            </a:extLst>
          </p:cNvPr>
          <p:cNvSpPr/>
          <p:nvPr/>
        </p:nvSpPr>
        <p:spPr>
          <a:xfrm>
            <a:off x="968530" y="4676359"/>
            <a:ext cx="9704466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 Animation Created: Full 6 seconds cinematic brand ritual</a:t>
            </a:r>
            <a:endParaRPr lang="en-US" sz="1400" b="1" dirty="0"/>
          </a:p>
        </p:txBody>
      </p:sp>
      <p:sp>
        <p:nvSpPr>
          <p:cNvPr id="113" name="Shape 12">
            <a:extLst>
              <a:ext uri="{FF2B5EF4-FFF2-40B4-BE49-F238E27FC236}">
                <a16:creationId xmlns:a16="http://schemas.microsoft.com/office/drawing/2014/main" id="{ED3E4CB3-C2C5-B0EB-62CD-7C2A0EB8D72F}"/>
              </a:ext>
            </a:extLst>
          </p:cNvPr>
          <p:cNvSpPr/>
          <p:nvPr/>
        </p:nvSpPr>
        <p:spPr>
          <a:xfrm>
            <a:off x="701374" y="472244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6" name="Shape 8">
            <a:extLst>
              <a:ext uri="{FF2B5EF4-FFF2-40B4-BE49-F238E27FC236}">
                <a16:creationId xmlns:a16="http://schemas.microsoft.com/office/drawing/2014/main" id="{A0540D5C-6D96-C9AF-0A56-3355EB1E5C74}"/>
              </a:ext>
            </a:extLst>
          </p:cNvPr>
          <p:cNvSpPr/>
          <p:nvPr/>
        </p:nvSpPr>
        <p:spPr>
          <a:xfrm>
            <a:off x="702742" y="5798487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2F7152C3-FA02-E874-A333-EBBB3A5BCCEA}"/>
              </a:ext>
            </a:extLst>
          </p:cNvPr>
          <p:cNvSpPr/>
          <p:nvPr/>
        </p:nvSpPr>
        <p:spPr>
          <a:xfrm>
            <a:off x="968529" y="5205868"/>
            <a:ext cx="10510501" cy="2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Amber and Warning Signs Integrated along with their respective animations</a:t>
            </a:r>
            <a:endParaRPr lang="en-US" sz="1400" b="1" dirty="0"/>
          </a:p>
        </p:txBody>
      </p:sp>
      <p:sp>
        <p:nvSpPr>
          <p:cNvPr id="128" name="Shape 12">
            <a:extLst>
              <a:ext uri="{FF2B5EF4-FFF2-40B4-BE49-F238E27FC236}">
                <a16:creationId xmlns:a16="http://schemas.microsoft.com/office/drawing/2014/main" id="{3E8B86AF-DBAB-3232-F689-67DF060A5DF7}"/>
              </a:ext>
            </a:extLst>
          </p:cNvPr>
          <p:cNvSpPr/>
          <p:nvPr/>
        </p:nvSpPr>
        <p:spPr>
          <a:xfrm>
            <a:off x="712969" y="5262051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9" name="Text 13">
            <a:extLst>
              <a:ext uri="{FF2B5EF4-FFF2-40B4-BE49-F238E27FC236}">
                <a16:creationId xmlns:a16="http://schemas.microsoft.com/office/drawing/2014/main" id="{8EC07FF6-3299-ED8B-C6BD-AF678C71EF9D}"/>
              </a:ext>
            </a:extLst>
          </p:cNvPr>
          <p:cNvSpPr/>
          <p:nvPr/>
        </p:nvSpPr>
        <p:spPr>
          <a:xfrm>
            <a:off x="952500" y="5754013"/>
            <a:ext cx="8284252" cy="20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Prototype: Normal, Sports and Night mode all fully interactive</a:t>
            </a:r>
            <a:endParaRPr lang="en-US" sz="1400" b="1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C000B6-8751-332A-1F58-BBC5FF1A18B0}"/>
              </a:ext>
            </a:extLst>
          </p:cNvPr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9B2EA3-B8C5-0C1A-A75B-D13528F37D6F}"/>
              </a:ext>
            </a:extLst>
          </p:cNvPr>
          <p:cNvSpPr/>
          <p:nvPr/>
        </p:nvSpPr>
        <p:spPr>
          <a:xfrm>
            <a:off x="552450" y="4191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 / Visual Design</a:t>
            </a:r>
            <a:endParaRPr lang="en-US" sz="1600" dirty="0"/>
          </a:p>
        </p:txBody>
      </p:sp>
      <p:sp>
        <p:nvSpPr>
          <p:cNvPr id="5" name="Shape 38">
            <a:extLst>
              <a:ext uri="{FF2B5EF4-FFF2-40B4-BE49-F238E27FC236}">
                <a16:creationId xmlns:a16="http://schemas.microsoft.com/office/drawing/2014/main" id="{6C03C33E-BC97-5BF7-EDD8-05128E65555A}"/>
              </a:ext>
            </a:extLst>
          </p:cNvPr>
          <p:cNvSpPr/>
          <p:nvPr/>
        </p:nvSpPr>
        <p:spPr>
          <a:xfrm>
            <a:off x="2533178" y="2143520"/>
            <a:ext cx="7125643" cy="3139419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0">
            <a:extLst>
              <a:ext uri="{FF2B5EF4-FFF2-40B4-BE49-F238E27FC236}">
                <a16:creationId xmlns:a16="http://schemas.microsoft.com/office/drawing/2014/main" id="{465EC1A3-69C5-4855-8FFD-33901F6862A1}"/>
              </a:ext>
            </a:extLst>
          </p:cNvPr>
          <p:cNvSpPr/>
          <p:nvPr/>
        </p:nvSpPr>
        <p:spPr>
          <a:xfrm>
            <a:off x="1264944" y="3350183"/>
            <a:ext cx="9662110" cy="45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FOR DEMO!</a:t>
            </a:r>
            <a:endParaRPr lang="en-US" sz="54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Technology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8179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562103"/>
                </a:lnTo>
                <a:cubicBezTo>
                  <a:pt x="5581650" y="1604185"/>
                  <a:pt x="5547535" y="1638300"/>
                  <a:pt x="55054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8179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2722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3865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253" y="0"/>
                </a:moveTo>
                <a:cubicBezTo>
                  <a:pt x="125968" y="0"/>
                  <a:pt x="131445" y="2262"/>
                  <a:pt x="135463" y="6310"/>
                </a:cubicBezTo>
                <a:lnTo>
                  <a:pt x="146090" y="16937"/>
                </a:lnTo>
                <a:cubicBezTo>
                  <a:pt x="150138" y="20955"/>
                  <a:pt x="152400" y="26432"/>
                  <a:pt x="152400" y="32147"/>
                </a:cubicBezTo>
                <a:cubicBezTo>
                  <a:pt x="152400" y="37862"/>
                  <a:pt x="150138" y="43339"/>
                  <a:pt x="146090" y="47357"/>
                </a:cubicBezTo>
                <a:lnTo>
                  <a:pt x="132725" y="60722"/>
                </a:lnTo>
                <a:lnTo>
                  <a:pt x="91678" y="19675"/>
                </a:lnTo>
                <a:lnTo>
                  <a:pt x="105043" y="6310"/>
                </a:lnTo>
                <a:cubicBezTo>
                  <a:pt x="109061" y="2262"/>
                  <a:pt x="114538" y="0"/>
                  <a:pt x="120253" y="0"/>
                </a:cubicBezTo>
                <a:close/>
                <a:moveTo>
                  <a:pt x="17532" y="93791"/>
                </a:moveTo>
                <a:lnTo>
                  <a:pt x="81588" y="29766"/>
                </a:lnTo>
                <a:lnTo>
                  <a:pt x="122634" y="70812"/>
                </a:lnTo>
                <a:lnTo>
                  <a:pt x="58609" y="134868"/>
                </a:lnTo>
                <a:cubicBezTo>
                  <a:pt x="55424" y="138053"/>
                  <a:pt x="51435" y="140375"/>
                  <a:pt x="47089" y="141595"/>
                </a:cubicBezTo>
                <a:lnTo>
                  <a:pt x="9049" y="152132"/>
                </a:lnTo>
                <a:cubicBezTo>
                  <a:pt x="6578" y="152817"/>
                  <a:pt x="3899" y="152132"/>
                  <a:pt x="2084" y="150287"/>
                </a:cubicBezTo>
                <a:cubicBezTo>
                  <a:pt x="268" y="148441"/>
                  <a:pt x="-446" y="145792"/>
                  <a:pt x="238" y="143321"/>
                </a:cubicBezTo>
                <a:lnTo>
                  <a:pt x="10835" y="105311"/>
                </a:lnTo>
                <a:cubicBezTo>
                  <a:pt x="12055" y="100965"/>
                  <a:pt x="14347" y="97006"/>
                  <a:pt x="17562" y="93791"/>
                </a:cubicBezTo>
                <a:close/>
                <a:moveTo>
                  <a:pt x="67092" y="24051"/>
                </a:moveTo>
                <a:lnTo>
                  <a:pt x="24051" y="67092"/>
                </a:lnTo>
                <a:lnTo>
                  <a:pt x="3483" y="46524"/>
                </a:lnTo>
                <a:cubicBezTo>
                  <a:pt x="-1161" y="41880"/>
                  <a:pt x="-1161" y="34350"/>
                  <a:pt x="3483" y="29676"/>
                </a:cubicBezTo>
                <a:lnTo>
                  <a:pt x="29676" y="3483"/>
                </a:lnTo>
                <a:cubicBezTo>
                  <a:pt x="34320" y="-1161"/>
                  <a:pt x="41850" y="-1161"/>
                  <a:pt x="46524" y="3483"/>
                </a:cubicBezTo>
                <a:lnTo>
                  <a:pt x="48280" y="5239"/>
                </a:lnTo>
                <a:lnTo>
                  <a:pt x="31522" y="21997"/>
                </a:lnTo>
                <a:cubicBezTo>
                  <a:pt x="29200" y="24319"/>
                  <a:pt x="29200" y="28099"/>
                  <a:pt x="31522" y="30420"/>
                </a:cubicBezTo>
                <a:cubicBezTo>
                  <a:pt x="33844" y="32742"/>
                  <a:pt x="37624" y="32742"/>
                  <a:pt x="39945" y="30420"/>
                </a:cubicBezTo>
                <a:lnTo>
                  <a:pt x="56704" y="13662"/>
                </a:lnTo>
                <a:lnTo>
                  <a:pt x="67092" y="24051"/>
                </a:lnTo>
                <a:close/>
                <a:moveTo>
                  <a:pt x="128349" y="85308"/>
                </a:moveTo>
                <a:lnTo>
                  <a:pt x="138738" y="95696"/>
                </a:lnTo>
                <a:lnTo>
                  <a:pt x="121980" y="112455"/>
                </a:lnTo>
                <a:cubicBezTo>
                  <a:pt x="119658" y="114776"/>
                  <a:pt x="119658" y="118556"/>
                  <a:pt x="121980" y="120878"/>
                </a:cubicBezTo>
                <a:cubicBezTo>
                  <a:pt x="124301" y="123200"/>
                  <a:pt x="128081" y="123200"/>
                  <a:pt x="130403" y="120878"/>
                </a:cubicBezTo>
                <a:lnTo>
                  <a:pt x="147161" y="104120"/>
                </a:lnTo>
                <a:lnTo>
                  <a:pt x="148917" y="105876"/>
                </a:lnTo>
                <a:cubicBezTo>
                  <a:pt x="153561" y="110520"/>
                  <a:pt x="153561" y="118050"/>
                  <a:pt x="148917" y="122724"/>
                </a:cubicBezTo>
                <a:lnTo>
                  <a:pt x="122724" y="148917"/>
                </a:lnTo>
                <a:cubicBezTo>
                  <a:pt x="118080" y="153561"/>
                  <a:pt x="110550" y="153561"/>
                  <a:pt x="105876" y="148917"/>
                </a:cubicBezTo>
                <a:lnTo>
                  <a:pt x="85308" y="128349"/>
                </a:lnTo>
                <a:lnTo>
                  <a:pt x="128349" y="8530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132944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&amp; Prototyping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1805690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76198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1050" y="195809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6251" y="42773"/>
                </a:moveTo>
                <a:cubicBezTo>
                  <a:pt x="6251" y="19154"/>
                  <a:pt x="25405" y="0"/>
                  <a:pt x="49024" y="0"/>
                </a:cubicBezTo>
                <a:lnTo>
                  <a:pt x="122426" y="0"/>
                </a:lnTo>
                <a:cubicBezTo>
                  <a:pt x="146045" y="0"/>
                  <a:pt x="165199" y="19154"/>
                  <a:pt x="165199" y="42773"/>
                </a:cubicBezTo>
                <a:cubicBezTo>
                  <a:pt x="165199" y="57730"/>
                  <a:pt x="157520" y="70902"/>
                  <a:pt x="145911" y="78537"/>
                </a:cubicBezTo>
                <a:cubicBezTo>
                  <a:pt x="157520" y="86171"/>
                  <a:pt x="165199" y="99343"/>
                  <a:pt x="165199" y="114300"/>
                </a:cubicBezTo>
                <a:cubicBezTo>
                  <a:pt x="165199" y="137919"/>
                  <a:pt x="146045" y="157073"/>
                  <a:pt x="122426" y="157073"/>
                </a:cubicBezTo>
                <a:lnTo>
                  <a:pt x="121488" y="157073"/>
                </a:lnTo>
                <a:cubicBezTo>
                  <a:pt x="110416" y="157073"/>
                  <a:pt x="100325" y="152876"/>
                  <a:pt x="92735" y="145956"/>
                </a:cubicBezTo>
                <a:lnTo>
                  <a:pt x="92735" y="185380"/>
                </a:lnTo>
                <a:cubicBezTo>
                  <a:pt x="92735" y="209312"/>
                  <a:pt x="73089" y="228600"/>
                  <a:pt x="49247" y="228600"/>
                </a:cubicBezTo>
                <a:cubicBezTo>
                  <a:pt x="25673" y="228600"/>
                  <a:pt x="6251" y="209490"/>
                  <a:pt x="6251" y="185827"/>
                </a:cubicBezTo>
                <a:cubicBezTo>
                  <a:pt x="6251" y="170870"/>
                  <a:pt x="13930" y="157698"/>
                  <a:pt x="25539" y="150063"/>
                </a:cubicBezTo>
                <a:cubicBezTo>
                  <a:pt x="13930" y="142429"/>
                  <a:pt x="6251" y="129257"/>
                  <a:pt x="6251" y="114300"/>
                </a:cubicBezTo>
                <a:cubicBezTo>
                  <a:pt x="6251" y="99343"/>
                  <a:pt x="13930" y="86171"/>
                  <a:pt x="25539" y="78537"/>
                </a:cubicBezTo>
                <a:cubicBezTo>
                  <a:pt x="13930" y="70902"/>
                  <a:pt x="6251" y="57730"/>
                  <a:pt x="6251" y="42773"/>
                </a:cubicBezTo>
                <a:close/>
                <a:moveTo>
                  <a:pt x="78715" y="85546"/>
                </a:moveTo>
                <a:lnTo>
                  <a:pt x="49024" y="85546"/>
                </a:lnTo>
                <a:cubicBezTo>
                  <a:pt x="33129" y="85546"/>
                  <a:pt x="20270" y="98405"/>
                  <a:pt x="20270" y="114300"/>
                </a:cubicBezTo>
                <a:cubicBezTo>
                  <a:pt x="20270" y="130106"/>
                  <a:pt x="33040" y="142964"/>
                  <a:pt x="48845" y="143054"/>
                </a:cubicBezTo>
                <a:lnTo>
                  <a:pt x="78715" y="143054"/>
                </a:lnTo>
                <a:lnTo>
                  <a:pt x="78715" y="85546"/>
                </a:lnTo>
                <a:close/>
                <a:moveTo>
                  <a:pt x="92735" y="114300"/>
                </a:moveTo>
                <a:cubicBezTo>
                  <a:pt x="92735" y="130195"/>
                  <a:pt x="105594" y="143054"/>
                  <a:pt x="121488" y="143054"/>
                </a:cubicBezTo>
                <a:lnTo>
                  <a:pt x="122426" y="143054"/>
                </a:lnTo>
                <a:cubicBezTo>
                  <a:pt x="138321" y="143054"/>
                  <a:pt x="151180" y="130195"/>
                  <a:pt x="151180" y="114300"/>
                </a:cubicBezTo>
                <a:cubicBezTo>
                  <a:pt x="151180" y="98405"/>
                  <a:pt x="138321" y="85546"/>
                  <a:pt x="122426" y="85546"/>
                </a:cubicBezTo>
                <a:lnTo>
                  <a:pt x="121488" y="85546"/>
                </a:lnTo>
                <a:cubicBezTo>
                  <a:pt x="105594" y="85546"/>
                  <a:pt x="92735" y="98405"/>
                  <a:pt x="92735" y="114300"/>
                </a:cubicBezTo>
                <a:close/>
                <a:moveTo>
                  <a:pt x="49024" y="157073"/>
                </a:moveTo>
                <a:lnTo>
                  <a:pt x="48845" y="157073"/>
                </a:lnTo>
                <a:cubicBezTo>
                  <a:pt x="33040" y="157163"/>
                  <a:pt x="20270" y="170021"/>
                  <a:pt x="20270" y="185827"/>
                </a:cubicBezTo>
                <a:cubicBezTo>
                  <a:pt x="20270" y="201632"/>
                  <a:pt x="33308" y="214580"/>
                  <a:pt x="49247" y="214580"/>
                </a:cubicBezTo>
                <a:cubicBezTo>
                  <a:pt x="65455" y="214580"/>
                  <a:pt x="78715" y="201454"/>
                  <a:pt x="78715" y="185336"/>
                </a:cubicBezTo>
                <a:lnTo>
                  <a:pt x="78715" y="157029"/>
                </a:lnTo>
                <a:lnTo>
                  <a:pt x="49024" y="157029"/>
                </a:lnTo>
                <a:close/>
                <a:moveTo>
                  <a:pt x="49024" y="14020"/>
                </a:moveTo>
                <a:cubicBezTo>
                  <a:pt x="33129" y="14020"/>
                  <a:pt x="20270" y="26878"/>
                  <a:pt x="20270" y="42773"/>
                </a:cubicBezTo>
                <a:cubicBezTo>
                  <a:pt x="20270" y="58668"/>
                  <a:pt x="33129" y="71527"/>
                  <a:pt x="49024" y="71527"/>
                </a:cubicBezTo>
                <a:lnTo>
                  <a:pt x="78715" y="71527"/>
                </a:lnTo>
                <a:lnTo>
                  <a:pt x="78715" y="14020"/>
                </a:lnTo>
                <a:lnTo>
                  <a:pt x="49024" y="14020"/>
                </a:lnTo>
                <a:close/>
                <a:moveTo>
                  <a:pt x="92735" y="71527"/>
                </a:moveTo>
                <a:lnTo>
                  <a:pt x="122426" y="71527"/>
                </a:lnTo>
                <a:cubicBezTo>
                  <a:pt x="138321" y="71527"/>
                  <a:pt x="151180" y="58668"/>
                  <a:pt x="151180" y="42773"/>
                </a:cubicBezTo>
                <a:cubicBezTo>
                  <a:pt x="151180" y="26878"/>
                  <a:pt x="138321" y="14020"/>
                  <a:pt x="122426" y="14020"/>
                </a:cubicBezTo>
                <a:lnTo>
                  <a:pt x="92735" y="14020"/>
                </a:lnTo>
                <a:lnTo>
                  <a:pt x="92735" y="71527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3950" y="1919990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3950" y="218669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library, Smart Animate, Auto Layout, full variant system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959168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562103"/>
                </a:lnTo>
                <a:cubicBezTo>
                  <a:pt x="5581650" y="1604185"/>
                  <a:pt x="5547535" y="1638300"/>
                  <a:pt x="55054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959168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355" y="31553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8130" y="326538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4900" y="3206818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683068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76198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475" y="38354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3950" y="3797368"/>
            <a:ext cx="281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/ Unity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3950" y="4064068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automotive HMI implementation platform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066800"/>
            <a:ext cx="5543550" cy="4272844"/>
          </a:xfrm>
          <a:custGeom>
            <a:avLst/>
            <a:gdLst/>
            <a:ahLst/>
            <a:cxnLst/>
            <a:rect l="l" t="t" r="r" b="b"/>
            <a:pathLst>
              <a:path w="5581650" h="5410200">
                <a:moveTo>
                  <a:pt x="38100" y="0"/>
                </a:moveTo>
                <a:lnTo>
                  <a:pt x="5505474" y="0"/>
                </a:lnTo>
                <a:cubicBezTo>
                  <a:pt x="5547545" y="0"/>
                  <a:pt x="5581650" y="34105"/>
                  <a:pt x="5581650" y="76176"/>
                </a:cubicBezTo>
                <a:lnTo>
                  <a:pt x="5581650" y="5334024"/>
                </a:lnTo>
                <a:cubicBezTo>
                  <a:pt x="5581650" y="5376095"/>
                  <a:pt x="5547545" y="5410200"/>
                  <a:pt x="5505474" y="5410200"/>
                </a:cubicBez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29349" y="1066800"/>
            <a:ext cx="45719" cy="4272844"/>
          </a:xfrm>
          <a:custGeom>
            <a:avLst/>
            <a:gdLst/>
            <a:ahLst/>
            <a:cxnLst/>
            <a:rect l="l" t="t" r="r" b="b"/>
            <a:pathLst>
              <a:path w="38100" h="5410200">
                <a:moveTo>
                  <a:pt x="38100" y="0"/>
                </a:moveTo>
                <a:lnTo>
                  <a:pt x="38100" y="0"/>
                </a:lnTo>
                <a:lnTo>
                  <a:pt x="38100" y="5410200"/>
                </a:ln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89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532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34200" y="131445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 Architecture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7950" y="17907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57950" y="179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41306" y="1981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23812"/>
                </a:moveTo>
                <a:cubicBezTo>
                  <a:pt x="31998" y="23812"/>
                  <a:pt x="0" y="55811"/>
                  <a:pt x="0" y="95250"/>
                </a:cubicBezTo>
                <a:cubicBezTo>
                  <a:pt x="0" y="134689"/>
                  <a:pt x="31998" y="166688"/>
                  <a:pt x="71438" y="166688"/>
                </a:cubicBezTo>
                <a:lnTo>
                  <a:pt x="142875" y="166688"/>
                </a:lnTo>
                <a:cubicBezTo>
                  <a:pt x="182314" y="166688"/>
                  <a:pt x="214313" y="134689"/>
                  <a:pt x="214313" y="95250"/>
                </a:cubicBezTo>
                <a:cubicBezTo>
                  <a:pt x="214313" y="55811"/>
                  <a:pt x="182314" y="23812"/>
                  <a:pt x="142875" y="23812"/>
                </a:cubicBezTo>
                <a:lnTo>
                  <a:pt x="71438" y="23812"/>
                </a:lnTo>
                <a:close/>
                <a:moveTo>
                  <a:pt x="142875" y="59531"/>
                </a:moveTo>
                <a:cubicBezTo>
                  <a:pt x="162589" y="59531"/>
                  <a:pt x="178594" y="75536"/>
                  <a:pt x="178594" y="95250"/>
                </a:cubicBezTo>
                <a:cubicBezTo>
                  <a:pt x="178594" y="114964"/>
                  <a:pt x="162589" y="130969"/>
                  <a:pt x="142875" y="130969"/>
                </a:cubicBezTo>
                <a:cubicBezTo>
                  <a:pt x="123161" y="130969"/>
                  <a:pt x="107156" y="114964"/>
                  <a:pt x="107156" y="95250"/>
                </a:cubicBezTo>
                <a:cubicBezTo>
                  <a:pt x="107156" y="75536"/>
                  <a:pt x="123161" y="59531"/>
                  <a:pt x="142875" y="5953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81825" y="194310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 states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22860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Normal/Street </a:t>
            </a:r>
            <a:r>
              <a:rPr lang="en-CA" sz="1200" dirty="0"/>
              <a:t>↔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Sport (single steering wheel button, no menus)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7950" y="28194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57950" y="28194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53213" y="3009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81825" y="29718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states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9400" y="3314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→ Advisory → Urgent → Critical (escalating override)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7950" y="38481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57950" y="38481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53213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1825" y="40005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 state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29400" y="43434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sequence → Street default</a:t>
            </a:r>
            <a:endParaRPr lang="en-US" sz="1600" dirty="0"/>
          </a:p>
        </p:txBody>
      </p:sp>
      <p:sp>
        <p:nvSpPr>
          <p:cNvPr id="126" name="Shape 37">
            <a:extLst>
              <a:ext uri="{FF2B5EF4-FFF2-40B4-BE49-F238E27FC236}">
                <a16:creationId xmlns:a16="http://schemas.microsoft.com/office/drawing/2014/main" id="{1841DEAD-C764-D138-B846-FA114B00DC06}"/>
              </a:ext>
            </a:extLst>
          </p:cNvPr>
          <p:cNvSpPr/>
          <p:nvPr/>
        </p:nvSpPr>
        <p:spPr>
          <a:xfrm>
            <a:off x="419100" y="4845118"/>
            <a:ext cx="5611458" cy="1825505"/>
          </a:xfrm>
          <a:custGeom>
            <a:avLst/>
            <a:gdLst/>
            <a:ahLst/>
            <a:cxnLst/>
            <a:rect l="l" t="t" r="r" b="b"/>
            <a:pathLst>
              <a:path w="5611458" h="5860651">
                <a:moveTo>
                  <a:pt x="36917" y="0"/>
                </a:moveTo>
                <a:lnTo>
                  <a:pt x="5537611" y="0"/>
                </a:lnTo>
                <a:cubicBezTo>
                  <a:pt x="5578396" y="0"/>
                  <a:pt x="5611458" y="33062"/>
                  <a:pt x="5611458" y="73847"/>
                </a:cubicBezTo>
                <a:lnTo>
                  <a:pt x="5611458" y="5786804"/>
                </a:lnTo>
                <a:cubicBezTo>
                  <a:pt x="5611458" y="5827589"/>
                  <a:pt x="5578396" y="5860651"/>
                  <a:pt x="5537611" y="5860651"/>
                </a:cubicBezTo>
                <a:lnTo>
                  <a:pt x="36917" y="5860651"/>
                </a:lnTo>
                <a:cubicBezTo>
                  <a:pt x="16529" y="5860651"/>
                  <a:pt x="0" y="5844123"/>
                  <a:pt x="0" y="5823734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376" dist="3691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7" name="Shape 38">
            <a:extLst>
              <a:ext uri="{FF2B5EF4-FFF2-40B4-BE49-F238E27FC236}">
                <a16:creationId xmlns:a16="http://schemas.microsoft.com/office/drawing/2014/main" id="{422B281A-7984-ECBB-214E-85AA5599127A}"/>
              </a:ext>
            </a:extLst>
          </p:cNvPr>
          <p:cNvSpPr/>
          <p:nvPr/>
        </p:nvSpPr>
        <p:spPr>
          <a:xfrm>
            <a:off x="400050" y="4833831"/>
            <a:ext cx="45719" cy="1836792"/>
          </a:xfrm>
          <a:custGeom>
            <a:avLst/>
            <a:gdLst/>
            <a:ahLst/>
            <a:cxnLst/>
            <a:rect l="l" t="t" r="r" b="b"/>
            <a:pathLst>
              <a:path w="36917" h="5860651">
                <a:moveTo>
                  <a:pt x="36917" y="0"/>
                </a:moveTo>
                <a:lnTo>
                  <a:pt x="36917" y="0"/>
                </a:lnTo>
                <a:lnTo>
                  <a:pt x="36917" y="5860651"/>
                </a:lnTo>
                <a:lnTo>
                  <a:pt x="36917" y="5860651"/>
                </a:lnTo>
                <a:cubicBezTo>
                  <a:pt x="16529" y="5860651"/>
                  <a:pt x="0" y="5844123"/>
                  <a:pt x="0" y="5823734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39">
            <a:extLst>
              <a:ext uri="{FF2B5EF4-FFF2-40B4-BE49-F238E27FC236}">
                <a16:creationId xmlns:a16="http://schemas.microsoft.com/office/drawing/2014/main" id="{697FAC52-31BF-1F88-83B2-FB136859B785}"/>
              </a:ext>
            </a:extLst>
          </p:cNvPr>
          <p:cNvSpPr/>
          <p:nvPr/>
        </p:nvSpPr>
        <p:spPr>
          <a:xfrm>
            <a:off x="603096" y="5036876"/>
            <a:ext cx="276881" cy="221505"/>
          </a:xfrm>
          <a:custGeom>
            <a:avLst/>
            <a:gdLst/>
            <a:ahLst/>
            <a:cxnLst/>
            <a:rect l="l" t="t" r="r" b="b"/>
            <a:pathLst>
              <a:path w="276881" h="221505">
                <a:moveTo>
                  <a:pt x="138441" y="6922"/>
                </a:moveTo>
                <a:cubicBezTo>
                  <a:pt x="163273" y="6922"/>
                  <a:pt x="183434" y="27083"/>
                  <a:pt x="183434" y="51915"/>
                </a:cubicBezTo>
                <a:cubicBezTo>
                  <a:pt x="183434" y="76748"/>
                  <a:pt x="163273" y="96908"/>
                  <a:pt x="138441" y="96908"/>
                </a:cubicBezTo>
                <a:cubicBezTo>
                  <a:pt x="113608" y="96908"/>
                  <a:pt x="93447" y="76748"/>
                  <a:pt x="93447" y="51915"/>
                </a:cubicBezTo>
                <a:cubicBezTo>
                  <a:pt x="93447" y="27083"/>
                  <a:pt x="113608" y="6922"/>
                  <a:pt x="138441" y="6922"/>
                </a:cubicBezTo>
                <a:close/>
                <a:moveTo>
                  <a:pt x="41532" y="38071"/>
                </a:moveTo>
                <a:cubicBezTo>
                  <a:pt x="58724" y="38071"/>
                  <a:pt x="72681" y="52029"/>
                  <a:pt x="72681" y="69220"/>
                </a:cubicBezTo>
                <a:cubicBezTo>
                  <a:pt x="72681" y="86412"/>
                  <a:pt x="58724" y="100369"/>
                  <a:pt x="41532" y="100369"/>
                </a:cubicBezTo>
                <a:cubicBezTo>
                  <a:pt x="24341" y="100369"/>
                  <a:pt x="10383" y="86412"/>
                  <a:pt x="10383" y="69220"/>
                </a:cubicBezTo>
                <a:cubicBezTo>
                  <a:pt x="10383" y="52029"/>
                  <a:pt x="24341" y="38071"/>
                  <a:pt x="41532" y="38071"/>
                </a:cubicBezTo>
                <a:close/>
                <a:moveTo>
                  <a:pt x="0" y="179973"/>
                </a:moveTo>
                <a:cubicBezTo>
                  <a:pt x="0" y="149386"/>
                  <a:pt x="24790" y="124597"/>
                  <a:pt x="55376" y="124597"/>
                </a:cubicBezTo>
                <a:cubicBezTo>
                  <a:pt x="60914" y="124597"/>
                  <a:pt x="66278" y="125419"/>
                  <a:pt x="71340" y="126933"/>
                </a:cubicBezTo>
                <a:cubicBezTo>
                  <a:pt x="57107" y="142853"/>
                  <a:pt x="48454" y="163879"/>
                  <a:pt x="48454" y="186895"/>
                </a:cubicBezTo>
                <a:lnTo>
                  <a:pt x="48454" y="193817"/>
                </a:lnTo>
                <a:cubicBezTo>
                  <a:pt x="48454" y="198749"/>
                  <a:pt x="49493" y="203421"/>
                  <a:pt x="51353" y="207661"/>
                </a:cubicBezTo>
                <a:lnTo>
                  <a:pt x="13844" y="207661"/>
                </a:lnTo>
                <a:cubicBezTo>
                  <a:pt x="6187" y="207661"/>
                  <a:pt x="0" y="201474"/>
                  <a:pt x="0" y="193817"/>
                </a:cubicBezTo>
                <a:lnTo>
                  <a:pt x="0" y="179973"/>
                </a:lnTo>
                <a:close/>
                <a:moveTo>
                  <a:pt x="225528" y="207661"/>
                </a:moveTo>
                <a:cubicBezTo>
                  <a:pt x="227389" y="203421"/>
                  <a:pt x="228427" y="198749"/>
                  <a:pt x="228427" y="193817"/>
                </a:cubicBezTo>
                <a:lnTo>
                  <a:pt x="228427" y="186895"/>
                </a:lnTo>
                <a:cubicBezTo>
                  <a:pt x="228427" y="163879"/>
                  <a:pt x="219774" y="142853"/>
                  <a:pt x="205541" y="126933"/>
                </a:cubicBezTo>
                <a:cubicBezTo>
                  <a:pt x="210603" y="125419"/>
                  <a:pt x="215967" y="124597"/>
                  <a:pt x="221505" y="124597"/>
                </a:cubicBezTo>
                <a:cubicBezTo>
                  <a:pt x="252092" y="124597"/>
                  <a:pt x="276881" y="149386"/>
                  <a:pt x="276881" y="179973"/>
                </a:cubicBezTo>
                <a:lnTo>
                  <a:pt x="276881" y="193817"/>
                </a:lnTo>
                <a:cubicBezTo>
                  <a:pt x="276881" y="201474"/>
                  <a:pt x="270695" y="207661"/>
                  <a:pt x="263037" y="207661"/>
                </a:cubicBezTo>
                <a:lnTo>
                  <a:pt x="225528" y="207661"/>
                </a:lnTo>
                <a:close/>
                <a:moveTo>
                  <a:pt x="204200" y="69220"/>
                </a:moveTo>
                <a:cubicBezTo>
                  <a:pt x="204200" y="52029"/>
                  <a:pt x="218157" y="38071"/>
                  <a:pt x="235349" y="38071"/>
                </a:cubicBezTo>
                <a:cubicBezTo>
                  <a:pt x="252541" y="38071"/>
                  <a:pt x="266498" y="52029"/>
                  <a:pt x="266498" y="69220"/>
                </a:cubicBezTo>
                <a:cubicBezTo>
                  <a:pt x="266498" y="86412"/>
                  <a:pt x="252541" y="100369"/>
                  <a:pt x="235349" y="100369"/>
                </a:cubicBezTo>
                <a:cubicBezTo>
                  <a:pt x="218157" y="100369"/>
                  <a:pt x="204200" y="86412"/>
                  <a:pt x="204200" y="69220"/>
                </a:cubicBezTo>
                <a:close/>
                <a:moveTo>
                  <a:pt x="69220" y="186895"/>
                </a:moveTo>
                <a:cubicBezTo>
                  <a:pt x="69220" y="148651"/>
                  <a:pt x="100196" y="117674"/>
                  <a:pt x="138441" y="117674"/>
                </a:cubicBezTo>
                <a:cubicBezTo>
                  <a:pt x="176685" y="117674"/>
                  <a:pt x="207661" y="148651"/>
                  <a:pt x="207661" y="186895"/>
                </a:cubicBezTo>
                <a:lnTo>
                  <a:pt x="207661" y="193817"/>
                </a:lnTo>
                <a:cubicBezTo>
                  <a:pt x="207661" y="201474"/>
                  <a:pt x="201474" y="207661"/>
                  <a:pt x="193817" y="207661"/>
                </a:cubicBezTo>
                <a:lnTo>
                  <a:pt x="83064" y="207661"/>
                </a:lnTo>
                <a:cubicBezTo>
                  <a:pt x="75407" y="207661"/>
                  <a:pt x="69220" y="201474"/>
                  <a:pt x="69220" y="193817"/>
                </a:cubicBezTo>
                <a:lnTo>
                  <a:pt x="69220" y="186895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40">
            <a:extLst>
              <a:ext uri="{FF2B5EF4-FFF2-40B4-BE49-F238E27FC236}">
                <a16:creationId xmlns:a16="http://schemas.microsoft.com/office/drawing/2014/main" id="{D06436E0-ADF9-793B-EA61-E317C19B17AA}"/>
              </a:ext>
            </a:extLst>
          </p:cNvPr>
          <p:cNvSpPr/>
          <p:nvPr/>
        </p:nvSpPr>
        <p:spPr>
          <a:xfrm>
            <a:off x="990729" y="5018418"/>
            <a:ext cx="224273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212529"/>
                </a:solidFill>
                <a:latin typeface="Liter" pitchFamily="34" charset="0"/>
              </a:rPr>
              <a:t>Hardware Assumptions</a:t>
            </a:r>
            <a:endParaRPr lang="en-US" sz="1600" dirty="0"/>
          </a:p>
        </p:txBody>
      </p:sp>
      <p:sp>
        <p:nvSpPr>
          <p:cNvPr id="130" name="Shape 41">
            <a:extLst>
              <a:ext uri="{FF2B5EF4-FFF2-40B4-BE49-F238E27FC236}">
                <a16:creationId xmlns:a16="http://schemas.microsoft.com/office/drawing/2014/main" id="{54D8371C-4EAE-BA9D-52C5-2DFB53937890}"/>
              </a:ext>
            </a:extLst>
          </p:cNvPr>
          <p:cNvSpPr/>
          <p:nvPr/>
        </p:nvSpPr>
        <p:spPr>
          <a:xfrm>
            <a:off x="621555" y="5424510"/>
            <a:ext cx="5205366" cy="443010"/>
          </a:xfrm>
          <a:custGeom>
            <a:avLst/>
            <a:gdLst/>
            <a:ahLst/>
            <a:cxnLst/>
            <a:rect l="l" t="t" r="r" b="b"/>
            <a:pathLst>
              <a:path w="5205366" h="1181360">
                <a:moveTo>
                  <a:pt x="36917" y="0"/>
                </a:moveTo>
                <a:lnTo>
                  <a:pt x="5131531" y="0"/>
                </a:lnTo>
                <a:cubicBezTo>
                  <a:pt x="5172309" y="0"/>
                  <a:pt x="5205366" y="33057"/>
                  <a:pt x="5205366" y="73835"/>
                </a:cubicBezTo>
                <a:lnTo>
                  <a:pt x="5205366" y="1107525"/>
                </a:lnTo>
                <a:cubicBezTo>
                  <a:pt x="5205366" y="1148303"/>
                  <a:pt x="5172309" y="1181360"/>
                  <a:pt x="5131531" y="1181360"/>
                </a:cubicBez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42">
            <a:extLst>
              <a:ext uri="{FF2B5EF4-FFF2-40B4-BE49-F238E27FC236}">
                <a16:creationId xmlns:a16="http://schemas.microsoft.com/office/drawing/2014/main" id="{E8E0B551-6CD5-3DF1-2093-325A1CBDC63D}"/>
              </a:ext>
            </a:extLst>
          </p:cNvPr>
          <p:cNvSpPr/>
          <p:nvPr/>
        </p:nvSpPr>
        <p:spPr>
          <a:xfrm>
            <a:off x="621555" y="5424510"/>
            <a:ext cx="45719" cy="443010"/>
          </a:xfrm>
          <a:custGeom>
            <a:avLst/>
            <a:gdLst/>
            <a:ahLst/>
            <a:cxnLst/>
            <a:rect l="l" t="t" r="r" b="b"/>
            <a:pathLst>
              <a:path w="36917" h="1181360">
                <a:moveTo>
                  <a:pt x="36917" y="0"/>
                </a:moveTo>
                <a:lnTo>
                  <a:pt x="36917" y="0"/>
                </a:lnTo>
                <a:lnTo>
                  <a:pt x="36917" y="1181360"/>
                </a:ln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46">
            <a:extLst>
              <a:ext uri="{FF2B5EF4-FFF2-40B4-BE49-F238E27FC236}">
                <a16:creationId xmlns:a16="http://schemas.microsoft.com/office/drawing/2014/main" id="{4F147069-7C3A-B54E-84CB-8415F1CAD562}"/>
              </a:ext>
            </a:extLst>
          </p:cNvPr>
          <p:cNvSpPr/>
          <p:nvPr/>
        </p:nvSpPr>
        <p:spPr>
          <a:xfrm>
            <a:off x="1027645" y="5531373"/>
            <a:ext cx="4725439" cy="216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60 Hz refresh rate needed </a:t>
            </a:r>
            <a:endParaRPr lang="en-US" sz="1600" dirty="0"/>
          </a:p>
        </p:txBody>
      </p:sp>
      <p:sp>
        <p:nvSpPr>
          <p:cNvPr id="136" name="Shape 47">
            <a:extLst>
              <a:ext uri="{FF2B5EF4-FFF2-40B4-BE49-F238E27FC236}">
                <a16:creationId xmlns:a16="http://schemas.microsoft.com/office/drawing/2014/main" id="{59A5B234-99CE-525E-1E98-451C03D33853}"/>
              </a:ext>
            </a:extLst>
          </p:cNvPr>
          <p:cNvSpPr/>
          <p:nvPr/>
        </p:nvSpPr>
        <p:spPr>
          <a:xfrm>
            <a:off x="621555" y="6049005"/>
            <a:ext cx="5205366" cy="443010"/>
          </a:xfrm>
          <a:custGeom>
            <a:avLst/>
            <a:gdLst/>
            <a:ahLst/>
            <a:cxnLst/>
            <a:rect l="l" t="t" r="r" b="b"/>
            <a:pathLst>
              <a:path w="5205366" h="959855">
                <a:moveTo>
                  <a:pt x="36917" y="0"/>
                </a:moveTo>
                <a:lnTo>
                  <a:pt x="5131534" y="0"/>
                </a:lnTo>
                <a:cubicBezTo>
                  <a:pt x="5172310" y="0"/>
                  <a:pt x="5205366" y="33056"/>
                  <a:pt x="5205366" y="73832"/>
                </a:cubicBezTo>
                <a:lnTo>
                  <a:pt x="5205366" y="886023"/>
                </a:lnTo>
                <a:cubicBezTo>
                  <a:pt x="5205366" y="926799"/>
                  <a:pt x="5172310" y="959855"/>
                  <a:pt x="5131534" y="959855"/>
                </a:cubicBezTo>
                <a:lnTo>
                  <a:pt x="36917" y="959855"/>
                </a:lnTo>
                <a:cubicBezTo>
                  <a:pt x="16529" y="959855"/>
                  <a:pt x="0" y="943326"/>
                  <a:pt x="0" y="922937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48">
            <a:extLst>
              <a:ext uri="{FF2B5EF4-FFF2-40B4-BE49-F238E27FC236}">
                <a16:creationId xmlns:a16="http://schemas.microsoft.com/office/drawing/2014/main" id="{23483FDF-29B5-EEB1-9F9F-92A6903CD2FF}"/>
              </a:ext>
            </a:extLst>
          </p:cNvPr>
          <p:cNvSpPr/>
          <p:nvPr/>
        </p:nvSpPr>
        <p:spPr>
          <a:xfrm>
            <a:off x="621555" y="6049006"/>
            <a:ext cx="45719" cy="443010"/>
          </a:xfrm>
          <a:custGeom>
            <a:avLst/>
            <a:gdLst/>
            <a:ahLst/>
            <a:cxnLst/>
            <a:rect l="l" t="t" r="r" b="b"/>
            <a:pathLst>
              <a:path w="36917" h="959855">
                <a:moveTo>
                  <a:pt x="36917" y="0"/>
                </a:moveTo>
                <a:lnTo>
                  <a:pt x="36917" y="0"/>
                </a:lnTo>
                <a:lnTo>
                  <a:pt x="36917" y="959855"/>
                </a:lnTo>
                <a:lnTo>
                  <a:pt x="36917" y="959855"/>
                </a:lnTo>
                <a:cubicBezTo>
                  <a:pt x="16529" y="959855"/>
                  <a:pt x="0" y="943326"/>
                  <a:pt x="0" y="922937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50">
            <a:extLst>
              <a:ext uri="{FF2B5EF4-FFF2-40B4-BE49-F238E27FC236}">
                <a16:creationId xmlns:a16="http://schemas.microsoft.com/office/drawing/2014/main" id="{91A60993-6540-231A-B01A-E6D85853DE0B}"/>
              </a:ext>
            </a:extLst>
          </p:cNvPr>
          <p:cNvSpPr/>
          <p:nvPr/>
        </p:nvSpPr>
        <p:spPr>
          <a:xfrm>
            <a:off x="916894" y="6307428"/>
            <a:ext cx="110752" cy="147670"/>
          </a:xfrm>
          <a:custGeom>
            <a:avLst/>
            <a:gdLst/>
            <a:ahLst/>
            <a:cxnLst/>
            <a:rect l="l" t="t" r="r" b="b"/>
            <a:pathLst>
              <a:path w="110752" h="147670">
                <a:moveTo>
                  <a:pt x="4615" y="18459"/>
                </a:moveTo>
                <a:cubicBezTo>
                  <a:pt x="4615" y="8278"/>
                  <a:pt x="12892" y="0"/>
                  <a:pt x="23073" y="0"/>
                </a:cubicBezTo>
                <a:lnTo>
                  <a:pt x="87679" y="0"/>
                </a:lnTo>
                <a:cubicBezTo>
                  <a:pt x="97860" y="0"/>
                  <a:pt x="106138" y="8278"/>
                  <a:pt x="106138" y="18459"/>
                </a:cubicBezTo>
                <a:lnTo>
                  <a:pt x="106138" y="129211"/>
                </a:lnTo>
                <a:cubicBezTo>
                  <a:pt x="106138" y="139392"/>
                  <a:pt x="97860" y="147670"/>
                  <a:pt x="87679" y="147670"/>
                </a:cubicBezTo>
                <a:lnTo>
                  <a:pt x="23073" y="147670"/>
                </a:lnTo>
                <a:cubicBezTo>
                  <a:pt x="12892" y="147670"/>
                  <a:pt x="4615" y="139392"/>
                  <a:pt x="4615" y="129211"/>
                </a:cubicBezTo>
                <a:lnTo>
                  <a:pt x="4615" y="18459"/>
                </a:lnTo>
                <a:close/>
                <a:moveTo>
                  <a:pt x="23073" y="18459"/>
                </a:moveTo>
                <a:lnTo>
                  <a:pt x="23073" y="106138"/>
                </a:lnTo>
                <a:lnTo>
                  <a:pt x="87679" y="106138"/>
                </a:lnTo>
                <a:lnTo>
                  <a:pt x="87679" y="18459"/>
                </a:lnTo>
                <a:lnTo>
                  <a:pt x="23073" y="18459"/>
                </a:lnTo>
                <a:close/>
                <a:moveTo>
                  <a:pt x="55376" y="136133"/>
                </a:moveTo>
                <a:cubicBezTo>
                  <a:pt x="60481" y="136133"/>
                  <a:pt x="64606" y="132009"/>
                  <a:pt x="64606" y="126904"/>
                </a:cubicBezTo>
                <a:cubicBezTo>
                  <a:pt x="64606" y="121799"/>
                  <a:pt x="60481" y="117674"/>
                  <a:pt x="55376" y="117674"/>
                </a:cubicBezTo>
                <a:cubicBezTo>
                  <a:pt x="50271" y="117674"/>
                  <a:pt x="46147" y="121799"/>
                  <a:pt x="46147" y="126904"/>
                </a:cubicBezTo>
                <a:cubicBezTo>
                  <a:pt x="46147" y="132009"/>
                  <a:pt x="50271" y="136133"/>
                  <a:pt x="55376" y="1361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52">
            <a:extLst>
              <a:ext uri="{FF2B5EF4-FFF2-40B4-BE49-F238E27FC236}">
                <a16:creationId xmlns:a16="http://schemas.microsoft.com/office/drawing/2014/main" id="{3926CD1A-8985-A9EB-A276-262A2AF42977}"/>
              </a:ext>
            </a:extLst>
          </p:cNvPr>
          <p:cNvSpPr/>
          <p:nvPr/>
        </p:nvSpPr>
        <p:spPr>
          <a:xfrm>
            <a:off x="1027645" y="6085054"/>
            <a:ext cx="4725440" cy="31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200" dirty="0">
                <a:effectLst/>
                <a:latin typeface="Quattrocento Sans" panose="020B0502050000020003" pitchFamily="34" charset="0"/>
              </a:rPr>
              <a:t>Assumes NXP or Qualcomm Snapdragon Automotive SoC</a:t>
            </a:r>
          </a:p>
        </p:txBody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996D1A2B-B139-1E2B-9FF6-60616260F683}"/>
              </a:ext>
            </a:extLst>
          </p:cNvPr>
          <p:cNvSpPr/>
          <p:nvPr/>
        </p:nvSpPr>
        <p:spPr>
          <a:xfrm>
            <a:off x="785813" y="555691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32">
            <a:extLst>
              <a:ext uri="{FF2B5EF4-FFF2-40B4-BE49-F238E27FC236}">
                <a16:creationId xmlns:a16="http://schemas.microsoft.com/office/drawing/2014/main" id="{75378025-7CF5-971D-89DE-B6CDA44A92C2}"/>
              </a:ext>
            </a:extLst>
          </p:cNvPr>
          <p:cNvSpPr/>
          <p:nvPr/>
        </p:nvSpPr>
        <p:spPr>
          <a:xfrm>
            <a:off x="788313" y="61590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6F091-D6C0-EA8D-73E2-5F390988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C05022-F1AA-6AA7-CB50-4A908E06E5E2}"/>
              </a:ext>
            </a:extLst>
          </p:cNvPr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2A6918-8461-046F-F71C-C4B42354DD4C}"/>
              </a:ext>
            </a:extLst>
          </p:cNvPr>
          <p:cNvSpPr/>
          <p:nvPr/>
        </p:nvSpPr>
        <p:spPr>
          <a:xfrm>
            <a:off x="552450" y="419100"/>
            <a:ext cx="709253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</a:rPr>
              <a:t>State Machine Architecture Diagram</a:t>
            </a:r>
            <a:endParaRPr lang="en-US" sz="16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888F931-451E-65A2-B435-A89E274F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84" y="954941"/>
            <a:ext cx="10507480" cy="57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246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55376" cy="443010"/>
          </a:xfrm>
          <a:custGeom>
            <a:avLst/>
            <a:gdLst/>
            <a:ahLst/>
            <a:cxnLst/>
            <a:rect l="l" t="t" r="r" b="b"/>
            <a:pathLst>
              <a:path w="55376" h="443010">
                <a:moveTo>
                  <a:pt x="0" y="0"/>
                </a:moveTo>
                <a:lnTo>
                  <a:pt x="55376" y="0"/>
                </a:lnTo>
                <a:lnTo>
                  <a:pt x="55376" y="443010"/>
                </a:lnTo>
                <a:lnTo>
                  <a:pt x="0" y="44301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5304" y="406092"/>
            <a:ext cx="4845420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Validation &amp; Testing Results</a:t>
            </a:r>
            <a:endParaRPr lang="en-US" sz="16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E3DC161-AF7B-14CC-0773-9A53365E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2" r="1488"/>
          <a:stretch/>
        </p:blipFill>
        <p:spPr>
          <a:xfrm>
            <a:off x="369175" y="1004341"/>
            <a:ext cx="11712897" cy="56812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6552888" cy="45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 Challenges and Solutions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060" y="1012460"/>
            <a:ext cx="11410950" cy="967884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5059" y="1021830"/>
            <a:ext cx="45719" cy="967884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610" y="1167360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610" y="1167360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09333" y="1167360"/>
            <a:ext cx="7494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consistency vs information density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206355"/>
            <a:ext cx="11410950" cy="967884"/>
          </a:xfrm>
          <a:custGeom>
            <a:avLst/>
            <a:gdLst/>
            <a:ahLst/>
            <a:cxnLst/>
            <a:rect l="l" t="t" r="r" b="b"/>
            <a:pathLst>
              <a:path w="11410950" h="1409700">
                <a:moveTo>
                  <a:pt x="38100" y="0"/>
                </a:moveTo>
                <a:lnTo>
                  <a:pt x="11334756" y="0"/>
                </a:lnTo>
                <a:cubicBezTo>
                  <a:pt x="11376808" y="0"/>
                  <a:pt x="11410950" y="34142"/>
                  <a:pt x="11410950" y="76194"/>
                </a:cubicBezTo>
                <a:lnTo>
                  <a:pt x="11410950" y="1333506"/>
                </a:lnTo>
                <a:cubicBezTo>
                  <a:pt x="11410950" y="1375587"/>
                  <a:pt x="11376837" y="1409700"/>
                  <a:pt x="113347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059" y="2210816"/>
            <a:ext cx="45719" cy="963423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9620" y="2356346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9620" y="2356346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2526" y="2356346"/>
            <a:ext cx="9420157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Typography readable at 195 mph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9575" y="3436172"/>
            <a:ext cx="11410950" cy="963423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049" y="3436172"/>
            <a:ext cx="45719" cy="963423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610" y="3596692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9600" y="3596692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83097" y="3596692"/>
            <a:ext cx="9529546" cy="23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</a:rPr>
              <a:t>GL Studio / Unity Implementation</a:t>
            </a:r>
            <a:endParaRPr lang="en-US" sz="1600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2D0089F8-DB2B-59BF-B8F6-5FED540E38D5}"/>
              </a:ext>
            </a:extLst>
          </p:cNvPr>
          <p:cNvSpPr/>
          <p:nvPr/>
        </p:nvSpPr>
        <p:spPr>
          <a:xfrm>
            <a:off x="594610" y="1559600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9CCD6F55-769A-2358-62DA-19A59CD17496}"/>
              </a:ext>
            </a:extLst>
          </p:cNvPr>
          <p:cNvSpPr/>
          <p:nvPr/>
        </p:nvSpPr>
        <p:spPr>
          <a:xfrm>
            <a:off x="597110" y="1559600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</a:rPr>
              <a:t>  SOLUTION</a:t>
            </a:r>
            <a:endParaRPr lang="en-US" sz="16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674D76EE-CB2C-874A-2724-9AAF8EBB0C9C}"/>
              </a:ext>
            </a:extLst>
          </p:cNvPr>
          <p:cNvSpPr/>
          <p:nvPr/>
        </p:nvSpPr>
        <p:spPr>
          <a:xfrm>
            <a:off x="1711833" y="1559600"/>
            <a:ext cx="8811262" cy="25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zone system – Tier 1 components never move</a:t>
            </a:r>
            <a:endParaRPr lang="en-US" sz="16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6DB3CD1E-3E66-E373-1B6A-0258D5A1A56F}"/>
              </a:ext>
            </a:extLst>
          </p:cNvPr>
          <p:cNvSpPr/>
          <p:nvPr/>
        </p:nvSpPr>
        <p:spPr>
          <a:xfrm>
            <a:off x="582120" y="2763578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61CBC904-5197-1183-0DE7-C163B406E4FE}"/>
              </a:ext>
            </a:extLst>
          </p:cNvPr>
          <p:cNvSpPr/>
          <p:nvPr/>
        </p:nvSpPr>
        <p:spPr>
          <a:xfrm>
            <a:off x="582120" y="2763578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SOLUTION</a:t>
            </a:r>
            <a:endParaRPr lang="en-US" sz="16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BC4584D2-21EC-DCBE-9D4C-B053FF5F4878}"/>
              </a:ext>
            </a:extLst>
          </p:cNvPr>
          <p:cNvSpPr/>
          <p:nvPr/>
        </p:nvSpPr>
        <p:spPr>
          <a:xfrm>
            <a:off x="1735026" y="2763577"/>
            <a:ext cx="8232685" cy="28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 Black Weight + stroke + minimum size thresholds</a:t>
            </a:r>
            <a:endParaRPr lang="en-US" sz="16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26919C0C-5DCF-4285-ECA9-318840329E7E}"/>
              </a:ext>
            </a:extLst>
          </p:cNvPr>
          <p:cNvSpPr/>
          <p:nvPr/>
        </p:nvSpPr>
        <p:spPr>
          <a:xfrm>
            <a:off x="597110" y="3973943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DE2FC8EF-22BD-9BB3-6FB4-31F0EB32D7BE}"/>
              </a:ext>
            </a:extLst>
          </p:cNvPr>
          <p:cNvSpPr/>
          <p:nvPr/>
        </p:nvSpPr>
        <p:spPr>
          <a:xfrm>
            <a:off x="612100" y="3973943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SOLUTION</a:t>
            </a:r>
            <a:endParaRPr lang="en-US" sz="160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3D073859-1E5F-F718-9DA1-34ADEA183C90}"/>
              </a:ext>
            </a:extLst>
          </p:cNvPr>
          <p:cNvSpPr/>
          <p:nvPr/>
        </p:nvSpPr>
        <p:spPr>
          <a:xfrm>
            <a:off x="1685597" y="3973943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Reviewing Documentation,  tutorials and YT videos</a:t>
            </a:r>
            <a:endParaRPr lang="en-US" sz="1600"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60184C4F-9CC3-E481-634A-22CF94F6B2F6}"/>
              </a:ext>
            </a:extLst>
          </p:cNvPr>
          <p:cNvSpPr/>
          <p:nvPr/>
        </p:nvSpPr>
        <p:spPr>
          <a:xfrm>
            <a:off x="402550" y="4597606"/>
            <a:ext cx="11410950" cy="967884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B0409023-B139-AE7D-CDFB-4CDFB2800212}"/>
              </a:ext>
            </a:extLst>
          </p:cNvPr>
          <p:cNvSpPr/>
          <p:nvPr/>
        </p:nvSpPr>
        <p:spPr>
          <a:xfrm>
            <a:off x="402549" y="4606976"/>
            <a:ext cx="45719" cy="967884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7F6C6426-987F-1856-0148-8AEA6CF4502D}"/>
              </a:ext>
            </a:extLst>
          </p:cNvPr>
          <p:cNvSpPr/>
          <p:nvPr/>
        </p:nvSpPr>
        <p:spPr>
          <a:xfrm>
            <a:off x="612100" y="4752506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A54E300-9857-0F35-9568-69ED070265EE}"/>
              </a:ext>
            </a:extLst>
          </p:cNvPr>
          <p:cNvSpPr/>
          <p:nvPr/>
        </p:nvSpPr>
        <p:spPr>
          <a:xfrm>
            <a:off x="612100" y="4752506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E98AA994-9132-C21B-6887-64795269A86A}"/>
              </a:ext>
            </a:extLst>
          </p:cNvPr>
          <p:cNvSpPr/>
          <p:nvPr/>
        </p:nvSpPr>
        <p:spPr>
          <a:xfrm>
            <a:off x="1726823" y="4752506"/>
            <a:ext cx="7494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Passenger features distracting driver</a:t>
            </a:r>
            <a:endParaRPr lang="en-US" sz="160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F54D7363-6599-CDCB-5165-5C5605F5EE42}"/>
              </a:ext>
            </a:extLst>
          </p:cNvPr>
          <p:cNvSpPr/>
          <p:nvPr/>
        </p:nvSpPr>
        <p:spPr>
          <a:xfrm>
            <a:off x="417540" y="5791501"/>
            <a:ext cx="11410950" cy="967884"/>
          </a:xfrm>
          <a:custGeom>
            <a:avLst/>
            <a:gdLst/>
            <a:ahLst/>
            <a:cxnLst/>
            <a:rect l="l" t="t" r="r" b="b"/>
            <a:pathLst>
              <a:path w="11410950" h="1409700">
                <a:moveTo>
                  <a:pt x="38100" y="0"/>
                </a:moveTo>
                <a:lnTo>
                  <a:pt x="11334756" y="0"/>
                </a:lnTo>
                <a:cubicBezTo>
                  <a:pt x="11376808" y="0"/>
                  <a:pt x="11410950" y="34142"/>
                  <a:pt x="11410950" y="76194"/>
                </a:cubicBezTo>
                <a:lnTo>
                  <a:pt x="11410950" y="1333506"/>
                </a:lnTo>
                <a:cubicBezTo>
                  <a:pt x="11410950" y="1375587"/>
                  <a:pt x="11376837" y="1409700"/>
                  <a:pt x="113347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58F8947D-FF0F-3D42-BB7C-C248C686FFD8}"/>
              </a:ext>
            </a:extLst>
          </p:cNvPr>
          <p:cNvSpPr/>
          <p:nvPr/>
        </p:nvSpPr>
        <p:spPr>
          <a:xfrm>
            <a:off x="417539" y="5795962"/>
            <a:ext cx="45719" cy="963423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A03C91D9-CAEB-21BF-18A9-0CC7929E6C82}"/>
              </a:ext>
            </a:extLst>
          </p:cNvPr>
          <p:cNvSpPr/>
          <p:nvPr/>
        </p:nvSpPr>
        <p:spPr>
          <a:xfrm>
            <a:off x="597110" y="5941492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4E124E1B-345E-24F2-D7C2-DEBEF7F5269C}"/>
              </a:ext>
            </a:extLst>
          </p:cNvPr>
          <p:cNvSpPr/>
          <p:nvPr/>
        </p:nvSpPr>
        <p:spPr>
          <a:xfrm>
            <a:off x="597110" y="5941492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A69450C1-6592-5763-C182-B61256D51A25}"/>
              </a:ext>
            </a:extLst>
          </p:cNvPr>
          <p:cNvSpPr/>
          <p:nvPr/>
        </p:nvSpPr>
        <p:spPr>
          <a:xfrm>
            <a:off x="1779996" y="5941492"/>
            <a:ext cx="401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 transition disorientation</a:t>
            </a:r>
            <a:endParaRPr lang="en-US" sz="160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CDC41584-4DA2-895B-EDAC-17ACDF667448}"/>
              </a:ext>
            </a:extLst>
          </p:cNvPr>
          <p:cNvSpPr/>
          <p:nvPr/>
        </p:nvSpPr>
        <p:spPr>
          <a:xfrm>
            <a:off x="612100" y="5144746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95C4A88F-E678-34A0-E8FF-42E37ABDEA78}"/>
              </a:ext>
            </a:extLst>
          </p:cNvPr>
          <p:cNvSpPr/>
          <p:nvPr/>
        </p:nvSpPr>
        <p:spPr>
          <a:xfrm>
            <a:off x="614600" y="5144746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</a:rPr>
              <a:t>  SOLUTION</a:t>
            </a:r>
            <a:endParaRPr lang="en-US" sz="1600" dirty="0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1AACC53F-BA33-036C-F50A-F6CD62E98C05}"/>
              </a:ext>
            </a:extLst>
          </p:cNvPr>
          <p:cNvSpPr/>
          <p:nvPr/>
        </p:nvSpPr>
        <p:spPr>
          <a:xfrm>
            <a:off x="1729323" y="5144746"/>
            <a:ext cx="8811262" cy="25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“Dead time” rule – Tier 3 only during startup and idle</a:t>
            </a:r>
            <a:endParaRPr lang="en-US" sz="1600" dirty="0"/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5905ECB0-4DE0-C850-593B-8A9152B6E9E4}"/>
              </a:ext>
            </a:extLst>
          </p:cNvPr>
          <p:cNvSpPr/>
          <p:nvPr/>
        </p:nvSpPr>
        <p:spPr>
          <a:xfrm>
            <a:off x="599610" y="6348724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4D87F6EE-5CD2-1514-93A4-450268877C30}"/>
              </a:ext>
            </a:extLst>
          </p:cNvPr>
          <p:cNvSpPr/>
          <p:nvPr/>
        </p:nvSpPr>
        <p:spPr>
          <a:xfrm>
            <a:off x="599610" y="6348724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SOLUTION</a:t>
            </a:r>
            <a:endParaRPr lang="en-US" sz="1600" dirty="0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E1F2C68E-23BC-56D5-CA25-03618861175C}"/>
              </a:ext>
            </a:extLst>
          </p:cNvPr>
          <p:cNvSpPr/>
          <p:nvPr/>
        </p:nvSpPr>
        <p:spPr>
          <a:xfrm>
            <a:off x="1782496" y="6348724"/>
            <a:ext cx="7571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positions fixed, color shift smooth, brief label 500ms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36078-C1F1-91A5-699B-19257E61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F9B1FBD1-01B7-88A5-9853-A72D42CB88B7}"/>
              </a:ext>
            </a:extLst>
          </p:cNvPr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9C49E95A-1D14-FF3E-B562-782F5AEDA5B1}"/>
              </a:ext>
            </a:extLst>
          </p:cNvPr>
          <p:cNvSpPr/>
          <p:nvPr/>
        </p:nvSpPr>
        <p:spPr>
          <a:xfrm>
            <a:off x="552450" y="4191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 Progress &amp; Roadmap</a:t>
            </a:r>
            <a:endParaRPr lang="en-US" sz="16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43A70FC-28E0-7965-766B-8311F73B72C8}"/>
              </a:ext>
            </a:extLst>
          </p:cNvPr>
          <p:cNvSpPr/>
          <p:nvPr/>
        </p:nvSpPr>
        <p:spPr>
          <a:xfrm>
            <a:off x="400050" y="1216700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2849E5CA-7CE4-7B9F-C1A5-D5A9B523B75B}"/>
              </a:ext>
            </a:extLst>
          </p:cNvPr>
          <p:cNvSpPr/>
          <p:nvPr/>
        </p:nvSpPr>
        <p:spPr>
          <a:xfrm>
            <a:off x="400050" y="12167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2D7BF926-679F-CE10-99D8-027652CA5FE6}"/>
              </a:ext>
            </a:extLst>
          </p:cNvPr>
          <p:cNvSpPr/>
          <p:nvPr/>
        </p:nvSpPr>
        <p:spPr>
          <a:xfrm>
            <a:off x="609600" y="1407200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7C0D12B-4434-3A70-E155-E4E8F3FE0744}"/>
              </a:ext>
            </a:extLst>
          </p:cNvPr>
          <p:cNvSpPr/>
          <p:nvPr/>
        </p:nvSpPr>
        <p:spPr>
          <a:xfrm>
            <a:off x="609600" y="1407200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23463C9-9CB9-2070-400B-100DCA7FF1D7}"/>
              </a:ext>
            </a:extLst>
          </p:cNvPr>
          <p:cNvSpPr/>
          <p:nvPr/>
        </p:nvSpPr>
        <p:spPr>
          <a:xfrm>
            <a:off x="1724323" y="14072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Figma Prototype 1 (Feb 2–6)</a:t>
            </a:r>
            <a:endParaRPr lang="en-US" sz="16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87ABA54B-1459-4166-6109-0D2626B6FA02}"/>
              </a:ext>
            </a:extLst>
          </p:cNvPr>
          <p:cNvSpPr/>
          <p:nvPr/>
        </p:nvSpPr>
        <p:spPr>
          <a:xfrm>
            <a:off x="633413" y="186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C5ACAED-6139-705D-0949-8FB4C7246A8E}"/>
              </a:ext>
            </a:extLst>
          </p:cNvPr>
          <p:cNvSpPr/>
          <p:nvPr/>
        </p:nvSpPr>
        <p:spPr>
          <a:xfrm>
            <a:off x="962025" y="182630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Street and Sports mode dashboard</a:t>
            </a:r>
            <a:endParaRPr lang="en-US" sz="1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5B737BEB-C4FE-966E-78B5-578AF1DC19E3}"/>
              </a:ext>
            </a:extLst>
          </p:cNvPr>
          <p:cNvSpPr/>
          <p:nvPr/>
        </p:nvSpPr>
        <p:spPr>
          <a:xfrm>
            <a:off x="6205538" y="186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A662D20-7045-2E5C-DAD4-CE00ADC56D75}"/>
              </a:ext>
            </a:extLst>
          </p:cNvPr>
          <p:cNvSpPr/>
          <p:nvPr/>
        </p:nvSpPr>
        <p:spPr>
          <a:xfrm>
            <a:off x="6520160" y="1826300"/>
            <a:ext cx="517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library foundation, project documentation (PRD, Design Brief, Tech Specs)</a:t>
            </a:r>
            <a:endParaRPr lang="en-US" sz="16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519CCA1-7F8A-B6E7-DE35-6047D818D00D}"/>
              </a:ext>
            </a:extLst>
          </p:cNvPr>
          <p:cNvSpPr/>
          <p:nvPr/>
        </p:nvSpPr>
        <p:spPr>
          <a:xfrm>
            <a:off x="422770" y="3025414"/>
            <a:ext cx="11410950" cy="1409700"/>
          </a:xfrm>
          <a:custGeom>
            <a:avLst/>
            <a:gdLst/>
            <a:ahLst/>
            <a:cxnLst/>
            <a:rect l="l" t="t" r="r" b="b"/>
            <a:pathLst>
              <a:path w="11410950" h="1409700">
                <a:moveTo>
                  <a:pt x="38100" y="0"/>
                </a:moveTo>
                <a:lnTo>
                  <a:pt x="11334756" y="0"/>
                </a:lnTo>
                <a:cubicBezTo>
                  <a:pt x="11376808" y="0"/>
                  <a:pt x="11410950" y="34142"/>
                  <a:pt x="11410950" y="76194"/>
                </a:cubicBezTo>
                <a:lnTo>
                  <a:pt x="11410950" y="1333506"/>
                </a:lnTo>
                <a:cubicBezTo>
                  <a:pt x="11410950" y="1375587"/>
                  <a:pt x="11376837" y="1409700"/>
                  <a:pt x="113347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D0A8F83-8079-7DB2-5AAD-55BA9E34C3EC}"/>
              </a:ext>
            </a:extLst>
          </p:cNvPr>
          <p:cNvSpPr/>
          <p:nvPr/>
        </p:nvSpPr>
        <p:spPr>
          <a:xfrm>
            <a:off x="400050" y="3020284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FADC3C4C-4E99-CF5E-6CC0-81506B1ED5BB}"/>
              </a:ext>
            </a:extLst>
          </p:cNvPr>
          <p:cNvSpPr/>
          <p:nvPr/>
        </p:nvSpPr>
        <p:spPr>
          <a:xfrm>
            <a:off x="609600" y="3210784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019932AF-16FB-B36E-FB47-2AC45A0C4EF9}"/>
              </a:ext>
            </a:extLst>
          </p:cNvPr>
          <p:cNvSpPr/>
          <p:nvPr/>
        </p:nvSpPr>
        <p:spPr>
          <a:xfrm>
            <a:off x="609600" y="3210784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FC61C004-1DD5-A713-9B44-24E68B398BB3}"/>
              </a:ext>
            </a:extLst>
          </p:cNvPr>
          <p:cNvSpPr/>
          <p:nvPr/>
        </p:nvSpPr>
        <p:spPr>
          <a:xfrm>
            <a:off x="1792486" y="3210784"/>
            <a:ext cx="5171022" cy="25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GL Studio / Unity  + Prototype 2 (Feb 9–20)</a:t>
            </a:r>
            <a:endParaRPr lang="en-US" sz="16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F50FC286-5E66-2C32-FE8D-C3B1C97796AD}"/>
              </a:ext>
            </a:extLst>
          </p:cNvPr>
          <p:cNvSpPr/>
          <p:nvPr/>
        </p:nvSpPr>
        <p:spPr>
          <a:xfrm>
            <a:off x="962025" y="3629884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installation, tutorials, component architecture exploration</a:t>
            </a:r>
            <a:endParaRPr lang="en-US" sz="16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2EEAD61E-A20A-565D-61E7-7E189D8E97A8}"/>
              </a:ext>
            </a:extLst>
          </p:cNvPr>
          <p:cNvSpPr/>
          <p:nvPr/>
        </p:nvSpPr>
        <p:spPr>
          <a:xfrm>
            <a:off x="6543675" y="3629884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 Prototype 2: Startup animations, Day and night modes added</a:t>
            </a:r>
            <a:endParaRPr lang="en-US" sz="1600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56ABEA74-4CF1-7C7A-3C2E-4E3327D47ABE}"/>
              </a:ext>
            </a:extLst>
          </p:cNvPr>
          <p:cNvSpPr/>
          <p:nvPr/>
        </p:nvSpPr>
        <p:spPr>
          <a:xfrm>
            <a:off x="962025" y="4010884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variant system built</a:t>
            </a:r>
            <a:endParaRPr lang="en-US" sz="1600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2B9E05EB-B93A-1324-7021-4D4088401F4F}"/>
              </a:ext>
            </a:extLst>
          </p:cNvPr>
          <p:cNvSpPr/>
          <p:nvPr/>
        </p:nvSpPr>
        <p:spPr>
          <a:xfrm>
            <a:off x="6543675" y="401088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SVG assets exported for GL Studio</a:t>
            </a:r>
            <a:endParaRPr lang="en-US" sz="16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50469643-74A5-BA2C-1F53-7307FA64023A}"/>
              </a:ext>
            </a:extLst>
          </p:cNvPr>
          <p:cNvSpPr/>
          <p:nvPr/>
        </p:nvSpPr>
        <p:spPr>
          <a:xfrm>
            <a:off x="409575" y="5025125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0B3E4C6D-7AF6-34BD-4B45-34D891417D3A}"/>
              </a:ext>
            </a:extLst>
          </p:cNvPr>
          <p:cNvSpPr/>
          <p:nvPr/>
        </p:nvSpPr>
        <p:spPr>
          <a:xfrm>
            <a:off x="400050" y="5025125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68D50228-7008-042C-AE33-65987DE79166}"/>
              </a:ext>
            </a:extLst>
          </p:cNvPr>
          <p:cNvSpPr/>
          <p:nvPr/>
        </p:nvSpPr>
        <p:spPr>
          <a:xfrm>
            <a:off x="609600" y="5215625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4E4A611F-1FB8-8AE5-2830-71855CC8DC76}"/>
              </a:ext>
            </a:extLst>
          </p:cNvPr>
          <p:cNvSpPr/>
          <p:nvPr/>
        </p:nvSpPr>
        <p:spPr>
          <a:xfrm>
            <a:off x="609600" y="5215625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3548246F-87F4-B3CD-0CA6-CECC79FCB125}"/>
              </a:ext>
            </a:extLst>
          </p:cNvPr>
          <p:cNvSpPr/>
          <p:nvPr/>
        </p:nvSpPr>
        <p:spPr>
          <a:xfrm>
            <a:off x="1683097" y="521562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Unity Implementation (Feb 21 – Mar 4)</a:t>
            </a:r>
            <a:endParaRPr lang="en-US" sz="1600" dirty="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C4F0AEBD-3976-78F3-5B03-7D2DBF4B201C}"/>
              </a:ext>
            </a:extLst>
          </p:cNvPr>
          <p:cNvSpPr/>
          <p:nvPr/>
        </p:nvSpPr>
        <p:spPr>
          <a:xfrm>
            <a:off x="600075" y="5710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728DD36E-6493-C3DC-2153-59189B3AF2E0}"/>
              </a:ext>
            </a:extLst>
          </p:cNvPr>
          <p:cNvSpPr/>
          <p:nvPr/>
        </p:nvSpPr>
        <p:spPr>
          <a:xfrm>
            <a:off x="815727" y="563472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implementation: gauges, state machine, startup animation</a:t>
            </a:r>
            <a:endParaRPr lang="en-US" sz="160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59C8915F-3F38-D3B5-5D17-4DBF54A8D01E}"/>
              </a:ext>
            </a:extLst>
          </p:cNvPr>
          <p:cNvSpPr/>
          <p:nvPr/>
        </p:nvSpPr>
        <p:spPr>
          <a:xfrm>
            <a:off x="4335363" y="5710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C9B19020-FE63-EFFA-F8BE-228121EA4231}"/>
              </a:ext>
            </a:extLst>
          </p:cNvPr>
          <p:cNvSpPr/>
          <p:nvPr/>
        </p:nvSpPr>
        <p:spPr>
          <a:xfrm>
            <a:off x="4577272" y="5634725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60fps optimization, glance testing under adverse conditions</a:t>
            </a:r>
            <a:endParaRPr lang="en-US" sz="16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A1A2AFDB-49C4-CE81-84D6-F06DF9472E5F}"/>
              </a:ext>
            </a:extLst>
          </p:cNvPr>
          <p:cNvSpPr/>
          <p:nvPr/>
        </p:nvSpPr>
        <p:spPr>
          <a:xfrm>
            <a:off x="8066038" y="5710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1087573C-A9C9-1812-D549-8ECAF70AE47A}"/>
              </a:ext>
            </a:extLst>
          </p:cNvPr>
          <p:cNvSpPr/>
          <p:nvPr/>
        </p:nvSpPr>
        <p:spPr>
          <a:xfrm>
            <a:off x="8259154" y="5524485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polish, demo setup, rehearsal for presentation</a:t>
            </a:r>
            <a:endParaRPr lang="en-US" sz="1600" dirty="0"/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8AF1164C-2277-E85C-8FD8-ADD7ACAE3B07}"/>
              </a:ext>
            </a:extLst>
          </p:cNvPr>
          <p:cNvSpPr/>
          <p:nvPr/>
        </p:nvSpPr>
        <p:spPr>
          <a:xfrm>
            <a:off x="6282987" y="368070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B327AB15-E2DE-97F6-428B-0A692DBBE0A0}"/>
              </a:ext>
            </a:extLst>
          </p:cNvPr>
          <p:cNvSpPr/>
          <p:nvPr/>
        </p:nvSpPr>
        <p:spPr>
          <a:xfrm>
            <a:off x="710863" y="36657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">
            <a:extLst>
              <a:ext uri="{FF2B5EF4-FFF2-40B4-BE49-F238E27FC236}">
                <a16:creationId xmlns:a16="http://schemas.microsoft.com/office/drawing/2014/main" id="{FC93AC27-BDC6-C173-B1DA-ECBCC63852D2}"/>
              </a:ext>
            </a:extLst>
          </p:cNvPr>
          <p:cNvSpPr/>
          <p:nvPr/>
        </p:nvSpPr>
        <p:spPr>
          <a:xfrm>
            <a:off x="713363" y="40429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6F934124-4177-79FD-6AC6-E7AE0B12BD44}"/>
              </a:ext>
            </a:extLst>
          </p:cNvPr>
          <p:cNvSpPr/>
          <p:nvPr/>
        </p:nvSpPr>
        <p:spPr>
          <a:xfrm>
            <a:off x="6285487" y="40579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9588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743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 Project Deliverables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63509"/>
            <a:ext cx="5600700" cy="1504950"/>
          </a:xfrm>
          <a:custGeom>
            <a:avLst/>
            <a:gdLst/>
            <a:ahLst/>
            <a:cxnLst/>
            <a:rect l="l" t="t" r="r" b="b"/>
            <a:pathLst>
              <a:path w="5600700" h="1504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28754"/>
                </a:lnTo>
                <a:cubicBezTo>
                  <a:pt x="5600700" y="1470836"/>
                  <a:pt x="5566586" y="1504950"/>
                  <a:pt x="552450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263509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6335" y="158735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6859" y="1530209"/>
            <a:ext cx="3670091" cy="26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Design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0550" y="205954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8200" y="2006459"/>
            <a:ext cx="4663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Library with all variants and states 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" y="23874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8199" y="2349359"/>
            <a:ext cx="4543269" cy="21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 specifications, typography hierarchy and color </a:t>
            </a:r>
            <a:r>
              <a:rPr lang="en-US" sz="1200" dirty="0" err="1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pallette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6975" y="1276914"/>
            <a:ext cx="5600700" cy="3872795"/>
          </a:xfrm>
          <a:custGeom>
            <a:avLst/>
            <a:gdLst/>
            <a:ahLst/>
            <a:cxnLst/>
            <a:rect l="l" t="t" r="r" b="b"/>
            <a:pathLst>
              <a:path w="5600700" h="33337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57540"/>
                </a:lnTo>
                <a:cubicBezTo>
                  <a:pt x="5600700" y="3299630"/>
                  <a:pt x="5566580" y="3333750"/>
                  <a:pt x="5524490" y="3333750"/>
                </a:cubicBezTo>
                <a:lnTo>
                  <a:pt x="76210" y="3333750"/>
                </a:lnTo>
                <a:cubicBezTo>
                  <a:pt x="34120" y="3333750"/>
                  <a:pt x="0" y="3299630"/>
                  <a:pt x="0" y="32575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76975" y="127691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67475" y="14864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1775" y="160076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62775" y="1543615"/>
            <a:ext cx="4084976" cy="30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Handoff Package for Future Teams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67475" y="201986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1775" y="22468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file with next steps, pitfalls, tools and resources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67475" y="285806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53200" y="3090679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 Repository with all assets and documentation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7475" y="369626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1775" y="392861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Implementation Guide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0525" y="3147564"/>
            <a:ext cx="5600700" cy="3403139"/>
          </a:xfrm>
          <a:custGeom>
            <a:avLst/>
            <a:gdLst/>
            <a:ahLst/>
            <a:cxnLst/>
            <a:rect l="l" t="t" r="r" b="b"/>
            <a:pathLst>
              <a:path w="5600700" h="53911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5314973"/>
                </a:lnTo>
                <a:cubicBezTo>
                  <a:pt x="5600700" y="5357044"/>
                  <a:pt x="5566594" y="5391150"/>
                  <a:pt x="5524523" y="5391150"/>
                </a:cubicBezTo>
                <a:lnTo>
                  <a:pt x="76177" y="5391150"/>
                </a:lnTo>
                <a:cubicBezTo>
                  <a:pt x="34106" y="5391150"/>
                  <a:pt x="0" y="5357044"/>
                  <a:pt x="0" y="531497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1000" y="310946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" y="33190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4850" y="343331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6800" y="3376165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Fidelity Figma Prototype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0550" y="3852415"/>
            <a:ext cx="5200650" cy="533400"/>
          </a:xfrm>
          <a:custGeom>
            <a:avLst/>
            <a:gdLst/>
            <a:ahLst/>
            <a:cxnLst/>
            <a:rect l="l" t="t" r="r" b="b"/>
            <a:pathLst>
              <a:path w="5200650" h="5334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57198"/>
                </a:lnTo>
                <a:cubicBezTo>
                  <a:pt x="5200650" y="499283"/>
                  <a:pt x="5166533" y="533400"/>
                  <a:pt x="51244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0550" y="385241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5813" y="40429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0613" y="3945353"/>
            <a:ext cx="4531099" cy="35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CA" sz="1200" dirty="0">
                <a:latin typeface="Quattrocento Sans" panose="020B0502050000020003" pitchFamily="34" charset="0"/>
              </a:rPr>
              <a:t>3 fully interactive modes: Normal, Sports, Night</a:t>
            </a:r>
            <a:endParaRPr lang="en-US" sz="1200" dirty="0">
              <a:latin typeface="Quattrocento Sans" panose="020B0502050000020003" pitchFamily="34" charset="0"/>
            </a:endParaRPr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BD966592-16D2-CEE7-2C1A-014506AFACDC}"/>
              </a:ext>
            </a:extLst>
          </p:cNvPr>
          <p:cNvSpPr/>
          <p:nvPr/>
        </p:nvSpPr>
        <p:spPr>
          <a:xfrm>
            <a:off x="590550" y="4548461"/>
            <a:ext cx="5200650" cy="533400"/>
          </a:xfrm>
          <a:custGeom>
            <a:avLst/>
            <a:gdLst/>
            <a:ahLst/>
            <a:cxnLst/>
            <a:rect l="l" t="t" r="r" b="b"/>
            <a:pathLst>
              <a:path w="5200650" h="5334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57198"/>
                </a:lnTo>
                <a:cubicBezTo>
                  <a:pt x="5200650" y="499283"/>
                  <a:pt x="5166533" y="533400"/>
                  <a:pt x="51244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0535E390-0859-2394-5D0C-68B9272197F0}"/>
              </a:ext>
            </a:extLst>
          </p:cNvPr>
          <p:cNvSpPr/>
          <p:nvPr/>
        </p:nvSpPr>
        <p:spPr>
          <a:xfrm>
            <a:off x="590550" y="454846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EF9009AE-70DE-27C7-4FAD-ED275835C84F}"/>
              </a:ext>
            </a:extLst>
          </p:cNvPr>
          <p:cNvSpPr/>
          <p:nvPr/>
        </p:nvSpPr>
        <p:spPr>
          <a:xfrm>
            <a:off x="785813" y="47389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95F199D6-2213-EE8D-C666-0F224EFD5E91}"/>
              </a:ext>
            </a:extLst>
          </p:cNvPr>
          <p:cNvSpPr/>
          <p:nvPr/>
        </p:nvSpPr>
        <p:spPr>
          <a:xfrm>
            <a:off x="1114425" y="4700860"/>
            <a:ext cx="4795838" cy="292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200" dirty="0">
                <a:effectLst/>
                <a:latin typeface="Quattrocento Sans" panose="020B0502050000020003" pitchFamily="34" charset="0"/>
              </a:rPr>
              <a:t>16 primary components with 120+ variants</a:t>
            </a:r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5DFFA849-7301-CDF5-144D-8D4AD5697742}"/>
              </a:ext>
            </a:extLst>
          </p:cNvPr>
          <p:cNvSpPr/>
          <p:nvPr/>
        </p:nvSpPr>
        <p:spPr>
          <a:xfrm>
            <a:off x="591018" y="5204751"/>
            <a:ext cx="5200650" cy="533400"/>
          </a:xfrm>
          <a:custGeom>
            <a:avLst/>
            <a:gdLst/>
            <a:ahLst/>
            <a:cxnLst/>
            <a:rect l="l" t="t" r="r" b="b"/>
            <a:pathLst>
              <a:path w="5200650" h="5334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57198"/>
                </a:lnTo>
                <a:cubicBezTo>
                  <a:pt x="5200650" y="499283"/>
                  <a:pt x="5166533" y="533400"/>
                  <a:pt x="51244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93647323-7FC0-E523-8AAD-5331F7B4F943}"/>
              </a:ext>
            </a:extLst>
          </p:cNvPr>
          <p:cNvSpPr/>
          <p:nvPr/>
        </p:nvSpPr>
        <p:spPr>
          <a:xfrm>
            <a:off x="591018" y="520475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2">
            <a:extLst>
              <a:ext uri="{FF2B5EF4-FFF2-40B4-BE49-F238E27FC236}">
                <a16:creationId xmlns:a16="http://schemas.microsoft.com/office/drawing/2014/main" id="{D5BAAB30-AFAF-9854-BF71-A92DC8E48CD8}"/>
              </a:ext>
            </a:extLst>
          </p:cNvPr>
          <p:cNvSpPr/>
          <p:nvPr/>
        </p:nvSpPr>
        <p:spPr>
          <a:xfrm>
            <a:off x="786281" y="53952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017C7AD8-C206-AD76-C23A-4B07B7084EB9}"/>
              </a:ext>
            </a:extLst>
          </p:cNvPr>
          <p:cNvSpPr/>
          <p:nvPr/>
        </p:nvSpPr>
        <p:spPr>
          <a:xfrm>
            <a:off x="1104900" y="5357151"/>
            <a:ext cx="4696293" cy="2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200" dirty="0">
                <a:effectLst/>
                <a:latin typeface="Quattrocento Sans" panose="020B0502050000020003" pitchFamily="34" charset="0"/>
              </a:rPr>
              <a:t>20+ Smart Animate transitions </a:t>
            </a: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2B6DFBB5-E98E-2BCF-2EA9-ECE30924D234}"/>
              </a:ext>
            </a:extLst>
          </p:cNvPr>
          <p:cNvSpPr/>
          <p:nvPr/>
        </p:nvSpPr>
        <p:spPr>
          <a:xfrm>
            <a:off x="590550" y="5861041"/>
            <a:ext cx="5200650" cy="533400"/>
          </a:xfrm>
          <a:custGeom>
            <a:avLst/>
            <a:gdLst/>
            <a:ahLst/>
            <a:cxnLst/>
            <a:rect l="l" t="t" r="r" b="b"/>
            <a:pathLst>
              <a:path w="5200650" h="5334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57198"/>
                </a:lnTo>
                <a:cubicBezTo>
                  <a:pt x="5200650" y="499283"/>
                  <a:pt x="5166533" y="533400"/>
                  <a:pt x="51244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2C08BC95-F82A-2499-AC9F-E202A4C9BAF8}"/>
              </a:ext>
            </a:extLst>
          </p:cNvPr>
          <p:cNvSpPr/>
          <p:nvPr/>
        </p:nvSpPr>
        <p:spPr>
          <a:xfrm>
            <a:off x="590550" y="586104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486568D9-59F1-8081-AF3D-EFCE31C46A18}"/>
              </a:ext>
            </a:extLst>
          </p:cNvPr>
          <p:cNvSpPr/>
          <p:nvPr/>
        </p:nvSpPr>
        <p:spPr>
          <a:xfrm>
            <a:off x="785813" y="60515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47C66274-A98E-6570-1D85-6BB562F273FD}"/>
              </a:ext>
            </a:extLst>
          </p:cNvPr>
          <p:cNvSpPr/>
          <p:nvPr/>
        </p:nvSpPr>
        <p:spPr>
          <a:xfrm>
            <a:off x="1104900" y="6043421"/>
            <a:ext cx="469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200" dirty="0">
                <a:latin typeface="Quattrocento Sans" panose="020B0502050000020003" pitchFamily="34" charset="0"/>
              </a:rPr>
              <a:t>Working prototype with all modes functional</a:t>
            </a:r>
            <a:endParaRPr lang="en-CA" sz="1200" dirty="0">
              <a:effectLst/>
              <a:latin typeface="Quattrocento Sans" panose="020B0502050000020003" pitchFamily="34" charset="0"/>
            </a:endParaRPr>
          </a:p>
        </p:txBody>
      </p:sp>
      <p:sp>
        <p:nvSpPr>
          <p:cNvPr id="48" name="Shape 49">
            <a:extLst>
              <a:ext uri="{FF2B5EF4-FFF2-40B4-BE49-F238E27FC236}">
                <a16:creationId xmlns:a16="http://schemas.microsoft.com/office/drawing/2014/main" id="{A07DF6F1-48D6-9BF9-757B-33B46843D364}"/>
              </a:ext>
            </a:extLst>
          </p:cNvPr>
          <p:cNvSpPr/>
          <p:nvPr/>
        </p:nvSpPr>
        <p:spPr>
          <a:xfrm>
            <a:off x="507480" y="1475358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184587" y="0"/>
                </a:moveTo>
                <a:lnTo>
                  <a:pt x="184587" y="0"/>
                </a:lnTo>
                <a:cubicBezTo>
                  <a:pt x="286464" y="0"/>
                  <a:pt x="369175" y="82711"/>
                  <a:pt x="369175" y="184587"/>
                </a:cubicBezTo>
                <a:lnTo>
                  <a:pt x="369175" y="184587"/>
                </a:lnTo>
                <a:cubicBezTo>
                  <a:pt x="369175" y="286464"/>
                  <a:pt x="286464" y="369175"/>
                  <a:pt x="184587" y="369175"/>
                </a:cubicBezTo>
                <a:lnTo>
                  <a:pt x="184587" y="369175"/>
                </a:lnTo>
                <a:cubicBezTo>
                  <a:pt x="82711" y="369175"/>
                  <a:pt x="0" y="286464"/>
                  <a:pt x="0" y="184587"/>
                </a:cubicBezTo>
                <a:lnTo>
                  <a:pt x="0" y="184587"/>
                </a:lnTo>
                <a:cubicBezTo>
                  <a:pt x="0" y="82711"/>
                  <a:pt x="82711" y="0"/>
                  <a:pt x="18458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BF9A9E53-D009-8B13-84E5-CD5222CB8815}"/>
              </a:ext>
            </a:extLst>
          </p:cNvPr>
          <p:cNvSpPr/>
          <p:nvPr/>
        </p:nvSpPr>
        <p:spPr>
          <a:xfrm>
            <a:off x="639362" y="1588215"/>
            <a:ext cx="110752" cy="147670"/>
          </a:xfrm>
          <a:custGeom>
            <a:avLst/>
            <a:gdLst/>
            <a:ahLst/>
            <a:cxnLst/>
            <a:rect l="l" t="t" r="r" b="b"/>
            <a:pathLst>
              <a:path w="110752" h="147670">
                <a:moveTo>
                  <a:pt x="4615" y="18459"/>
                </a:moveTo>
                <a:cubicBezTo>
                  <a:pt x="4615" y="8278"/>
                  <a:pt x="12892" y="0"/>
                  <a:pt x="23073" y="0"/>
                </a:cubicBezTo>
                <a:lnTo>
                  <a:pt x="87679" y="0"/>
                </a:lnTo>
                <a:cubicBezTo>
                  <a:pt x="97860" y="0"/>
                  <a:pt x="106138" y="8278"/>
                  <a:pt x="106138" y="18459"/>
                </a:cubicBezTo>
                <a:lnTo>
                  <a:pt x="106138" y="129211"/>
                </a:lnTo>
                <a:cubicBezTo>
                  <a:pt x="106138" y="139392"/>
                  <a:pt x="97860" y="147670"/>
                  <a:pt x="87679" y="147670"/>
                </a:cubicBezTo>
                <a:lnTo>
                  <a:pt x="23073" y="147670"/>
                </a:lnTo>
                <a:cubicBezTo>
                  <a:pt x="12892" y="147670"/>
                  <a:pt x="4615" y="139392"/>
                  <a:pt x="4615" y="129211"/>
                </a:cubicBezTo>
                <a:lnTo>
                  <a:pt x="4615" y="18459"/>
                </a:lnTo>
                <a:close/>
                <a:moveTo>
                  <a:pt x="23073" y="18459"/>
                </a:moveTo>
                <a:lnTo>
                  <a:pt x="23073" y="106138"/>
                </a:lnTo>
                <a:lnTo>
                  <a:pt x="87679" y="106138"/>
                </a:lnTo>
                <a:lnTo>
                  <a:pt x="87679" y="18459"/>
                </a:lnTo>
                <a:lnTo>
                  <a:pt x="23073" y="18459"/>
                </a:lnTo>
                <a:close/>
                <a:moveTo>
                  <a:pt x="55376" y="136133"/>
                </a:moveTo>
                <a:cubicBezTo>
                  <a:pt x="60481" y="136133"/>
                  <a:pt x="64606" y="132009"/>
                  <a:pt x="64606" y="126904"/>
                </a:cubicBezTo>
                <a:cubicBezTo>
                  <a:pt x="64606" y="121799"/>
                  <a:pt x="60481" y="117674"/>
                  <a:pt x="55376" y="117674"/>
                </a:cubicBezTo>
                <a:cubicBezTo>
                  <a:pt x="50271" y="117674"/>
                  <a:pt x="46147" y="121799"/>
                  <a:pt x="46147" y="126904"/>
                </a:cubicBezTo>
                <a:cubicBezTo>
                  <a:pt x="46147" y="132009"/>
                  <a:pt x="50271" y="136133"/>
                  <a:pt x="55376" y="1361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 Conclusions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13075"/>
            <a:ext cx="11461230" cy="53625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76201" y="0"/>
                </a:moveTo>
                <a:lnTo>
                  <a:pt x="5543549" y="0"/>
                </a:lnTo>
                <a:cubicBezTo>
                  <a:pt x="5585606" y="0"/>
                  <a:pt x="5619750" y="34144"/>
                  <a:pt x="5619750" y="76201"/>
                </a:cubicBezTo>
                <a:lnTo>
                  <a:pt x="5619750" y="1457324"/>
                </a:lnTo>
                <a:cubicBezTo>
                  <a:pt x="5619750" y="1499381"/>
                  <a:pt x="5585606" y="1533525"/>
                  <a:pt x="5543549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9007" y="1133832"/>
            <a:ext cx="10983341" cy="502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“Safety and emotional design are not mutually exclusive” </a:t>
            </a: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74AFF73-1AC4-98F1-94F1-2A7356BEE502}"/>
              </a:ext>
            </a:extLst>
          </p:cNvPr>
          <p:cNvSpPr/>
          <p:nvPr/>
        </p:nvSpPr>
        <p:spPr>
          <a:xfrm>
            <a:off x="381000" y="1864881"/>
            <a:ext cx="11461230" cy="4228188"/>
          </a:xfrm>
          <a:custGeom>
            <a:avLst/>
            <a:gdLst/>
            <a:ahLst/>
            <a:cxnLst/>
            <a:rect l="l" t="t" r="r" b="b"/>
            <a:pathLst>
              <a:path w="3686175" h="5410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334007"/>
                </a:lnTo>
                <a:cubicBezTo>
                  <a:pt x="3686175" y="5376087"/>
                  <a:pt x="3652062" y="5410200"/>
                  <a:pt x="3609982" y="5410200"/>
                </a:cubicBezTo>
                <a:lnTo>
                  <a:pt x="76193" y="5410200"/>
                </a:lnTo>
                <a:cubicBezTo>
                  <a:pt x="34113" y="5410200"/>
                  <a:pt x="0" y="5376087"/>
                  <a:pt x="0" y="5334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16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BB78CBBD-1033-BA04-2375-FC18CAB96C04}"/>
              </a:ext>
            </a:extLst>
          </p:cNvPr>
          <p:cNvSpPr/>
          <p:nvPr/>
        </p:nvSpPr>
        <p:spPr>
          <a:xfrm>
            <a:off x="489991" y="20365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B66D73C-4AC5-4B3A-DB3D-0172A48B60F4}"/>
              </a:ext>
            </a:extLst>
          </p:cNvPr>
          <p:cNvSpPr/>
          <p:nvPr/>
        </p:nvSpPr>
        <p:spPr>
          <a:xfrm>
            <a:off x="604291" y="215083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3E2A3628-CC99-1BAD-526B-AE7E13585CEA}"/>
              </a:ext>
            </a:extLst>
          </p:cNvPr>
          <p:cNvSpPr/>
          <p:nvPr/>
        </p:nvSpPr>
        <p:spPr>
          <a:xfrm>
            <a:off x="979982" y="2065108"/>
            <a:ext cx="762624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8 objectives completed:</a:t>
            </a:r>
            <a:endParaRPr lang="en-US" sz="16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523C394B-BE1E-DF88-6EE4-BD48A7B6FBE0}"/>
              </a:ext>
            </a:extLst>
          </p:cNvPr>
          <p:cNvSpPr/>
          <p:nvPr/>
        </p:nvSpPr>
        <p:spPr>
          <a:xfrm>
            <a:off x="637081" y="2771718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AEF43C9-A445-11CF-3E7D-53E7BAE3B166}"/>
              </a:ext>
            </a:extLst>
          </p:cNvPr>
          <p:cNvSpPr/>
          <p:nvPr/>
        </p:nvSpPr>
        <p:spPr>
          <a:xfrm>
            <a:off x="895532" y="2726968"/>
            <a:ext cx="9409893" cy="19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hierarchy protects driver while engaging passengers</a:t>
            </a:r>
            <a:endParaRPr lang="en-US" sz="1400" b="1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D4E489F9-0D7A-8DE0-D7EB-18CDEEEE4793}"/>
              </a:ext>
            </a:extLst>
          </p:cNvPr>
          <p:cNvSpPr/>
          <p:nvPr/>
        </p:nvSpPr>
        <p:spPr>
          <a:xfrm>
            <a:off x="618734" y="443163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B834C9F9-F403-0437-4DA8-F9BD99D98F7D}"/>
              </a:ext>
            </a:extLst>
          </p:cNvPr>
          <p:cNvSpPr/>
          <p:nvPr/>
        </p:nvSpPr>
        <p:spPr>
          <a:xfrm>
            <a:off x="895532" y="3144367"/>
            <a:ext cx="854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info readable in 0.34 seconds average (target &lt;0.5s) - validated</a:t>
            </a:r>
            <a:endParaRPr lang="en-US" sz="1400" b="1" dirty="0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F218F068-E3E7-A4B7-C1A4-BC6679EF20DD}"/>
              </a:ext>
            </a:extLst>
          </p:cNvPr>
          <p:cNvSpPr/>
          <p:nvPr/>
        </p:nvSpPr>
        <p:spPr>
          <a:xfrm>
            <a:off x="634745" y="331786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17C4A8DE-914A-AEF7-346D-FCDAA9E37F0C}"/>
              </a:ext>
            </a:extLst>
          </p:cNvPr>
          <p:cNvSpPr/>
          <p:nvPr/>
        </p:nvSpPr>
        <p:spPr>
          <a:xfrm>
            <a:off x="895532" y="3795076"/>
            <a:ext cx="8075768" cy="22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Differentiates from all 6 analyzed competitors</a:t>
            </a:r>
            <a:endParaRPr lang="en-US" sz="1400" b="1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9C85EA1A-817F-2D11-FF3C-BDCDE57C93DF}"/>
              </a:ext>
            </a:extLst>
          </p:cNvPr>
          <p:cNvSpPr/>
          <p:nvPr/>
        </p:nvSpPr>
        <p:spPr>
          <a:xfrm>
            <a:off x="628961" y="3850229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D8330050-03DB-30B3-212C-565A4AF62132}"/>
              </a:ext>
            </a:extLst>
          </p:cNvPr>
          <p:cNvSpPr/>
          <p:nvPr/>
        </p:nvSpPr>
        <p:spPr>
          <a:xfrm>
            <a:off x="870990" y="4380306"/>
            <a:ext cx="9720497" cy="2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Production-feasible: GL Studio/Unity on automotive ARM hardware</a:t>
            </a:r>
            <a:endParaRPr lang="en-US" sz="1400" b="1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6EE27659-172D-DCA7-A4E1-9D314AF19AF2}"/>
              </a:ext>
            </a:extLst>
          </p:cNvPr>
          <p:cNvSpPr/>
          <p:nvPr/>
        </p:nvSpPr>
        <p:spPr>
          <a:xfrm>
            <a:off x="887021" y="4936845"/>
            <a:ext cx="9704466" cy="18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is ongoing – a solid foundation for production implementation</a:t>
            </a:r>
            <a:endParaRPr lang="en-US" sz="1400" b="1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C3C4C7EC-9790-A244-A0F4-EF95BF814C39}"/>
              </a:ext>
            </a:extLst>
          </p:cNvPr>
          <p:cNvSpPr/>
          <p:nvPr/>
        </p:nvSpPr>
        <p:spPr>
          <a:xfrm>
            <a:off x="619865" y="4982934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736D7581-007D-6CA0-A822-054B30867918}"/>
              </a:ext>
            </a:extLst>
          </p:cNvPr>
          <p:cNvSpPr/>
          <p:nvPr/>
        </p:nvSpPr>
        <p:spPr>
          <a:xfrm>
            <a:off x="887020" y="5466354"/>
            <a:ext cx="10510501" cy="20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documentations, assets, and research can be handed off.</a:t>
            </a:r>
            <a:endParaRPr lang="en-US" sz="1400" b="1" dirty="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7D6954B5-7F05-B127-8595-2767485502D5}"/>
              </a:ext>
            </a:extLst>
          </p:cNvPr>
          <p:cNvSpPr/>
          <p:nvPr/>
        </p:nvSpPr>
        <p:spPr>
          <a:xfrm>
            <a:off x="631460" y="5522537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201" y="266327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Thanks!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823012" y="952127"/>
            <a:ext cx="2581835" cy="45719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057650" y="1192027"/>
            <a:ext cx="4076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InF1nite | Ottawa Infotainment Inc.</a:t>
            </a:r>
            <a:endParaRPr lang="en-US" sz="1600" dirty="0"/>
          </a:p>
        </p:txBody>
      </p:sp>
      <p:pic>
        <p:nvPicPr>
          <p:cNvPr id="7" name="Picture 6" descr="A person in a suit with his arms out&#10;&#10;AI-generated content may be incorrect.">
            <a:extLst>
              <a:ext uri="{FF2B5EF4-FFF2-40B4-BE49-F238E27FC236}">
                <a16:creationId xmlns:a16="http://schemas.microsoft.com/office/drawing/2014/main" id="{D573D3FC-534F-FB9F-EA76-DDF97CB9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692" y="1571868"/>
            <a:ext cx="7678616" cy="511907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1104</Words>
  <Application>Microsoft Macintosh PowerPoint</Application>
  <PresentationFormat>Widescreen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Ottawa Infotainment UI/UX Innovation Challenge</dc:title>
  <dc:subject>Ottawa Infotainment UI/UX Innovation Challenge</dc:subject>
  <dc:creator>Kimi</dc:creator>
  <cp:lastModifiedBy>SHAURYA </cp:lastModifiedBy>
  <cp:revision>45</cp:revision>
  <dcterms:created xsi:type="dcterms:W3CDTF">2026-02-16T21:59:17Z</dcterms:created>
  <dcterms:modified xsi:type="dcterms:W3CDTF">2026-03-06T15:59:43Z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{"Label":"Ottawa Infotainment UI/UX Innovation Challenge","ContentProducer":"001191110108MACG2KBH8F10000","ProduceID":"19c6875f-1af2-8426-8000-000035d3eb1a","ReservedCode1":"","ContentPropagator":"001191110108MACG2KBH8F20000","PropagateID":"19c6875f-1af2-8426-8000-000035d3eb1a","ReservedCode2":""}</vt:lpwstr>
  </property>
</Properties>
</file>