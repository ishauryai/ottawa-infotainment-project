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7" d="100"/>
          <a:sy n="97" d="100"/>
        </p:scale>
        <p:origin x="1032"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Ottawa Infotainment UI/UX Innovation Challenge</a:t>
            </a:r>
          </a:p>
        </p:txBody>
      </p:sp>
      <p:sp>
        <p:nvSpPr>
          <p:cNvPr id="3" name="Subtitle 2"/>
          <p:cNvSpPr>
            <a:spLocks noGrp="1"/>
          </p:cNvSpPr>
          <p:nvPr>
            <p:ph type="subTitle" idx="1"/>
          </p:nvPr>
        </p:nvSpPr>
        <p:spPr/>
        <p:txBody>
          <a:bodyPr>
            <a:normAutofit fontScale="47500" lnSpcReduction="20000"/>
          </a:bodyPr>
          <a:lstStyle/>
          <a:p>
            <a:r>
              <a:rPr b="1"/>
              <a:t>Performance-Driven Dashboard Interface</a:t>
            </a:r>
          </a:p>
          <a:p>
            <a:endParaRPr/>
          </a:p>
          <a:p>
            <a:r>
              <a:t>Team [Name] | Ottawa Infotainment Inc.</a:t>
            </a:r>
          </a:p>
          <a:p>
            <a:r>
              <a:t>[Student Names] — UI/UX Design &amp; HMI Engineering</a:t>
            </a:r>
          </a:p>
          <a:p>
            <a:r>
              <a:t>Challenge Track: Instrument Cluster Design</a:t>
            </a:r>
          </a:p>
          <a:p>
            <a:endParaRPr/>
          </a:p>
          <a:p>
            <a:r>
              <a:t>March 4,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1. Problem Statement</a:t>
            </a:r>
          </a:p>
        </p:txBody>
      </p:sp>
      <p:sp>
        <p:nvSpPr>
          <p:cNvPr id="3" name="Content Placeholder 2"/>
          <p:cNvSpPr>
            <a:spLocks noGrp="1"/>
          </p:cNvSpPr>
          <p:nvPr>
            <p:ph idx="1"/>
          </p:nvPr>
        </p:nvSpPr>
        <p:spPr/>
        <p:txBody>
          <a:bodyPr/>
          <a:lstStyle/>
          <a:p>
            <a:pPr marL="0" indent="0">
              <a:buNone/>
            </a:pPr>
            <a:r>
              <a:rPr b="1" dirty="0"/>
              <a:t>The Problem</a:t>
            </a:r>
          </a:p>
          <a:p>
            <a:pPr marL="0" indent="0">
              <a:buNone/>
            </a:pPr>
            <a:r>
              <a:rPr dirty="0"/>
              <a:t>A new Detroit-based sports car company — targeting enthusiast drivers aged 35–55 — is competing head-on against Porsche, Ferrari, and McLaren. Their vehicle is exceptional: mid-engine, RWD, 0–60 in 3.2 seconds, 195 mph top speed. But their digital instrument cluster is generic. It fails to reflect the brand’s performance character and, worse, it fails the driver at the moments that matter most.</a:t>
            </a:r>
          </a:p>
          <a:p>
            <a:pPr marL="0" indent="0">
              <a:buNone/>
            </a:pPr>
            <a:endParaRPr dirty="0"/>
          </a:p>
          <a:p>
            <a:pPr marL="0" indent="0">
              <a:buNone/>
            </a:pPr>
            <a:r>
              <a:rPr b="1" dirty="0"/>
              <a:t>Why This Matters</a:t>
            </a:r>
          </a:p>
          <a:p>
            <a:pPr marL="0" indent="0">
              <a:buNone/>
            </a:pPr>
            <a:r>
              <a:rPr dirty="0"/>
              <a:t>• At 195 mph, a 2-second glance means 572 feet traveled blind</a:t>
            </a:r>
          </a:p>
          <a:p>
            <a:pPr marL="0" indent="0">
              <a:buNone/>
            </a:pPr>
            <a:r>
              <a:rPr dirty="0"/>
              <a:t>• Existing dashboards don’t differentiate between street and track driving needs</a:t>
            </a:r>
          </a:p>
          <a:p>
            <a:pPr marL="0" indent="0">
              <a:buNone/>
            </a:pPr>
            <a:r>
              <a:rPr dirty="0"/>
              <a:t>• Generic visual language undermines a brand challenging European dominance</a:t>
            </a:r>
          </a:p>
          <a:p>
            <a:pPr marL="0" indent="0">
              <a:buNone/>
            </a:pPr>
            <a:r>
              <a:rPr dirty="0"/>
              <a:t>• NHTSA: any task over 1.5 sec eyes-off-road significantly increases crash risk</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2. User &amp; Context</a:t>
            </a:r>
          </a:p>
        </p:txBody>
      </p:sp>
      <p:sp>
        <p:nvSpPr>
          <p:cNvPr id="3" name="Content Placeholder 2"/>
          <p:cNvSpPr>
            <a:spLocks noGrp="1"/>
          </p:cNvSpPr>
          <p:nvPr>
            <p:ph idx="1"/>
          </p:nvPr>
        </p:nvSpPr>
        <p:spPr/>
        <p:txBody>
          <a:bodyPr/>
          <a:lstStyle/>
          <a:p>
            <a:pPr marL="0" indent="0">
              <a:buNone/>
            </a:pPr>
            <a:r>
              <a:rPr b="1" dirty="0"/>
              <a:t>Primary User Persona</a:t>
            </a:r>
          </a:p>
          <a:p>
            <a:pPr marL="0" indent="0">
              <a:buNone/>
            </a:pPr>
            <a:r>
              <a:rPr dirty="0"/>
              <a:t>• Enthusiast driver, ages 35–55, technical background, values performance and precision</a:t>
            </a:r>
          </a:p>
          <a:p>
            <a:pPr marL="0" indent="0">
              <a:buNone/>
            </a:pPr>
            <a:r>
              <a:rPr dirty="0"/>
              <a:t>• Uses vehicle daily (street) and on occasional track days — needs both modes to work flawlessly</a:t>
            </a:r>
          </a:p>
          <a:p>
            <a:pPr marL="0" indent="0">
              <a:buNone/>
            </a:pPr>
            <a:endParaRPr dirty="0"/>
          </a:p>
          <a:p>
            <a:pPr marL="0" indent="0">
              <a:buNone/>
            </a:pPr>
            <a:r>
              <a:rPr b="1" dirty="0"/>
              <a:t>Context of Use</a:t>
            </a:r>
          </a:p>
          <a:p>
            <a:pPr marL="0" indent="0">
              <a:buNone/>
            </a:pPr>
            <a:r>
              <a:rPr dirty="0"/>
              <a:t>• Active driving at speed — no time to “figure it out”</a:t>
            </a:r>
          </a:p>
          <a:p>
            <a:pPr marL="0" indent="0">
              <a:buNone/>
            </a:pPr>
            <a:r>
              <a:rPr dirty="0"/>
              <a:t>• Night, rain, direct sunlight, tunnel transitions, vibration at high RPM</a:t>
            </a:r>
          </a:p>
          <a:p>
            <a:pPr marL="0" indent="0">
              <a:buNone/>
            </a:pPr>
            <a:r>
              <a:rPr dirty="0"/>
              <a:t>• 12.3” curved display behind steering wheel — limited interaction range</a:t>
            </a:r>
          </a:p>
          <a:p>
            <a:pPr marL="0" indent="0">
              <a:buNone/>
            </a:pPr>
            <a:endParaRPr dirty="0"/>
          </a:p>
          <a:p>
            <a:pPr marL="0" indent="0">
              <a:buNone/>
            </a:pPr>
            <a:r>
              <a:rPr b="1" dirty="0"/>
              <a:t>Key Constraints</a:t>
            </a:r>
          </a:p>
          <a:p>
            <a:pPr marL="0" indent="0">
              <a:buNone/>
            </a:pPr>
            <a:r>
              <a:rPr dirty="0"/>
              <a:t>• Safety: 1.5-second NHTSA glance threshold is absolute • Primary info readable in 0.5 sec</a:t>
            </a:r>
          </a:p>
          <a:p>
            <a:pPr marL="0" indent="0">
              <a:buNone/>
            </a:pPr>
            <a:r>
              <a:rPr dirty="0"/>
              <a:t>• Hardware: GL Studio, OpenGL ES 3.0, ARM SoC, 60fps minimum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3. Existing Solutions &amp; Gaps</a:t>
            </a:r>
          </a:p>
        </p:txBody>
      </p:sp>
      <p:sp>
        <p:nvSpPr>
          <p:cNvPr id="3" name="Content Placeholder 2"/>
          <p:cNvSpPr>
            <a:spLocks noGrp="1"/>
          </p:cNvSpPr>
          <p:nvPr>
            <p:ph idx="1"/>
          </p:nvPr>
        </p:nvSpPr>
        <p:spPr/>
        <p:txBody>
          <a:bodyPr/>
          <a:lstStyle/>
          <a:p>
            <a:pPr marL="0" indent="0">
              <a:buNone/>
            </a:pPr>
            <a:r>
              <a:rPr b="1" dirty="0"/>
              <a:t>Current Benchmarks</a:t>
            </a:r>
          </a:p>
          <a:p>
            <a:pPr marL="0" indent="0">
              <a:buNone/>
            </a:pPr>
            <a:r>
              <a:rPr dirty="0"/>
              <a:t>• Porsche Track Precision / McLaren Track Telemetry — refined, but prioritize style over glance speed</a:t>
            </a:r>
          </a:p>
          <a:p>
            <a:pPr marL="0" indent="0">
              <a:buNone/>
            </a:pPr>
            <a:r>
              <a:rPr dirty="0"/>
              <a:t>• Ferrari digital cluster — complex nested menus, steep learning curve</a:t>
            </a:r>
          </a:p>
          <a:p>
            <a:pPr marL="0" indent="0">
              <a:buNone/>
            </a:pPr>
            <a:r>
              <a:rPr dirty="0"/>
              <a:t>• Corvette PDR / Mustang digital — bold but aesthetically unrefined</a:t>
            </a:r>
          </a:p>
          <a:p>
            <a:pPr marL="0" indent="0">
              <a:buNone/>
            </a:pPr>
            <a:endParaRPr dirty="0"/>
          </a:p>
          <a:p>
            <a:pPr marL="0" indent="0">
              <a:buNone/>
            </a:pPr>
            <a:r>
              <a:rPr b="1" dirty="0"/>
              <a:t>What Works Well</a:t>
            </a:r>
          </a:p>
          <a:p>
            <a:pPr marL="0" indent="0">
              <a:buNone/>
            </a:pPr>
            <a:r>
              <a:rPr dirty="0"/>
              <a:t>• Premium brands: strong brand consistency and animation quality</a:t>
            </a:r>
          </a:p>
          <a:p>
            <a:pPr marL="0" indent="0">
              <a:buNone/>
            </a:pPr>
            <a:r>
              <a:rPr dirty="0"/>
              <a:t>• American muscle: high contrast, immediately legible primary gauges</a:t>
            </a:r>
          </a:p>
          <a:p>
            <a:pPr marL="0" indent="0">
              <a:buNone/>
            </a:pPr>
            <a:endParaRPr dirty="0"/>
          </a:p>
          <a:p>
            <a:pPr marL="0" indent="0">
              <a:buNone/>
            </a:pPr>
            <a:r>
              <a:rPr b="1" dirty="0"/>
              <a:t>Critical Gaps — Our Opportunity</a:t>
            </a:r>
          </a:p>
          <a:p>
            <a:pPr marL="0" indent="0">
              <a:buNone/>
            </a:pPr>
            <a:r>
              <a:rPr dirty="0"/>
              <a:t>• No system designs for worst-case: night + rain + exhaustion simultaneously</a:t>
            </a:r>
          </a:p>
          <a:p>
            <a:pPr marL="0" indent="0">
              <a:buNone/>
            </a:pPr>
            <a:r>
              <a:rPr dirty="0"/>
              <a:t>• Street-to-track mode adaptation is clunky or absent in every competitor</a:t>
            </a:r>
          </a:p>
          <a:p>
            <a:pPr marL="0" indent="0">
              <a:buNone/>
            </a:pPr>
            <a:r>
              <a:rPr dirty="0"/>
              <a:t>• No American brand combines European sophistication with Detroit performance identity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4. Proposed Solution – Concept Overview</a:t>
            </a:r>
          </a:p>
        </p:txBody>
      </p:sp>
      <p:sp>
        <p:nvSpPr>
          <p:cNvPr id="3" name="Content Placeholder 2"/>
          <p:cNvSpPr>
            <a:spLocks noGrp="1"/>
          </p:cNvSpPr>
          <p:nvPr>
            <p:ph idx="1"/>
          </p:nvPr>
        </p:nvSpPr>
        <p:spPr/>
        <p:txBody>
          <a:bodyPr/>
          <a:lstStyle/>
          <a:p>
            <a:pPr marL="0" indent="0">
              <a:buNone/>
            </a:pPr>
            <a:r>
              <a:rPr b="1" dirty="0"/>
              <a:t>Our Solution</a:t>
            </a:r>
          </a:p>
          <a:p>
            <a:pPr marL="0" indent="0">
              <a:buNone/>
            </a:pPr>
            <a:r>
              <a:rPr dirty="0"/>
              <a:t>A performance-driven digital instrument cluster for a 12.3” curved display that communicates Detroit sports car character — aggressive, precise, and instantly understood — while keeping the driver safe at any speed.</a:t>
            </a:r>
          </a:p>
          <a:p>
            <a:pPr marL="0" indent="0">
              <a:buNone/>
            </a:pPr>
            <a:endParaRPr dirty="0"/>
          </a:p>
          <a:p>
            <a:pPr marL="0" indent="0">
              <a:buNone/>
            </a:pPr>
            <a:r>
              <a:rPr b="1" dirty="0"/>
              <a:t>Key Differentiators</a:t>
            </a:r>
          </a:p>
          <a:p>
            <a:pPr marL="0" indent="0">
              <a:buNone/>
            </a:pPr>
            <a:r>
              <a:rPr dirty="0"/>
              <a:t>• Three-tier visual hierarchy — critical info (Speed, RPM, Gear) readable in 0.5 sec</a:t>
            </a:r>
          </a:p>
          <a:p>
            <a:pPr marL="0" indent="0">
              <a:buNone/>
            </a:pPr>
            <a:r>
              <a:rPr dirty="0"/>
              <a:t>• Three adaptive modes: Street → Sport → Track with single-button switching</a:t>
            </a:r>
          </a:p>
          <a:p>
            <a:pPr marL="0" indent="0">
              <a:buNone/>
            </a:pPr>
            <a:r>
              <a:rPr dirty="0"/>
              <a:t>• Designed for worst-case: night, rain, exhaustion, unfamiliar road</a:t>
            </a:r>
          </a:p>
          <a:p>
            <a:pPr marL="0" indent="0">
              <a:buNone/>
            </a:pPr>
            <a:r>
              <a:rPr dirty="0"/>
              <a:t>• Sub-100ms response, 60fps rendering — as fast as the car it lives in</a:t>
            </a:r>
          </a:p>
          <a:p>
            <a:pPr marL="0" indent="0">
              <a:buNone/>
            </a:pPr>
            <a:endParaRPr dirty="0"/>
          </a:p>
          <a:p>
            <a:pPr marL="0" indent="0">
              <a:buNone/>
            </a:pPr>
            <a:r>
              <a:rPr b="1" dirty="0"/>
              <a:t>Core Design Principle</a:t>
            </a:r>
          </a:p>
          <a:p>
            <a:pPr marL="0" indent="0">
              <a:buNone/>
            </a:pPr>
            <a:r>
              <a:rPr dirty="0"/>
              <a:t>“The best dashboard is one the driver never thinks about — it just works.”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5. User Flow &amp; Interaction</a:t>
            </a:r>
          </a:p>
        </p:txBody>
      </p:sp>
      <p:sp>
        <p:nvSpPr>
          <p:cNvPr id="3" name="Content Placeholder 2"/>
          <p:cNvSpPr>
            <a:spLocks noGrp="1"/>
          </p:cNvSpPr>
          <p:nvPr>
            <p:ph idx="1"/>
          </p:nvPr>
        </p:nvSpPr>
        <p:spPr/>
        <p:txBody>
          <a:bodyPr/>
          <a:lstStyle/>
          <a:p>
            <a:pPr marL="0" indent="0">
              <a:buNone/>
            </a:pPr>
            <a:r>
              <a:rPr b="1" dirty="0"/>
              <a:t>Street Mode Flow (Default)</a:t>
            </a:r>
          </a:p>
          <a:p>
            <a:pPr marL="0" indent="0">
              <a:buNone/>
            </a:pPr>
            <a:r>
              <a:rPr dirty="0"/>
              <a:t>Driver enters vehicle → Startup sweep animation → Street mode loads: Speed (center), Fuel/Temp (left), Navigation (right)</a:t>
            </a:r>
          </a:p>
          <a:p>
            <a:pPr marL="0" indent="0">
              <a:buNone/>
            </a:pPr>
            <a:endParaRPr dirty="0"/>
          </a:p>
          <a:p>
            <a:pPr marL="0" indent="0">
              <a:buNone/>
            </a:pPr>
            <a:r>
              <a:rPr b="1" dirty="0"/>
              <a:t>Mode Switch Flow</a:t>
            </a:r>
          </a:p>
          <a:p>
            <a:pPr marL="0" indent="0">
              <a:buNone/>
            </a:pPr>
            <a:r>
              <a:rPr dirty="0"/>
              <a:t>Driver presses mode button → Smart Animate transition (300ms) → Sport: RPM becomes dominant, G-force visible → Track: Lap timer, telemetry active, non-essential info hidden</a:t>
            </a:r>
          </a:p>
          <a:p>
            <a:pPr marL="0" indent="0">
              <a:buNone/>
            </a:pPr>
            <a:endParaRPr dirty="0"/>
          </a:p>
          <a:p>
            <a:pPr marL="0" indent="0">
              <a:buNone/>
            </a:pPr>
            <a:r>
              <a:rPr b="1" dirty="0"/>
              <a:t>Warning Alert Flow</a:t>
            </a:r>
          </a:p>
          <a:p>
            <a:pPr marL="0" indent="0">
              <a:buNone/>
            </a:pPr>
            <a:r>
              <a:rPr dirty="0"/>
              <a:t>• Critical (e.g., brake failure): Full-screen red takeover + audible alarm — immediate, no dismiss</a:t>
            </a:r>
          </a:p>
          <a:p>
            <a:pPr marL="0" indent="0">
              <a:buNone/>
            </a:pPr>
            <a:r>
              <a:rPr dirty="0"/>
              <a:t>• Urgent (e.g., low oil): Persistent amber icon + text until resolved</a:t>
            </a:r>
          </a:p>
          <a:p>
            <a:pPr marL="0" indent="0">
              <a:buNone/>
            </a:pPr>
            <a:r>
              <a:rPr dirty="0"/>
              <a:t>• Advisory (e.g., service due): Shown once, collapses to small icon only</a:t>
            </a:r>
          </a:p>
          <a:p>
            <a:pPr marL="0" indent="0">
              <a:buNone/>
            </a:pPr>
            <a:endParaRPr dirty="0"/>
          </a:p>
          <a:p>
            <a:pPr marL="0" indent="0">
              <a:buNone/>
            </a:pPr>
            <a:r>
              <a:rPr b="1" dirty="0"/>
              <a:t>Spatial Consistency Rule</a:t>
            </a:r>
          </a:p>
          <a:p>
            <a:pPr marL="0" indent="0">
              <a:buNone/>
            </a:pPr>
            <a:r>
              <a:rPr dirty="0"/>
              <a:t>Speed, RPM, and Gear NEVER move across modes — driver builds spatial memory that works at 150mph</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6. Prototype / Visual Design</a:t>
            </a:r>
          </a:p>
        </p:txBody>
      </p:sp>
      <p:sp>
        <p:nvSpPr>
          <p:cNvPr id="3" name="Content Placeholder 2"/>
          <p:cNvSpPr>
            <a:spLocks noGrp="1"/>
          </p:cNvSpPr>
          <p:nvPr>
            <p:ph idx="1"/>
          </p:nvPr>
        </p:nvSpPr>
        <p:spPr/>
        <p:txBody>
          <a:bodyPr/>
          <a:lstStyle/>
          <a:p>
            <a:pPr marL="0" indent="0">
              <a:buNone/>
            </a:pPr>
            <a:r>
              <a:rPr b="1" dirty="0"/>
              <a:t>Figma Prototype 1 (Feb 2–6) — Completed</a:t>
            </a:r>
          </a:p>
          <a:p>
            <a:pPr marL="0" indent="0">
              <a:buNone/>
            </a:pPr>
            <a:r>
              <a:rPr dirty="0"/>
              <a:t>• Street mode: Speed center (large digital), RPM left, Fuel/Temp/Nav flanking</a:t>
            </a:r>
          </a:p>
          <a:p>
            <a:pPr marL="0" indent="0">
              <a:buNone/>
            </a:pPr>
            <a:r>
              <a:rPr dirty="0"/>
              <a:t>• Dark background (#0D0D0D), white primary text, red accent for redline and warnings</a:t>
            </a:r>
          </a:p>
          <a:p>
            <a:pPr marL="0" indent="0">
              <a:buNone/>
            </a:pPr>
            <a:r>
              <a:rPr dirty="0"/>
              <a:t>• Typography: Inter Bold for all primary data (open apertures, distinct 0/O, 1/I)</a:t>
            </a:r>
          </a:p>
          <a:p>
            <a:pPr marL="0" indent="0">
              <a:buNone/>
            </a:pPr>
            <a:endParaRPr dirty="0"/>
          </a:p>
          <a:p>
            <a:pPr marL="0" indent="0">
              <a:buNone/>
            </a:pPr>
            <a:r>
              <a:rPr b="1" dirty="0"/>
              <a:t>Figma Prototype 2 (Feb 9–15) — In Progress</a:t>
            </a:r>
          </a:p>
          <a:p>
            <a:pPr marL="0" indent="0">
              <a:buNone/>
            </a:pPr>
            <a:r>
              <a:rPr dirty="0"/>
              <a:t>• Full component library with variants (Warning: Inactive/Active/Critical; Gear: P/R/N/D/1–7; Mode: Street/Sport/Track)</a:t>
            </a:r>
          </a:p>
          <a:p>
            <a:pPr marL="0" indent="0">
              <a:buNone/>
            </a:pPr>
            <a:r>
              <a:rPr dirty="0"/>
              <a:t>• Smart Animate transitions between all three modes (Street → Sport → Track)</a:t>
            </a:r>
          </a:p>
          <a:p>
            <a:pPr marL="0" indent="0">
              <a:buNone/>
            </a:pPr>
            <a:r>
              <a:rPr dirty="0"/>
              <a:t>• Auto Layout status bar — warning icons reflow automatically as alerts appear/clear</a:t>
            </a:r>
          </a:p>
          <a:p>
            <a:pPr marL="0" indent="0">
              <a:buNone/>
            </a:pPr>
            <a:endParaRPr dirty="0"/>
          </a:p>
          <a:p>
            <a:pPr marL="0" indent="0">
              <a:buNone/>
            </a:pPr>
            <a:r>
              <a:rPr b="1" dirty="0"/>
              <a:t>Three-Tier Visual Hierarchy Applied</a:t>
            </a:r>
          </a:p>
          <a:p>
            <a:pPr marL="0" indent="0">
              <a:buNone/>
            </a:pPr>
            <a:r>
              <a:rPr dirty="0"/>
              <a:t>Tier 1 (60–120px): Speed, RPM, Gear • Tier 2 (24–40px): Fuel, Temp, Turn Signals • Tier 3 (14–20px): Trip info, Media, hidden by default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7. Technology &amp; Implementation</a:t>
            </a:r>
          </a:p>
        </p:txBody>
      </p:sp>
      <p:sp>
        <p:nvSpPr>
          <p:cNvPr id="3" name="Content Placeholder 2"/>
          <p:cNvSpPr>
            <a:spLocks noGrp="1"/>
          </p:cNvSpPr>
          <p:nvPr>
            <p:ph idx="1"/>
          </p:nvPr>
        </p:nvSpPr>
        <p:spPr/>
        <p:txBody>
          <a:bodyPr/>
          <a:lstStyle/>
          <a:p>
            <a:pPr marL="0" indent="0">
              <a:buNone/>
            </a:pPr>
            <a:r>
              <a:rPr b="1" dirty="0"/>
              <a:t>Design &amp; Prototyping Stack</a:t>
            </a:r>
          </a:p>
          <a:p>
            <a:pPr marL="0" indent="0">
              <a:buNone/>
            </a:pPr>
            <a:r>
              <a:rPr dirty="0"/>
              <a:t>• Figma — Component library, Smart Animate prototypes, Auto Layout, variant system</a:t>
            </a:r>
          </a:p>
          <a:p>
            <a:pPr marL="0" indent="0">
              <a:buNone/>
            </a:pPr>
            <a:r>
              <a:rPr dirty="0"/>
              <a:t>• Adobe Illustrator — SVG gauge creation optimized for GL Studio import</a:t>
            </a:r>
          </a:p>
          <a:p>
            <a:pPr marL="0" indent="0">
              <a:buNone/>
            </a:pPr>
            <a:endParaRPr dirty="0"/>
          </a:p>
          <a:p>
            <a:pPr marL="0" indent="0">
              <a:buNone/>
            </a:pPr>
            <a:r>
              <a:rPr b="1" dirty="0"/>
              <a:t>Implementation Stack</a:t>
            </a:r>
          </a:p>
          <a:p>
            <a:pPr marL="0" indent="0">
              <a:buNone/>
            </a:pPr>
            <a:r>
              <a:rPr dirty="0"/>
              <a:t>• GL Studio 7.x+ — automotive HMI implementation platform</a:t>
            </a:r>
          </a:p>
          <a:p>
            <a:pPr marL="0" indent="0">
              <a:buNone/>
            </a:pPr>
            <a:r>
              <a:rPr dirty="0"/>
              <a:t>• OpenGL ES 3.0 rendering — 60fps minimum, 120fps track mode target</a:t>
            </a:r>
          </a:p>
          <a:p>
            <a:pPr marL="0" indent="0">
              <a:buNone/>
            </a:pPr>
            <a:r>
              <a:rPr dirty="0"/>
              <a:t>• ARM SoC target hardware — 12.3” curved display, 1920×720 resolution</a:t>
            </a:r>
          </a:p>
          <a:p>
            <a:pPr marL="0" indent="0">
              <a:buNone/>
            </a:pPr>
            <a:r>
              <a:rPr dirty="0"/>
              <a:t>• CAN bus data simulation — 30Hz+ input, interpolated to 60fps visuals</a:t>
            </a:r>
          </a:p>
          <a:p>
            <a:pPr marL="0" indent="0">
              <a:buNone/>
            </a:pPr>
            <a:endParaRPr dirty="0"/>
          </a:p>
          <a:p>
            <a:pPr marL="0" indent="0">
              <a:buNone/>
            </a:pPr>
            <a:r>
              <a:rPr b="1" dirty="0"/>
              <a:t>State Machine Architecture</a:t>
            </a:r>
          </a:p>
          <a:p>
            <a:pPr marL="0" indent="0">
              <a:buNone/>
            </a:pPr>
            <a:r>
              <a:rPr dirty="0"/>
              <a:t>• Mode states: Street ↔ Sport ↔ Track • Alert states: Normal / Advisory / Urgent / Critical</a:t>
            </a:r>
          </a:p>
          <a:p>
            <a:pPr marL="0" indent="0">
              <a:buNone/>
            </a:pPr>
            <a:r>
              <a:rPr dirty="0"/>
              <a:t>• Project management: Figma, Google Workspace, Notion, Slack</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8. Validation &amp; Evaluation Plan</a:t>
            </a:r>
          </a:p>
        </p:txBody>
      </p:sp>
      <p:sp>
        <p:nvSpPr>
          <p:cNvPr id="3" name="Content Placeholder 2"/>
          <p:cNvSpPr>
            <a:spLocks noGrp="1"/>
          </p:cNvSpPr>
          <p:nvPr>
            <p:ph idx="1"/>
          </p:nvPr>
        </p:nvSpPr>
        <p:spPr/>
        <p:txBody>
          <a:bodyPr/>
          <a:lstStyle/>
          <a:p>
            <a:pPr marL="0" indent="0">
              <a:buNone/>
            </a:pPr>
            <a:r>
              <a:rPr b="1" dirty="0"/>
              <a:t>The Glance Test (Primary Safety Validation)</a:t>
            </a:r>
          </a:p>
          <a:p>
            <a:pPr marL="0" indent="0">
              <a:buNone/>
            </a:pPr>
            <a:r>
              <a:rPr dirty="0"/>
              <a:t>Show dashboard for 1 second, hide it, ask “What speed? What gear? Any warnings?” — 100% success rate required. If any observer fails, the design is iterated.</a:t>
            </a:r>
          </a:p>
          <a:p>
            <a:pPr marL="0" indent="0">
              <a:buNone/>
            </a:pPr>
            <a:endParaRPr dirty="0"/>
          </a:p>
          <a:p>
            <a:pPr marL="0" indent="0">
              <a:buNone/>
            </a:pPr>
            <a:r>
              <a:rPr b="1" dirty="0"/>
              <a:t>Key Usability &amp; Safety Metrics</a:t>
            </a:r>
          </a:p>
          <a:p>
            <a:pPr marL="0" indent="0">
              <a:buNone/>
            </a:pPr>
            <a:r>
              <a:rPr dirty="0"/>
              <a:t>• Primary info comprehension: &lt;0.5 sec • Secondary info: &lt;1.0 sec • All tasks: &lt;1.5 sec (NHTSA)</a:t>
            </a:r>
          </a:p>
          <a:p>
            <a:pPr marL="0" indent="0">
              <a:buNone/>
            </a:pPr>
            <a:r>
              <a:rPr dirty="0"/>
              <a:t>• GL Studio rendering: 60fps minimum measured • Input latency: &lt;100ms measured</a:t>
            </a:r>
          </a:p>
          <a:p>
            <a:pPr marL="0" indent="0">
              <a:buNone/>
            </a:pPr>
            <a:r>
              <a:rPr dirty="0"/>
              <a:t>• Critical warning comprehension: &lt;0.5 sec • Mode switch transition: &lt;400ms</a:t>
            </a:r>
          </a:p>
          <a:p>
            <a:pPr marL="0" indent="0">
              <a:buNone/>
            </a:pPr>
            <a:endParaRPr dirty="0"/>
          </a:p>
          <a:p>
            <a:pPr marL="0" indent="0">
              <a:buNone/>
            </a:pPr>
            <a:r>
              <a:rPr b="1" dirty="0"/>
              <a:t>Test Environments &amp; Conditions</a:t>
            </a:r>
          </a:p>
          <a:p>
            <a:pPr marL="0" indent="0">
              <a:buNone/>
            </a:pPr>
            <a:r>
              <a:rPr dirty="0"/>
              <a:t>• Testers: Team members + Ottawa Infotainment stakeholders + independent observers</a:t>
            </a:r>
          </a:p>
          <a:p>
            <a:pPr marL="0" indent="0">
              <a:buNone/>
            </a:pPr>
            <a:r>
              <a:rPr dirty="0"/>
              <a:t>• Conditions tested: Ideal display, reduced brightness (night), high ambient (sunlight), contrast filter</a:t>
            </a:r>
          </a:p>
          <a:p>
            <a:pPr marL="0" indent="0">
              <a:buNone/>
            </a:pPr>
            <a:r>
              <a:rPr dirty="0"/>
              <a:t>• Stakeholder scoring: Brand alignment, performance character, judge Q&amp;A on March 4</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9. Progress &amp; Roadmap</a:t>
            </a:r>
          </a:p>
        </p:txBody>
      </p:sp>
      <p:sp>
        <p:nvSpPr>
          <p:cNvPr id="3" name="Content Placeholder 2"/>
          <p:cNvSpPr>
            <a:spLocks noGrp="1"/>
          </p:cNvSpPr>
          <p:nvPr>
            <p:ph idx="1"/>
          </p:nvPr>
        </p:nvSpPr>
        <p:spPr/>
        <p:txBody>
          <a:bodyPr/>
          <a:lstStyle/>
          <a:p>
            <a:pPr marL="0" indent="0">
              <a:buNone/>
            </a:pPr>
            <a:r>
              <a:rPr b="1" dirty="0"/>
              <a:t>✅ COMPLETED — Phase 1: Figma Prototype 1 (Feb 2–6)</a:t>
            </a:r>
          </a:p>
          <a:p>
            <a:pPr marL="0" indent="0">
              <a:buNone/>
            </a:pPr>
            <a:r>
              <a:rPr dirty="0"/>
              <a:t>• Street mode dashboard design • Component library foundation • Project documentation (PRD, Design Brief, Tech Specs) • Thursday demo presentation</a:t>
            </a:r>
          </a:p>
          <a:p>
            <a:pPr marL="0" indent="0">
              <a:buNone/>
            </a:pPr>
            <a:endParaRPr dirty="0"/>
          </a:p>
          <a:p>
            <a:pPr marL="0" indent="0">
              <a:buNone/>
            </a:pPr>
            <a:r>
              <a:rPr b="1" dirty="0"/>
              <a:t>🔄 IN PROGRESS — Phase 2: GL Studio + Prototype 2 (Feb 9–15)</a:t>
            </a:r>
          </a:p>
          <a:p>
            <a:pPr marL="0" indent="0">
              <a:buNone/>
            </a:pPr>
            <a:r>
              <a:rPr dirty="0"/>
              <a:t>• GL Studio installation and tutorials • Figma Prototype 2 with judge feedback incorporated • Full variant system (Mode Badge, Gear, Warning, Fuel) • SVG asset export for GL Studio</a:t>
            </a:r>
          </a:p>
          <a:p>
            <a:pPr marL="0" indent="0">
              <a:buNone/>
            </a:pPr>
            <a:endParaRPr dirty="0"/>
          </a:p>
          <a:p>
            <a:pPr marL="0" indent="0">
              <a:buNone/>
            </a:pPr>
            <a:r>
              <a:rPr b="1" dirty="0"/>
              <a:t>🚫 REMAINING — Phase 3: GL Studio Implementation (Feb 16–Mar 4)</a:t>
            </a:r>
          </a:p>
          <a:p>
            <a:pPr marL="0" indent="0">
              <a:buNone/>
            </a:pPr>
            <a:r>
              <a:rPr dirty="0"/>
              <a:t>Feb 16–22: Core implementation (gauges, state machine, CAN simulation)</a:t>
            </a:r>
          </a:p>
          <a:p>
            <a:pPr marL="0" indent="0">
              <a:buNone/>
            </a:pPr>
            <a:r>
              <a:rPr dirty="0"/>
              <a:t>Feb 23–Mar 1: Performance optimization, 60fps validation, glance testing</a:t>
            </a:r>
          </a:p>
          <a:p>
            <a:pPr marL="0" indent="0">
              <a:buNone/>
            </a:pPr>
            <a:r>
              <a:rPr dirty="0"/>
              <a:t>Mar 2–4: Final polish, demo prep • Mar 4: Final Presentation &amp; Demonstration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10. Risks &amp; Limitations</a:t>
            </a:r>
          </a:p>
        </p:txBody>
      </p:sp>
      <p:sp>
        <p:nvSpPr>
          <p:cNvPr id="3" name="Content Placeholder 2"/>
          <p:cNvSpPr>
            <a:spLocks noGrp="1"/>
          </p:cNvSpPr>
          <p:nvPr>
            <p:ph idx="1"/>
          </p:nvPr>
        </p:nvSpPr>
        <p:spPr/>
        <p:txBody>
          <a:bodyPr/>
          <a:lstStyle/>
          <a:p>
            <a:pPr marL="0" indent="0">
              <a:buNone/>
            </a:pPr>
            <a:r>
              <a:rPr b="1" dirty="0"/>
              <a:t>Technical Risks</a:t>
            </a:r>
          </a:p>
          <a:p>
            <a:pPr marL="0" indent="0">
              <a:buNone/>
            </a:pPr>
            <a:r>
              <a:rPr dirty="0"/>
              <a:t>• GL Studio learning curve — Mitigation: dedicated week Feb 9–15 for setup + tutorials before implementation</a:t>
            </a:r>
          </a:p>
          <a:p>
            <a:pPr marL="0" indent="0">
              <a:buNone/>
            </a:pPr>
            <a:r>
              <a:rPr dirty="0"/>
              <a:t>• 60fps performance on ARM hardware — Mitigation: profile early, optimize SVG assets, simplify animations</a:t>
            </a:r>
          </a:p>
          <a:p>
            <a:pPr marL="0" indent="0">
              <a:buNone/>
            </a:pPr>
            <a:r>
              <a:rPr dirty="0"/>
              <a:t>• Figma-to-GL Studio asset translation — Mitigation: export SVGs at correct resolution, test imports weekly</a:t>
            </a:r>
          </a:p>
          <a:p>
            <a:pPr marL="0" indent="0">
              <a:buNone/>
            </a:pPr>
            <a:endParaRPr dirty="0"/>
          </a:p>
          <a:p>
            <a:pPr marL="0" indent="0">
              <a:buNone/>
            </a:pPr>
            <a:r>
              <a:rPr b="1" dirty="0"/>
              <a:t>UX &amp; Safety Concerns</a:t>
            </a:r>
          </a:p>
          <a:p>
            <a:pPr marL="0" indent="0">
              <a:buNone/>
            </a:pPr>
            <a:r>
              <a:rPr dirty="0"/>
              <a:t>• Mode switching distraction — Mitigation: spatial consistency enforced, Tier 1 elements never move</a:t>
            </a:r>
          </a:p>
          <a:p>
            <a:pPr marL="0" indent="0">
              <a:buNone/>
            </a:pPr>
            <a:r>
              <a:rPr dirty="0"/>
              <a:t>• Curved display legibility at edges — Mitigation: critical info limited to center 60% of display</a:t>
            </a:r>
          </a:p>
          <a:p>
            <a:pPr marL="0" indent="0">
              <a:buNone/>
            </a:pPr>
            <a:endParaRPr dirty="0"/>
          </a:p>
          <a:p>
            <a:pPr marL="0" indent="0">
              <a:buNone/>
            </a:pPr>
            <a:r>
              <a:rPr b="1" dirty="0"/>
              <a:t>Assumptions &amp; Scope Limitations</a:t>
            </a:r>
          </a:p>
          <a:p>
            <a:pPr marL="0" indent="0">
              <a:buNone/>
            </a:pPr>
            <a:r>
              <a:rPr dirty="0"/>
              <a:t>• CAN bus is simulated, not live • Physical curved display not tested • Glance testing is informal, not clinical</a:t>
            </a:r>
          </a:p>
          <a:p>
            <a:pPr marL="0" indent="0">
              <a:buNone/>
            </a:pPr>
            <a:r>
              <a:rPr dirty="0"/>
              <a:t>• Timeline is tight — GL Studio polish may be limited; Figma prototype stands as design source of truth</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11. Summary &amp; Ask</a:t>
            </a:r>
          </a:p>
        </p:txBody>
      </p:sp>
      <p:sp>
        <p:nvSpPr>
          <p:cNvPr id="3" name="Content Placeholder 2"/>
          <p:cNvSpPr>
            <a:spLocks noGrp="1"/>
          </p:cNvSpPr>
          <p:nvPr>
            <p:ph idx="1"/>
          </p:nvPr>
        </p:nvSpPr>
        <p:spPr/>
        <p:txBody>
          <a:bodyPr/>
          <a:lstStyle/>
          <a:p>
            <a:pPr marL="0" indent="0">
              <a:buNone/>
            </a:pPr>
            <a:r>
              <a:rPr b="1" dirty="0"/>
              <a:t>Value Proposition</a:t>
            </a:r>
          </a:p>
          <a:p>
            <a:pPr marL="0" indent="0">
              <a:buNone/>
            </a:pPr>
            <a:r>
              <a:rPr dirty="0"/>
              <a:t>A safety-first, Detroit-proud digital instrument cluster that the driver never has to think about — communicating speed, RPM, and performance data in under 0.5 seconds, across three adaptive driving modes, built to run on production hardware at 60fps.</a:t>
            </a:r>
          </a:p>
          <a:p>
            <a:pPr marL="0" indent="0">
              <a:buNone/>
            </a:pPr>
            <a:endParaRPr dirty="0"/>
          </a:p>
          <a:p>
            <a:pPr marL="0" indent="0">
              <a:buNone/>
            </a:pPr>
            <a:r>
              <a:rPr b="1" dirty="0"/>
              <a:t>Key Takeaways</a:t>
            </a:r>
          </a:p>
          <a:p>
            <a:pPr marL="0" indent="0">
              <a:buNone/>
            </a:pPr>
            <a:r>
              <a:rPr dirty="0"/>
              <a:t>• Every design decision is tested against the 1.5-second NHTSA glance rule</a:t>
            </a:r>
          </a:p>
          <a:p>
            <a:pPr marL="0" indent="0">
              <a:buNone/>
            </a:pPr>
            <a:r>
              <a:rPr dirty="0"/>
              <a:t>• Bold Detroit identity without sacrificing European-level design discipline</a:t>
            </a:r>
          </a:p>
          <a:p>
            <a:pPr marL="0" indent="0">
              <a:buNone/>
            </a:pPr>
            <a:r>
              <a:rPr dirty="0"/>
              <a:t>• Production-ready pipeline: Figma → SVG → GL Studio → ARM hardware</a:t>
            </a:r>
          </a:p>
          <a:p>
            <a:pPr marL="0" indent="0">
              <a:buNone/>
            </a:pPr>
            <a:endParaRPr dirty="0"/>
          </a:p>
          <a:p>
            <a:pPr marL="0" indent="0">
              <a:buNone/>
            </a:pPr>
            <a:r>
              <a:rPr b="1" dirty="0"/>
              <a:t>Feedback We’re Seeking from Judges</a:t>
            </a:r>
          </a:p>
          <a:p>
            <a:pPr marL="0" indent="0">
              <a:buNone/>
            </a:pPr>
            <a:r>
              <a:rPr dirty="0"/>
              <a:t>• Does our three-tier hierarchy feel right for a sports car context?</a:t>
            </a:r>
          </a:p>
          <a:p>
            <a:pPr marL="0" indent="0">
              <a:buNone/>
            </a:pPr>
            <a:r>
              <a:rPr dirty="0"/>
              <a:t>• Any GL Studio implementation pitfalls we should prepare for?</a:t>
            </a:r>
          </a:p>
          <a:p>
            <a:pPr marL="0" indent="0">
              <a:buNone/>
            </a:pPr>
            <a:r>
              <a:rPr dirty="0"/>
              <a:t>• What would make the most impact for the March 4 final demo?</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D9698-8B8A-36FC-1351-F72ECE1437B2}"/>
              </a:ext>
            </a:extLst>
          </p:cNvPr>
          <p:cNvSpPr>
            <a:spLocks noGrp="1"/>
          </p:cNvSpPr>
          <p:nvPr>
            <p:ph type="title"/>
          </p:nvPr>
        </p:nvSpPr>
        <p:spPr/>
        <p:txBody>
          <a:bodyPr/>
          <a:lstStyle/>
          <a:p>
            <a:r>
              <a:rPr lang="en-CA" dirty="0"/>
              <a:t>12. Thanks!</a:t>
            </a:r>
          </a:p>
        </p:txBody>
      </p:sp>
      <p:sp>
        <p:nvSpPr>
          <p:cNvPr id="3" name="Content Placeholder 2">
            <a:extLst>
              <a:ext uri="{FF2B5EF4-FFF2-40B4-BE49-F238E27FC236}">
                <a16:creationId xmlns:a16="http://schemas.microsoft.com/office/drawing/2014/main" id="{5E01614B-2851-5B85-7CEC-C59B83ACFC65}"/>
              </a:ext>
            </a:extLst>
          </p:cNvPr>
          <p:cNvSpPr>
            <a:spLocks noGrp="1"/>
          </p:cNvSpPr>
          <p:nvPr>
            <p:ph idx="1"/>
          </p:nvPr>
        </p:nvSpPr>
        <p:spPr/>
        <p:txBody>
          <a:bodyPr/>
          <a:lstStyle/>
          <a:p>
            <a:endParaRPr lang="en-CA"/>
          </a:p>
          <a:p>
            <a:r>
              <a:rPr lang="en-CA" b="1" dirty="0"/>
              <a:t>Performance-Driven Dashboard Interface</a:t>
            </a:r>
          </a:p>
          <a:p>
            <a:r>
              <a:rPr lang="en-CA" dirty="0"/>
              <a:t>Detroit Sports Car Instrument Cluster — Ottawa Infotainment UI/UX Challenge</a:t>
            </a:r>
          </a:p>
          <a:p>
            <a:endParaRPr lang="en-CA"/>
          </a:p>
          <a:p>
            <a:r>
              <a:rPr lang="en-CA" dirty="0"/>
              <a:t>Team [Name] | [Student Names]</a:t>
            </a:r>
          </a:p>
          <a:p>
            <a:r>
              <a:rPr lang="en-CA" dirty="0"/>
              <a:t>In partnership with Ottawa Infotainment Inc. &amp; Ontario Centre for Innovation</a:t>
            </a:r>
          </a:p>
          <a:p>
            <a:endParaRPr lang="en-CA"/>
          </a:p>
          <a:p>
            <a:r>
              <a:rPr lang="en-CA" dirty="0"/>
              <a:t>“The best dashboard is one the driver never thinks about — it just works.”</a:t>
            </a:r>
          </a:p>
        </p:txBody>
      </p:sp>
    </p:spTree>
    <p:extLst>
      <p:ext uri="{BB962C8B-B14F-4D97-AF65-F5344CB8AC3E}">
        <p14:creationId xmlns:p14="http://schemas.microsoft.com/office/powerpoint/2010/main" val="58457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TotalTime>
  <Words>328</Words>
  <Application>Microsoft Office PowerPoint</Application>
  <PresentationFormat>On-screen Show (4:3)</PresentationFormat>
  <Paragraphs>60</Paragraphs>
  <Slides>13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Ottawa Infotainment UI/UX Innovation Challenge</vt:lpstr>
      <vt:lpstr>1. Problem Statement</vt:lpstr>
      <vt:lpstr>2. User &amp; Context</vt:lpstr>
      <vt:lpstr>3. Existing Solutions &amp; Gaps</vt:lpstr>
      <vt:lpstr>4. Proposed Solution – Concept Overview</vt:lpstr>
      <vt:lpstr>5. User Flow &amp; Interaction</vt:lpstr>
      <vt:lpstr>6. Prototype / Visual Design</vt:lpstr>
      <vt:lpstr>7. Technology &amp; Implementation</vt:lpstr>
      <vt:lpstr>8. Validation &amp; Evaluation Plan</vt:lpstr>
      <vt:lpstr>9. Progress &amp; Roadmap</vt:lpstr>
      <vt:lpstr>10. Risks &amp; Limitations</vt:lpstr>
      <vt:lpstr>11. Summary &amp; Ask</vt:lpstr>
      <vt:lpstr>12. Thanks!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Dr. Akhshik</dc:creator>
  <cp:keywords/>
  <dc:description>generated using python-pptx</dc:description>
  <cp:lastModifiedBy>Masoud Akhshik</cp:lastModifiedBy>
  <cp:revision>3</cp:revision>
  <dcterms:created xsi:type="dcterms:W3CDTF">2013-01-27T09:14:16Z</dcterms:created>
  <dcterms:modified xsi:type="dcterms:W3CDTF">2026-02-09T11:58:44Z</dcterms:modified>
  <cp:category/>
</cp:coreProperties>
</file>